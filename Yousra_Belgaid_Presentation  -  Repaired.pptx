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43891200" cy="32918400"/>
  <p:notesSz cx="6858000" cy="9144000"/>
  <p:embeddedFontLst>
    <p:embeddedFont>
      <p:font typeface="Open Sans" panose="020B0606030504020204" pitchFamily="34" charset="0"/>
      <p:regular r:id="rId4"/>
      <p:bold r:id="rId5"/>
      <p:italic r:id="rId6"/>
      <p:boldItalic r:id="rId7"/>
    </p:embeddedFont>
    <p:embeddedFont>
      <p:font typeface="Open Sans ExtraBold" panose="020B0906030804020204" pitchFamily="34" charset="0"/>
      <p:bold r:id="rId8"/>
      <p:italic r:id="rId9"/>
      <p:boldItalic r:id="rId10"/>
    </p:embeddedFont>
    <p:embeddedFont>
      <p:font typeface="Open Sans Light" panose="020B0306030504020204" pitchFamily="34" charset="0"/>
      <p:regular r:id="rId11"/>
      <p:bold r:id="rId12"/>
      <p:italic r:id="rId13"/>
      <p:boldItalic r:id="rId14"/>
    </p:embeddedFont>
    <p:embeddedFont>
      <p:font typeface="Rockwell" panose="02060603020205020403" pitchFamily="18" charset="77"/>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hOLUNJkTXzeWlBfknOfQt+Agr61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10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077"/>
    <p:restoredTop sz="94786"/>
  </p:normalViewPr>
  <p:slideViewPr>
    <p:cSldViewPr snapToGrid="0">
      <p:cViewPr>
        <p:scale>
          <a:sx n="70" d="100"/>
          <a:sy n="70" d="100"/>
        </p:scale>
        <p:origin x="-416" y="-1080"/>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font" Target="fonts/font15.fntdata"/><Relationship Id="rId3" Type="http://schemas.openxmlformats.org/officeDocument/2006/relationships/notesMaster" Target="notesMasters/notesMaster1.xml"/><Relationship Id="rId21" Type="http://schemas.openxmlformats.org/officeDocument/2006/relationships/viewProps" Target="viewProps.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tableStyles" Target="tableStyles.xml"/><Relationship Id="rId10" Type="http://schemas.openxmlformats.org/officeDocument/2006/relationships/font" Target="fonts/font7.fntdata"/><Relationship Id="rId19" Type="http://customschemas.google.com/relationships/presentationmetadata" Target="meta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29" name="Google Shape;32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dirty="0"/>
          </a:p>
        </p:txBody>
      </p:sp>
      <p:sp>
        <p:nvSpPr>
          <p:cNvPr id="330" name="Google Shape;33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3"/>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20"/>
        <p:cNvGrpSpPr/>
        <p:nvPr/>
      </p:nvGrpSpPr>
      <p:grpSpPr>
        <a:xfrm>
          <a:off x="0" y="0"/>
          <a:ext cx="0" cy="0"/>
          <a:chOff x="0" y="0"/>
          <a:chExt cx="0" cy="0"/>
        </a:xfrm>
      </p:grpSpPr>
      <p:grpSp>
        <p:nvGrpSpPr>
          <p:cNvPr id="21" name="Google Shape;21;p4"/>
          <p:cNvGrpSpPr/>
          <p:nvPr/>
        </p:nvGrpSpPr>
        <p:grpSpPr>
          <a:xfrm>
            <a:off x="3" y="0"/>
            <a:ext cx="45864782" cy="32895542"/>
            <a:chOff x="1524000" y="0"/>
            <a:chExt cx="9555163" cy="6853238"/>
          </a:xfrm>
        </p:grpSpPr>
        <p:sp>
          <p:nvSpPr>
            <p:cNvPr id="22" name="Google Shape;22;p4"/>
            <p:cNvSpPr/>
            <p:nvPr/>
          </p:nvSpPr>
          <p:spPr>
            <a:xfrm>
              <a:off x="1524000" y="1331913"/>
              <a:ext cx="7837488" cy="5521325"/>
            </a:xfrm>
            <a:custGeom>
              <a:avLst/>
              <a:gdLst/>
              <a:ahLst/>
              <a:cxnLst/>
              <a:rect l="l" t="t" r="r" b="b"/>
              <a:pathLst>
                <a:path w="1648" h="1161" extrusionOk="0">
                  <a:moveTo>
                    <a:pt x="1362" y="1161"/>
                  </a:moveTo>
                  <a:cubicBezTo>
                    <a:pt x="1648" y="920"/>
                    <a:pt x="1283" y="505"/>
                    <a:pt x="1097" y="326"/>
                  </a:cubicBezTo>
                  <a:cubicBezTo>
                    <a:pt x="926" y="162"/>
                    <a:pt x="709" y="35"/>
                    <a:pt x="470" y="14"/>
                  </a:cubicBezTo>
                  <a:cubicBezTo>
                    <a:pt x="315" y="0"/>
                    <a:pt x="142" y="49"/>
                    <a:pt x="0" y="138"/>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4"/>
            <p:cNvSpPr/>
            <p:nvPr/>
          </p:nvSpPr>
          <p:spPr>
            <a:xfrm>
              <a:off x="1524000" y="5564188"/>
              <a:ext cx="1412875" cy="1284288"/>
            </a:xfrm>
            <a:custGeom>
              <a:avLst/>
              <a:gdLst/>
              <a:ahLst/>
              <a:cxnLst/>
              <a:rect l="l" t="t" r="r" b="b"/>
              <a:pathLst>
                <a:path w="297" h="270" extrusionOk="0">
                  <a:moveTo>
                    <a:pt x="0" y="0"/>
                  </a:moveTo>
                  <a:cubicBezTo>
                    <a:pt x="73" y="119"/>
                    <a:pt x="186" y="220"/>
                    <a:pt x="297" y="27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
            <p:cNvSpPr/>
            <p:nvPr/>
          </p:nvSpPr>
          <p:spPr>
            <a:xfrm>
              <a:off x="1524000" y="2030413"/>
              <a:ext cx="6510338" cy="4813300"/>
            </a:xfrm>
            <a:custGeom>
              <a:avLst/>
              <a:gdLst/>
              <a:ahLst/>
              <a:cxnLst/>
              <a:rect l="l" t="t" r="r" b="b"/>
              <a:pathLst>
                <a:path w="1369" h="1012" extrusionOk="0">
                  <a:moveTo>
                    <a:pt x="845" y="1012"/>
                  </a:moveTo>
                  <a:cubicBezTo>
                    <a:pt x="1043" y="967"/>
                    <a:pt x="1369" y="853"/>
                    <a:pt x="1263" y="588"/>
                  </a:cubicBezTo>
                  <a:cubicBezTo>
                    <a:pt x="1164" y="340"/>
                    <a:pt x="861" y="107"/>
                    <a:pt x="602" y="49"/>
                  </a:cubicBezTo>
                  <a:cubicBezTo>
                    <a:pt x="383" y="0"/>
                    <a:pt x="135" y="97"/>
                    <a:pt x="0" y="28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
            <p:cNvSpPr/>
            <p:nvPr/>
          </p:nvSpPr>
          <p:spPr>
            <a:xfrm>
              <a:off x="1528763" y="6207125"/>
              <a:ext cx="717550" cy="646113"/>
            </a:xfrm>
            <a:custGeom>
              <a:avLst/>
              <a:gdLst/>
              <a:ahLst/>
              <a:cxnLst/>
              <a:rect l="l" t="t" r="r" b="b"/>
              <a:pathLst>
                <a:path w="151" h="136" extrusionOk="0">
                  <a:moveTo>
                    <a:pt x="0" y="0"/>
                  </a:moveTo>
                  <a:cubicBezTo>
                    <a:pt x="45" y="52"/>
                    <a:pt x="97" y="99"/>
                    <a:pt x="151" y="136"/>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p:nvPr/>
          </p:nvSpPr>
          <p:spPr>
            <a:xfrm>
              <a:off x="1524000" y="1806575"/>
              <a:ext cx="6753225" cy="5046663"/>
            </a:xfrm>
            <a:custGeom>
              <a:avLst/>
              <a:gdLst/>
              <a:ahLst/>
              <a:cxnLst/>
              <a:rect l="l" t="t" r="r" b="b"/>
              <a:pathLst>
                <a:path w="1420" h="1061" extrusionOk="0">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
            <p:cNvSpPr/>
            <p:nvPr/>
          </p:nvSpPr>
          <p:spPr>
            <a:xfrm>
              <a:off x="1524000" y="669925"/>
              <a:ext cx="8797925" cy="6183313"/>
            </a:xfrm>
            <a:custGeom>
              <a:avLst/>
              <a:gdLst/>
              <a:ahLst/>
              <a:cxnLst/>
              <a:rect l="l" t="t" r="r" b="b"/>
              <a:pathLst>
                <a:path w="1850" h="1300" extrusionOk="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4"/>
            <p:cNvSpPr/>
            <p:nvPr/>
          </p:nvSpPr>
          <p:spPr>
            <a:xfrm>
              <a:off x="1524000" y="119063"/>
              <a:ext cx="9555163" cy="6734175"/>
            </a:xfrm>
            <a:custGeom>
              <a:avLst/>
              <a:gdLst/>
              <a:ahLst/>
              <a:cxnLst/>
              <a:rect l="l" t="t" r="r" b="b"/>
              <a:pathLst>
                <a:path w="2009" h="1416" extrusionOk="0">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4"/>
            <p:cNvSpPr/>
            <p:nvPr/>
          </p:nvSpPr>
          <p:spPr>
            <a:xfrm>
              <a:off x="5419725" y="4763"/>
              <a:ext cx="5216525" cy="5368925"/>
            </a:xfrm>
            <a:custGeom>
              <a:avLst/>
              <a:gdLst/>
              <a:ahLst/>
              <a:cxnLst/>
              <a:rect l="l" t="t" r="r" b="b"/>
              <a:pathLst>
                <a:path w="1097" h="1129" extrusionOk="0">
                  <a:moveTo>
                    <a:pt x="1097" y="1129"/>
                  </a:moveTo>
                  <a:cubicBezTo>
                    <a:pt x="1031" y="909"/>
                    <a:pt x="843" y="701"/>
                    <a:pt x="709" y="551"/>
                  </a:cubicBezTo>
                  <a:cubicBezTo>
                    <a:pt x="509" y="327"/>
                    <a:pt x="274" y="127"/>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p:nvPr/>
          </p:nvSpPr>
          <p:spPr>
            <a:xfrm>
              <a:off x="5813425" y="4763"/>
              <a:ext cx="4832350" cy="4822825"/>
            </a:xfrm>
            <a:custGeom>
              <a:avLst/>
              <a:gdLst/>
              <a:ahLst/>
              <a:cxnLst/>
              <a:rect l="l" t="t" r="r" b="b"/>
              <a:pathLst>
                <a:path w="1016" h="1014" extrusionOk="0">
                  <a:moveTo>
                    <a:pt x="1016" y="1014"/>
                  </a:moveTo>
                  <a:cubicBezTo>
                    <a:pt x="934" y="849"/>
                    <a:pt x="802" y="697"/>
                    <a:pt x="698" y="577"/>
                  </a:cubicBezTo>
                  <a:cubicBezTo>
                    <a:pt x="500" y="348"/>
                    <a:pt x="270" y="141"/>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4"/>
            <p:cNvSpPr/>
            <p:nvPr/>
          </p:nvSpPr>
          <p:spPr>
            <a:xfrm>
              <a:off x="6003925" y="4763"/>
              <a:ext cx="4641850" cy="4598988"/>
            </a:xfrm>
            <a:custGeom>
              <a:avLst/>
              <a:gdLst/>
              <a:ahLst/>
              <a:cxnLst/>
              <a:rect l="l" t="t" r="r" b="b"/>
              <a:pathLst>
                <a:path w="976" h="967" extrusionOk="0">
                  <a:moveTo>
                    <a:pt x="976" y="967"/>
                  </a:moveTo>
                  <a:cubicBezTo>
                    <a:pt x="894" y="822"/>
                    <a:pt x="779" y="689"/>
                    <a:pt x="686" y="580"/>
                  </a:cubicBezTo>
                  <a:cubicBezTo>
                    <a:pt x="491" y="352"/>
                    <a:pt x="264" y="145"/>
                    <a:pt x="0" y="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4"/>
            <p:cNvSpPr/>
            <p:nvPr/>
          </p:nvSpPr>
          <p:spPr>
            <a:xfrm>
              <a:off x="6203950" y="0"/>
              <a:ext cx="4441825" cy="4237038"/>
            </a:xfrm>
            <a:custGeom>
              <a:avLst/>
              <a:gdLst/>
              <a:ahLst/>
              <a:cxnLst/>
              <a:rect l="l" t="t" r="r" b="b"/>
              <a:pathLst>
                <a:path w="934" h="891" extrusionOk="0">
                  <a:moveTo>
                    <a:pt x="934" y="891"/>
                  </a:moveTo>
                  <a:cubicBezTo>
                    <a:pt x="863" y="783"/>
                    <a:pt x="778" y="684"/>
                    <a:pt x="705" y="599"/>
                  </a:cubicBezTo>
                  <a:cubicBezTo>
                    <a:pt x="503" y="365"/>
                    <a:pt x="270" y="152"/>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4"/>
            <p:cNvSpPr/>
            <p:nvPr/>
          </p:nvSpPr>
          <p:spPr>
            <a:xfrm>
              <a:off x="6456363" y="4763"/>
              <a:ext cx="4179888" cy="3986213"/>
            </a:xfrm>
            <a:custGeom>
              <a:avLst/>
              <a:gdLst/>
              <a:ahLst/>
              <a:cxnLst/>
              <a:rect l="l" t="t" r="r" b="b"/>
              <a:pathLst>
                <a:path w="879" h="838" extrusionOk="0">
                  <a:moveTo>
                    <a:pt x="879" y="838"/>
                  </a:moveTo>
                  <a:cubicBezTo>
                    <a:pt x="821" y="755"/>
                    <a:pt x="756" y="679"/>
                    <a:pt x="698" y="611"/>
                  </a:cubicBezTo>
                  <a:cubicBezTo>
                    <a:pt x="498" y="375"/>
                    <a:pt x="268" y="15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
            <p:cNvSpPr/>
            <p:nvPr/>
          </p:nvSpPr>
          <p:spPr>
            <a:xfrm>
              <a:off x="6869113" y="4763"/>
              <a:ext cx="3776663" cy="3838575"/>
            </a:xfrm>
            <a:custGeom>
              <a:avLst/>
              <a:gdLst/>
              <a:ahLst/>
              <a:cxnLst/>
              <a:rect l="l" t="t" r="r" b="b"/>
              <a:pathLst>
                <a:path w="794" h="807" extrusionOk="0">
                  <a:moveTo>
                    <a:pt x="794" y="807"/>
                  </a:moveTo>
                  <a:cubicBezTo>
                    <a:pt x="745" y="739"/>
                    <a:pt x="695" y="676"/>
                    <a:pt x="648" y="617"/>
                  </a:cubicBezTo>
                  <a:cubicBezTo>
                    <a:pt x="462" y="383"/>
                    <a:pt x="248" y="1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4"/>
            <p:cNvSpPr/>
            <p:nvPr/>
          </p:nvSpPr>
          <p:spPr>
            <a:xfrm>
              <a:off x="8758238" y="4763"/>
              <a:ext cx="1887538" cy="1355725"/>
            </a:xfrm>
            <a:custGeom>
              <a:avLst/>
              <a:gdLst/>
              <a:ahLst/>
              <a:cxnLst/>
              <a:rect l="l" t="t" r="r" b="b"/>
              <a:pathLst>
                <a:path w="397" h="285" extrusionOk="0">
                  <a:moveTo>
                    <a:pt x="397" y="285"/>
                  </a:moveTo>
                  <a:cubicBezTo>
                    <a:pt x="270" y="182"/>
                    <a:pt x="138" y="86"/>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4"/>
            <p:cNvSpPr/>
            <p:nvPr/>
          </p:nvSpPr>
          <p:spPr>
            <a:xfrm>
              <a:off x="9223375" y="9525"/>
              <a:ext cx="1422400" cy="1108075"/>
            </a:xfrm>
            <a:custGeom>
              <a:avLst/>
              <a:gdLst/>
              <a:ahLst/>
              <a:cxnLst/>
              <a:rect l="l" t="t" r="r" b="b"/>
              <a:pathLst>
                <a:path w="299" h="233" extrusionOk="0">
                  <a:moveTo>
                    <a:pt x="299" y="233"/>
                  </a:moveTo>
                  <a:cubicBezTo>
                    <a:pt x="197" y="145"/>
                    <a:pt x="97" y="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
            <p:cNvSpPr/>
            <p:nvPr/>
          </p:nvSpPr>
          <p:spPr>
            <a:xfrm>
              <a:off x="10009188" y="4763"/>
              <a:ext cx="636588" cy="361950"/>
            </a:xfrm>
            <a:custGeom>
              <a:avLst/>
              <a:gdLst/>
              <a:ahLst/>
              <a:cxnLst/>
              <a:rect l="l" t="t" r="r" b="b"/>
              <a:pathLst>
                <a:path w="134" h="76" extrusionOk="0">
                  <a:moveTo>
                    <a:pt x="0" y="0"/>
                  </a:moveTo>
                  <a:cubicBezTo>
                    <a:pt x="45" y="25"/>
                    <a:pt x="89" y="50"/>
                    <a:pt x="134" y="76"/>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8" name="Google Shape;38;p4"/>
          <p:cNvGrpSpPr/>
          <p:nvPr/>
        </p:nvGrpSpPr>
        <p:grpSpPr>
          <a:xfrm>
            <a:off x="6158947" y="5607979"/>
            <a:ext cx="31613395" cy="21781517"/>
            <a:chOff x="1283114" y="1168329"/>
            <a:chExt cx="6586124" cy="4537816"/>
          </a:xfrm>
        </p:grpSpPr>
        <p:sp>
          <p:nvSpPr>
            <p:cNvPr id="39" name="Google Shape;39;p4"/>
            <p:cNvSpPr/>
            <p:nvPr/>
          </p:nvSpPr>
          <p:spPr>
            <a:xfrm>
              <a:off x="1283114" y="1168329"/>
              <a:ext cx="6586124" cy="731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4"/>
            <p:cNvSpPr/>
            <p:nvPr/>
          </p:nvSpPr>
          <p:spPr>
            <a:xfrm>
              <a:off x="1283114" y="1973001"/>
              <a:ext cx="6586124" cy="3384463"/>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
            <p:cNvSpPr/>
            <p:nvPr/>
          </p:nvSpPr>
          <p:spPr>
            <a:xfrm rot="10800000">
              <a:off x="4362524" y="5355082"/>
              <a:ext cx="407233" cy="35106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2" name="Google Shape;42;p4"/>
          <p:cNvSpPr txBox="1">
            <a:spLocks noGrp="1"/>
          </p:cNvSpPr>
          <p:nvPr>
            <p:ph type="ctrTitle"/>
          </p:nvPr>
        </p:nvSpPr>
        <p:spPr>
          <a:xfrm>
            <a:off x="6523639" y="9865334"/>
            <a:ext cx="30856536" cy="8691053"/>
          </a:xfrm>
          <a:prstGeom prst="rect">
            <a:avLst/>
          </a:prstGeom>
          <a:noFill/>
          <a:ln>
            <a:noFill/>
          </a:ln>
        </p:spPr>
        <p:txBody>
          <a:bodyPr spcFirstLastPara="1" wrap="square" lIns="228600" tIns="228600" rIns="228600" bIns="0" anchor="b" anchorCtr="0">
            <a:normAutofit/>
          </a:bodyPr>
          <a:lstStyle>
            <a:lvl1pPr lvl="0" algn="ctr">
              <a:lnSpc>
                <a:spcPct val="80000"/>
              </a:lnSpc>
              <a:spcBef>
                <a:spcPts val="0"/>
              </a:spcBef>
              <a:spcAft>
                <a:spcPts val="0"/>
              </a:spcAft>
              <a:buClr>
                <a:srgbClr val="FFFEFF"/>
              </a:buClr>
              <a:buSzPts val="23040"/>
              <a:buFont typeface="Calibri"/>
              <a:buNone/>
              <a:defRPr sz="23040">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
          <p:cNvSpPr txBox="1">
            <a:spLocks noGrp="1"/>
          </p:cNvSpPr>
          <p:nvPr>
            <p:ph type="subTitle" idx="1"/>
          </p:nvPr>
        </p:nvSpPr>
        <p:spPr>
          <a:xfrm>
            <a:off x="6523639" y="18919162"/>
            <a:ext cx="30856536" cy="6403776"/>
          </a:xfrm>
          <a:prstGeom prst="rect">
            <a:avLst/>
          </a:prstGeom>
          <a:noFill/>
          <a:ln>
            <a:noFill/>
          </a:ln>
        </p:spPr>
        <p:txBody>
          <a:bodyPr spcFirstLastPara="1" wrap="square" lIns="91425" tIns="0" rIns="91425" bIns="45700" anchor="t" anchorCtr="0">
            <a:normAutofit/>
          </a:bodyPr>
          <a:lstStyle>
            <a:lvl1pPr lvl="0" algn="ctr">
              <a:lnSpc>
                <a:spcPct val="100000"/>
              </a:lnSpc>
              <a:spcBef>
                <a:spcPts val="3600"/>
              </a:spcBef>
              <a:spcAft>
                <a:spcPts val="0"/>
              </a:spcAft>
              <a:buSzPts val="9504"/>
              <a:buNone/>
              <a:defRPr sz="8640" b="0">
                <a:solidFill>
                  <a:srgbClr val="FFFEFF"/>
                </a:solidFill>
              </a:defRPr>
            </a:lvl1pPr>
            <a:lvl2pPr lvl="1" algn="ctr">
              <a:lnSpc>
                <a:spcPct val="120000"/>
              </a:lnSpc>
              <a:spcBef>
                <a:spcPts val="1800"/>
              </a:spcBef>
              <a:spcAft>
                <a:spcPts val="0"/>
              </a:spcAft>
              <a:buSzPts val="7920"/>
              <a:buNone/>
              <a:defRPr sz="7200"/>
            </a:lvl2pPr>
            <a:lvl3pPr lvl="2" algn="ctr">
              <a:lnSpc>
                <a:spcPct val="120000"/>
              </a:lnSpc>
              <a:spcBef>
                <a:spcPts val="1800"/>
              </a:spcBef>
              <a:spcAft>
                <a:spcPts val="0"/>
              </a:spcAft>
              <a:buSzPts val="7128"/>
              <a:buNone/>
              <a:defRPr sz="6480"/>
            </a:lvl3pPr>
            <a:lvl4pPr lvl="3" algn="ctr">
              <a:lnSpc>
                <a:spcPct val="120000"/>
              </a:lnSpc>
              <a:spcBef>
                <a:spcPts val="1800"/>
              </a:spcBef>
              <a:spcAft>
                <a:spcPts val="0"/>
              </a:spcAft>
              <a:buSzPts val="6336"/>
              <a:buNone/>
              <a:defRPr sz="5760"/>
            </a:lvl4pPr>
            <a:lvl5pPr lvl="4" algn="ctr">
              <a:lnSpc>
                <a:spcPct val="120000"/>
              </a:lnSpc>
              <a:spcBef>
                <a:spcPts val="1800"/>
              </a:spcBef>
              <a:spcAft>
                <a:spcPts val="0"/>
              </a:spcAft>
              <a:buSzPts val="6336"/>
              <a:buNone/>
              <a:defRPr sz="5760"/>
            </a:lvl5pPr>
            <a:lvl6pPr lvl="5" algn="ctr">
              <a:lnSpc>
                <a:spcPct val="120000"/>
              </a:lnSpc>
              <a:spcBef>
                <a:spcPts val="1800"/>
              </a:spcBef>
              <a:spcAft>
                <a:spcPts val="0"/>
              </a:spcAft>
              <a:buSzPts val="6336"/>
              <a:buNone/>
              <a:defRPr sz="5760"/>
            </a:lvl6pPr>
            <a:lvl7pPr lvl="6" algn="ctr">
              <a:lnSpc>
                <a:spcPct val="120000"/>
              </a:lnSpc>
              <a:spcBef>
                <a:spcPts val="1800"/>
              </a:spcBef>
              <a:spcAft>
                <a:spcPts val="0"/>
              </a:spcAft>
              <a:buSzPts val="6336"/>
              <a:buNone/>
              <a:defRPr sz="5760"/>
            </a:lvl7pPr>
            <a:lvl8pPr lvl="7" algn="ctr">
              <a:lnSpc>
                <a:spcPct val="120000"/>
              </a:lnSpc>
              <a:spcBef>
                <a:spcPts val="1800"/>
              </a:spcBef>
              <a:spcAft>
                <a:spcPts val="0"/>
              </a:spcAft>
              <a:buSzPts val="6336"/>
              <a:buNone/>
              <a:defRPr sz="5760"/>
            </a:lvl8pPr>
            <a:lvl9pPr lvl="8" algn="ctr">
              <a:lnSpc>
                <a:spcPct val="120000"/>
              </a:lnSpc>
              <a:spcBef>
                <a:spcPts val="1800"/>
              </a:spcBef>
              <a:spcAft>
                <a:spcPts val="0"/>
              </a:spcAft>
              <a:buSzPts val="6336"/>
              <a:buNone/>
              <a:defRPr sz="5760"/>
            </a:lvl9pPr>
          </a:lstStyle>
          <a:p>
            <a:endParaRPr/>
          </a:p>
        </p:txBody>
      </p:sp>
      <p:sp>
        <p:nvSpPr>
          <p:cNvPr id="44" name="Google Shape;44;p4"/>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7"/>
        <p:cNvGrpSpPr/>
        <p:nvPr/>
      </p:nvGrpSpPr>
      <p:grpSpPr>
        <a:xfrm>
          <a:off x="0" y="0"/>
          <a:ext cx="0" cy="0"/>
          <a:chOff x="0" y="0"/>
          <a:chExt cx="0" cy="0"/>
        </a:xfrm>
      </p:grpSpPr>
      <p:grpSp>
        <p:nvGrpSpPr>
          <p:cNvPr id="48" name="Google Shape;48;p5"/>
          <p:cNvGrpSpPr/>
          <p:nvPr/>
        </p:nvGrpSpPr>
        <p:grpSpPr>
          <a:xfrm>
            <a:off x="-1373882" y="2"/>
            <a:ext cx="45224443" cy="32918405"/>
            <a:chOff x="1243013" y="0"/>
            <a:chExt cx="9402763" cy="6858001"/>
          </a:xfrm>
        </p:grpSpPr>
        <p:sp>
          <p:nvSpPr>
            <p:cNvPr id="49" name="Google Shape;49;p5"/>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5"/>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5"/>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5"/>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5"/>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5"/>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5"/>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5"/>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5"/>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5"/>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5"/>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5"/>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5"/>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5"/>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5"/>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5"/>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5"/>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5"/>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5"/>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5"/>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9" name="Google Shape;69;p5"/>
          <p:cNvGrpSpPr/>
          <p:nvPr/>
        </p:nvGrpSpPr>
        <p:grpSpPr>
          <a:xfrm>
            <a:off x="3072384" y="8158029"/>
            <a:ext cx="15775450" cy="16658021"/>
            <a:chOff x="640080" y="1699589"/>
            <a:chExt cx="3286552" cy="3470421"/>
          </a:xfrm>
        </p:grpSpPr>
        <p:sp>
          <p:nvSpPr>
            <p:cNvPr id="70" name="Google Shape;70;p5"/>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5"/>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5"/>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5"/>
          <p:cNvSpPr txBox="1">
            <a:spLocks noGrp="1"/>
          </p:cNvSpPr>
          <p:nvPr>
            <p:ph type="title"/>
          </p:nvPr>
        </p:nvSpPr>
        <p:spPr>
          <a:xfrm>
            <a:off x="3482659" y="11279635"/>
            <a:ext cx="14937830" cy="11831770"/>
          </a:xfrm>
          <a:prstGeom prst="rect">
            <a:avLst/>
          </a:prstGeom>
          <a:noFill/>
          <a:ln>
            <a:noFill/>
          </a:ln>
        </p:spPr>
        <p:txBody>
          <a:bodyPr spcFirstLastPara="1" wrap="square" lIns="228600" tIns="228600" rIns="228600" bIns="228600"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5"/>
          <p:cNvSpPr txBox="1">
            <a:spLocks noGrp="1"/>
          </p:cNvSpPr>
          <p:nvPr>
            <p:ph type="body" idx="1"/>
          </p:nvPr>
        </p:nvSpPr>
        <p:spPr>
          <a:xfrm>
            <a:off x="21195298" y="3855293"/>
            <a:ext cx="19638768" cy="25193386"/>
          </a:xfrm>
          <a:prstGeom prst="rect">
            <a:avLst/>
          </a:prstGeom>
          <a:noFill/>
          <a:ln>
            <a:noFill/>
          </a:ln>
        </p:spPr>
        <p:txBody>
          <a:bodyPr spcFirstLastPara="1" wrap="square" lIns="91425" tIns="45700" rIns="91425" bIns="45700" anchor="ctr"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75" name="Google Shape;75;p5"/>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8"/>
        <p:cNvGrpSpPr/>
        <p:nvPr/>
      </p:nvGrpSpPr>
      <p:grpSpPr>
        <a:xfrm>
          <a:off x="0" y="0"/>
          <a:ext cx="0" cy="0"/>
          <a:chOff x="0" y="0"/>
          <a:chExt cx="0" cy="0"/>
        </a:xfrm>
      </p:grpSpPr>
      <p:grpSp>
        <p:nvGrpSpPr>
          <p:cNvPr id="79" name="Google Shape;79;p6"/>
          <p:cNvGrpSpPr/>
          <p:nvPr/>
        </p:nvGrpSpPr>
        <p:grpSpPr>
          <a:xfrm>
            <a:off x="3" y="0"/>
            <a:ext cx="45864782" cy="32895542"/>
            <a:chOff x="1524000" y="0"/>
            <a:chExt cx="9555163" cy="6853238"/>
          </a:xfrm>
        </p:grpSpPr>
        <p:sp>
          <p:nvSpPr>
            <p:cNvPr id="80" name="Google Shape;80;p6"/>
            <p:cNvSpPr/>
            <p:nvPr/>
          </p:nvSpPr>
          <p:spPr>
            <a:xfrm>
              <a:off x="1524000" y="1331913"/>
              <a:ext cx="7837488" cy="5521325"/>
            </a:xfrm>
            <a:custGeom>
              <a:avLst/>
              <a:gdLst/>
              <a:ahLst/>
              <a:cxnLst/>
              <a:rect l="l" t="t" r="r" b="b"/>
              <a:pathLst>
                <a:path w="1648" h="1161" extrusionOk="0">
                  <a:moveTo>
                    <a:pt x="1362" y="1161"/>
                  </a:moveTo>
                  <a:cubicBezTo>
                    <a:pt x="1648" y="920"/>
                    <a:pt x="1283" y="505"/>
                    <a:pt x="1097" y="326"/>
                  </a:cubicBezTo>
                  <a:cubicBezTo>
                    <a:pt x="926" y="162"/>
                    <a:pt x="709" y="35"/>
                    <a:pt x="470" y="14"/>
                  </a:cubicBezTo>
                  <a:cubicBezTo>
                    <a:pt x="315" y="0"/>
                    <a:pt x="142" y="49"/>
                    <a:pt x="0" y="138"/>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p:cNvSpPr/>
            <p:nvPr/>
          </p:nvSpPr>
          <p:spPr>
            <a:xfrm>
              <a:off x="1524000" y="5564188"/>
              <a:ext cx="1412875" cy="1284288"/>
            </a:xfrm>
            <a:custGeom>
              <a:avLst/>
              <a:gdLst/>
              <a:ahLst/>
              <a:cxnLst/>
              <a:rect l="l" t="t" r="r" b="b"/>
              <a:pathLst>
                <a:path w="297" h="270" extrusionOk="0">
                  <a:moveTo>
                    <a:pt x="0" y="0"/>
                  </a:moveTo>
                  <a:cubicBezTo>
                    <a:pt x="73" y="119"/>
                    <a:pt x="186" y="220"/>
                    <a:pt x="297" y="27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6"/>
            <p:cNvSpPr/>
            <p:nvPr/>
          </p:nvSpPr>
          <p:spPr>
            <a:xfrm>
              <a:off x="1524000" y="2030413"/>
              <a:ext cx="6510338" cy="4813300"/>
            </a:xfrm>
            <a:custGeom>
              <a:avLst/>
              <a:gdLst/>
              <a:ahLst/>
              <a:cxnLst/>
              <a:rect l="l" t="t" r="r" b="b"/>
              <a:pathLst>
                <a:path w="1369" h="1012" extrusionOk="0">
                  <a:moveTo>
                    <a:pt x="845" y="1012"/>
                  </a:moveTo>
                  <a:cubicBezTo>
                    <a:pt x="1043" y="967"/>
                    <a:pt x="1369" y="853"/>
                    <a:pt x="1263" y="588"/>
                  </a:cubicBezTo>
                  <a:cubicBezTo>
                    <a:pt x="1164" y="340"/>
                    <a:pt x="861" y="107"/>
                    <a:pt x="602" y="49"/>
                  </a:cubicBezTo>
                  <a:cubicBezTo>
                    <a:pt x="383" y="0"/>
                    <a:pt x="135" y="97"/>
                    <a:pt x="0" y="28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6"/>
            <p:cNvSpPr/>
            <p:nvPr/>
          </p:nvSpPr>
          <p:spPr>
            <a:xfrm>
              <a:off x="1528763" y="6207125"/>
              <a:ext cx="717550" cy="646113"/>
            </a:xfrm>
            <a:custGeom>
              <a:avLst/>
              <a:gdLst/>
              <a:ahLst/>
              <a:cxnLst/>
              <a:rect l="l" t="t" r="r" b="b"/>
              <a:pathLst>
                <a:path w="151" h="136" extrusionOk="0">
                  <a:moveTo>
                    <a:pt x="0" y="0"/>
                  </a:moveTo>
                  <a:cubicBezTo>
                    <a:pt x="45" y="52"/>
                    <a:pt x="97" y="99"/>
                    <a:pt x="151" y="136"/>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6"/>
            <p:cNvSpPr/>
            <p:nvPr/>
          </p:nvSpPr>
          <p:spPr>
            <a:xfrm>
              <a:off x="1524000" y="1806575"/>
              <a:ext cx="6753225" cy="5046663"/>
            </a:xfrm>
            <a:custGeom>
              <a:avLst/>
              <a:gdLst/>
              <a:ahLst/>
              <a:cxnLst/>
              <a:rect l="l" t="t" r="r" b="b"/>
              <a:pathLst>
                <a:path w="1420" h="1061" extrusionOk="0">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6"/>
            <p:cNvSpPr/>
            <p:nvPr/>
          </p:nvSpPr>
          <p:spPr>
            <a:xfrm>
              <a:off x="1524000" y="669925"/>
              <a:ext cx="8797925" cy="6183313"/>
            </a:xfrm>
            <a:custGeom>
              <a:avLst/>
              <a:gdLst/>
              <a:ahLst/>
              <a:cxnLst/>
              <a:rect l="l" t="t" r="r" b="b"/>
              <a:pathLst>
                <a:path w="1850" h="1300" extrusionOk="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6"/>
            <p:cNvSpPr/>
            <p:nvPr/>
          </p:nvSpPr>
          <p:spPr>
            <a:xfrm>
              <a:off x="1524000" y="119063"/>
              <a:ext cx="9555163" cy="6734175"/>
            </a:xfrm>
            <a:custGeom>
              <a:avLst/>
              <a:gdLst/>
              <a:ahLst/>
              <a:cxnLst/>
              <a:rect l="l" t="t" r="r" b="b"/>
              <a:pathLst>
                <a:path w="2009" h="1416" extrusionOk="0">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6"/>
            <p:cNvSpPr/>
            <p:nvPr/>
          </p:nvSpPr>
          <p:spPr>
            <a:xfrm>
              <a:off x="5419725" y="4763"/>
              <a:ext cx="5216525" cy="5368925"/>
            </a:xfrm>
            <a:custGeom>
              <a:avLst/>
              <a:gdLst/>
              <a:ahLst/>
              <a:cxnLst/>
              <a:rect l="l" t="t" r="r" b="b"/>
              <a:pathLst>
                <a:path w="1097" h="1129" extrusionOk="0">
                  <a:moveTo>
                    <a:pt x="1097" y="1129"/>
                  </a:moveTo>
                  <a:cubicBezTo>
                    <a:pt x="1031" y="909"/>
                    <a:pt x="843" y="701"/>
                    <a:pt x="709" y="551"/>
                  </a:cubicBezTo>
                  <a:cubicBezTo>
                    <a:pt x="509" y="327"/>
                    <a:pt x="274" y="127"/>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6"/>
            <p:cNvSpPr/>
            <p:nvPr/>
          </p:nvSpPr>
          <p:spPr>
            <a:xfrm>
              <a:off x="5813425" y="4763"/>
              <a:ext cx="4832350" cy="4822825"/>
            </a:xfrm>
            <a:custGeom>
              <a:avLst/>
              <a:gdLst/>
              <a:ahLst/>
              <a:cxnLst/>
              <a:rect l="l" t="t" r="r" b="b"/>
              <a:pathLst>
                <a:path w="1016" h="1014" extrusionOk="0">
                  <a:moveTo>
                    <a:pt x="1016" y="1014"/>
                  </a:moveTo>
                  <a:cubicBezTo>
                    <a:pt x="934" y="849"/>
                    <a:pt x="802" y="697"/>
                    <a:pt x="698" y="577"/>
                  </a:cubicBezTo>
                  <a:cubicBezTo>
                    <a:pt x="500" y="348"/>
                    <a:pt x="270" y="141"/>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6"/>
            <p:cNvSpPr/>
            <p:nvPr/>
          </p:nvSpPr>
          <p:spPr>
            <a:xfrm>
              <a:off x="6003925" y="4763"/>
              <a:ext cx="4641850" cy="4598988"/>
            </a:xfrm>
            <a:custGeom>
              <a:avLst/>
              <a:gdLst/>
              <a:ahLst/>
              <a:cxnLst/>
              <a:rect l="l" t="t" r="r" b="b"/>
              <a:pathLst>
                <a:path w="976" h="967" extrusionOk="0">
                  <a:moveTo>
                    <a:pt x="976" y="967"/>
                  </a:moveTo>
                  <a:cubicBezTo>
                    <a:pt x="894" y="822"/>
                    <a:pt x="779" y="689"/>
                    <a:pt x="686" y="580"/>
                  </a:cubicBezTo>
                  <a:cubicBezTo>
                    <a:pt x="491" y="352"/>
                    <a:pt x="264" y="145"/>
                    <a:pt x="0" y="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6"/>
            <p:cNvSpPr/>
            <p:nvPr/>
          </p:nvSpPr>
          <p:spPr>
            <a:xfrm>
              <a:off x="6203950" y="0"/>
              <a:ext cx="4441825" cy="4237038"/>
            </a:xfrm>
            <a:custGeom>
              <a:avLst/>
              <a:gdLst/>
              <a:ahLst/>
              <a:cxnLst/>
              <a:rect l="l" t="t" r="r" b="b"/>
              <a:pathLst>
                <a:path w="934" h="891" extrusionOk="0">
                  <a:moveTo>
                    <a:pt x="934" y="891"/>
                  </a:moveTo>
                  <a:cubicBezTo>
                    <a:pt x="863" y="783"/>
                    <a:pt x="778" y="684"/>
                    <a:pt x="705" y="599"/>
                  </a:cubicBezTo>
                  <a:cubicBezTo>
                    <a:pt x="503" y="365"/>
                    <a:pt x="270" y="152"/>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6"/>
            <p:cNvSpPr/>
            <p:nvPr/>
          </p:nvSpPr>
          <p:spPr>
            <a:xfrm>
              <a:off x="6456363" y="4763"/>
              <a:ext cx="4179888" cy="3986213"/>
            </a:xfrm>
            <a:custGeom>
              <a:avLst/>
              <a:gdLst/>
              <a:ahLst/>
              <a:cxnLst/>
              <a:rect l="l" t="t" r="r" b="b"/>
              <a:pathLst>
                <a:path w="879" h="838" extrusionOk="0">
                  <a:moveTo>
                    <a:pt x="879" y="838"/>
                  </a:moveTo>
                  <a:cubicBezTo>
                    <a:pt x="821" y="755"/>
                    <a:pt x="756" y="679"/>
                    <a:pt x="698" y="611"/>
                  </a:cubicBezTo>
                  <a:cubicBezTo>
                    <a:pt x="498" y="375"/>
                    <a:pt x="268" y="15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6"/>
            <p:cNvSpPr/>
            <p:nvPr/>
          </p:nvSpPr>
          <p:spPr>
            <a:xfrm>
              <a:off x="6869113" y="4763"/>
              <a:ext cx="3776663" cy="3838575"/>
            </a:xfrm>
            <a:custGeom>
              <a:avLst/>
              <a:gdLst/>
              <a:ahLst/>
              <a:cxnLst/>
              <a:rect l="l" t="t" r="r" b="b"/>
              <a:pathLst>
                <a:path w="794" h="807" extrusionOk="0">
                  <a:moveTo>
                    <a:pt x="794" y="807"/>
                  </a:moveTo>
                  <a:cubicBezTo>
                    <a:pt x="745" y="739"/>
                    <a:pt x="695" y="676"/>
                    <a:pt x="648" y="617"/>
                  </a:cubicBezTo>
                  <a:cubicBezTo>
                    <a:pt x="462" y="383"/>
                    <a:pt x="248" y="1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6"/>
            <p:cNvSpPr/>
            <p:nvPr/>
          </p:nvSpPr>
          <p:spPr>
            <a:xfrm>
              <a:off x="8758238" y="4763"/>
              <a:ext cx="1887538" cy="1355725"/>
            </a:xfrm>
            <a:custGeom>
              <a:avLst/>
              <a:gdLst/>
              <a:ahLst/>
              <a:cxnLst/>
              <a:rect l="l" t="t" r="r" b="b"/>
              <a:pathLst>
                <a:path w="397" h="285" extrusionOk="0">
                  <a:moveTo>
                    <a:pt x="397" y="285"/>
                  </a:moveTo>
                  <a:cubicBezTo>
                    <a:pt x="270" y="182"/>
                    <a:pt x="138" y="86"/>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6"/>
            <p:cNvSpPr/>
            <p:nvPr/>
          </p:nvSpPr>
          <p:spPr>
            <a:xfrm>
              <a:off x="9223375" y="9525"/>
              <a:ext cx="1422400" cy="1108075"/>
            </a:xfrm>
            <a:custGeom>
              <a:avLst/>
              <a:gdLst/>
              <a:ahLst/>
              <a:cxnLst/>
              <a:rect l="l" t="t" r="r" b="b"/>
              <a:pathLst>
                <a:path w="299" h="233" extrusionOk="0">
                  <a:moveTo>
                    <a:pt x="299" y="233"/>
                  </a:moveTo>
                  <a:cubicBezTo>
                    <a:pt x="197" y="145"/>
                    <a:pt x="97" y="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6"/>
            <p:cNvSpPr/>
            <p:nvPr/>
          </p:nvSpPr>
          <p:spPr>
            <a:xfrm>
              <a:off x="10009188" y="4763"/>
              <a:ext cx="636588" cy="361950"/>
            </a:xfrm>
            <a:custGeom>
              <a:avLst/>
              <a:gdLst/>
              <a:ahLst/>
              <a:cxnLst/>
              <a:rect l="l" t="t" r="r" b="b"/>
              <a:pathLst>
                <a:path w="134" h="76" extrusionOk="0">
                  <a:moveTo>
                    <a:pt x="0" y="0"/>
                  </a:moveTo>
                  <a:cubicBezTo>
                    <a:pt x="45" y="25"/>
                    <a:pt x="89" y="50"/>
                    <a:pt x="134" y="76"/>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6" name="Google Shape;96;p6"/>
          <p:cNvGrpSpPr/>
          <p:nvPr/>
        </p:nvGrpSpPr>
        <p:grpSpPr>
          <a:xfrm>
            <a:off x="11536685" y="5562730"/>
            <a:ext cx="20724883" cy="21781517"/>
            <a:chOff x="2403476" y="1158902"/>
            <a:chExt cx="4317684" cy="4537816"/>
          </a:xfrm>
        </p:grpSpPr>
        <p:sp>
          <p:nvSpPr>
            <p:cNvPr id="97" name="Google Shape;97;p6"/>
            <p:cNvSpPr/>
            <p:nvPr/>
          </p:nvSpPr>
          <p:spPr>
            <a:xfrm>
              <a:off x="2403476" y="1158902"/>
              <a:ext cx="4317684" cy="731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6"/>
            <p:cNvSpPr/>
            <p:nvPr/>
          </p:nvSpPr>
          <p:spPr>
            <a:xfrm>
              <a:off x="2403476" y="1963574"/>
              <a:ext cx="4317684" cy="3384463"/>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6"/>
            <p:cNvSpPr/>
            <p:nvPr/>
          </p:nvSpPr>
          <p:spPr>
            <a:xfrm rot="10800000">
              <a:off x="4358702" y="5345655"/>
              <a:ext cx="407233" cy="35106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0" name="Google Shape;100;p6"/>
          <p:cNvSpPr txBox="1">
            <a:spLocks noGrp="1"/>
          </p:cNvSpPr>
          <p:nvPr>
            <p:ph type="title"/>
          </p:nvPr>
        </p:nvSpPr>
        <p:spPr>
          <a:xfrm>
            <a:off x="11899910" y="9738370"/>
            <a:ext cx="19982170" cy="8315875"/>
          </a:xfrm>
          <a:prstGeom prst="rect">
            <a:avLst/>
          </a:prstGeom>
          <a:noFill/>
          <a:ln>
            <a:noFill/>
          </a:ln>
        </p:spPr>
        <p:txBody>
          <a:bodyPr spcFirstLastPara="1" wrap="square" lIns="228600" tIns="228600" rIns="228600" bIns="0" anchor="b" anchorCtr="0">
            <a:normAutofit/>
          </a:bodyPr>
          <a:lstStyle>
            <a:lvl1pPr lvl="0" algn="ctr">
              <a:lnSpc>
                <a:spcPct val="85000"/>
              </a:lnSpc>
              <a:spcBef>
                <a:spcPts val="0"/>
              </a:spcBef>
              <a:spcAft>
                <a:spcPts val="0"/>
              </a:spcAft>
              <a:buClr>
                <a:srgbClr val="FFFEFF"/>
              </a:buClr>
              <a:buSzPts val="17280"/>
              <a:buFont typeface="Calibri"/>
              <a:buNone/>
              <a:defRPr sz="17280">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6"/>
          <p:cNvSpPr txBox="1">
            <a:spLocks noGrp="1"/>
          </p:cNvSpPr>
          <p:nvPr>
            <p:ph type="body" idx="1"/>
          </p:nvPr>
        </p:nvSpPr>
        <p:spPr>
          <a:xfrm>
            <a:off x="11899910" y="18448025"/>
            <a:ext cx="19982170" cy="6845266"/>
          </a:xfrm>
          <a:prstGeom prst="rect">
            <a:avLst/>
          </a:prstGeom>
          <a:noFill/>
          <a:ln>
            <a:noFill/>
          </a:ln>
        </p:spPr>
        <p:txBody>
          <a:bodyPr spcFirstLastPara="1" wrap="square" lIns="91425" tIns="0" rIns="91425" bIns="45700" anchor="t" anchorCtr="0">
            <a:normAutofit/>
          </a:bodyPr>
          <a:lstStyle>
            <a:lvl1pPr marL="457200" lvl="0" indent="-228600" algn="ctr">
              <a:lnSpc>
                <a:spcPct val="120000"/>
              </a:lnSpc>
              <a:spcBef>
                <a:spcPts val="3600"/>
              </a:spcBef>
              <a:spcAft>
                <a:spcPts val="0"/>
              </a:spcAft>
              <a:buSzPts val="8448"/>
              <a:buNone/>
              <a:defRPr sz="7680">
                <a:solidFill>
                  <a:srgbClr val="FFFEFF"/>
                </a:solidFill>
              </a:defRPr>
            </a:lvl1pPr>
            <a:lvl2pPr marL="914400" lvl="1" indent="-228600" algn="l">
              <a:lnSpc>
                <a:spcPct val="120000"/>
              </a:lnSpc>
              <a:spcBef>
                <a:spcPts val="1800"/>
              </a:spcBef>
              <a:spcAft>
                <a:spcPts val="0"/>
              </a:spcAft>
              <a:buSzPts val="7920"/>
              <a:buNone/>
              <a:defRPr sz="7200">
                <a:solidFill>
                  <a:srgbClr val="888888"/>
                </a:solidFill>
              </a:defRPr>
            </a:lvl2pPr>
            <a:lvl3pPr marL="1371600" lvl="2" indent="-228600" algn="l">
              <a:lnSpc>
                <a:spcPct val="120000"/>
              </a:lnSpc>
              <a:spcBef>
                <a:spcPts val="1800"/>
              </a:spcBef>
              <a:spcAft>
                <a:spcPts val="0"/>
              </a:spcAft>
              <a:buSzPts val="7128"/>
              <a:buNone/>
              <a:defRPr sz="6480">
                <a:solidFill>
                  <a:srgbClr val="888888"/>
                </a:solidFill>
              </a:defRPr>
            </a:lvl3pPr>
            <a:lvl4pPr marL="1828800" lvl="3" indent="-228600" algn="l">
              <a:lnSpc>
                <a:spcPct val="120000"/>
              </a:lnSpc>
              <a:spcBef>
                <a:spcPts val="1800"/>
              </a:spcBef>
              <a:spcAft>
                <a:spcPts val="0"/>
              </a:spcAft>
              <a:buSzPts val="6336"/>
              <a:buNone/>
              <a:defRPr sz="5760">
                <a:solidFill>
                  <a:srgbClr val="888888"/>
                </a:solidFill>
              </a:defRPr>
            </a:lvl4pPr>
            <a:lvl5pPr marL="2286000" lvl="4" indent="-228600" algn="l">
              <a:lnSpc>
                <a:spcPct val="120000"/>
              </a:lnSpc>
              <a:spcBef>
                <a:spcPts val="1800"/>
              </a:spcBef>
              <a:spcAft>
                <a:spcPts val="0"/>
              </a:spcAft>
              <a:buSzPts val="6336"/>
              <a:buNone/>
              <a:defRPr sz="5760">
                <a:solidFill>
                  <a:srgbClr val="888888"/>
                </a:solidFill>
              </a:defRPr>
            </a:lvl5pPr>
            <a:lvl6pPr marL="2743200" lvl="5" indent="-228600" algn="l">
              <a:lnSpc>
                <a:spcPct val="120000"/>
              </a:lnSpc>
              <a:spcBef>
                <a:spcPts val="1800"/>
              </a:spcBef>
              <a:spcAft>
                <a:spcPts val="0"/>
              </a:spcAft>
              <a:buSzPts val="6336"/>
              <a:buNone/>
              <a:defRPr sz="5760">
                <a:solidFill>
                  <a:srgbClr val="888888"/>
                </a:solidFill>
              </a:defRPr>
            </a:lvl6pPr>
            <a:lvl7pPr marL="3200400" lvl="6" indent="-228600" algn="l">
              <a:lnSpc>
                <a:spcPct val="120000"/>
              </a:lnSpc>
              <a:spcBef>
                <a:spcPts val="1800"/>
              </a:spcBef>
              <a:spcAft>
                <a:spcPts val="0"/>
              </a:spcAft>
              <a:buSzPts val="6336"/>
              <a:buNone/>
              <a:defRPr sz="5760">
                <a:solidFill>
                  <a:srgbClr val="888888"/>
                </a:solidFill>
              </a:defRPr>
            </a:lvl7pPr>
            <a:lvl8pPr marL="3657600" lvl="7" indent="-228600" algn="l">
              <a:lnSpc>
                <a:spcPct val="120000"/>
              </a:lnSpc>
              <a:spcBef>
                <a:spcPts val="1800"/>
              </a:spcBef>
              <a:spcAft>
                <a:spcPts val="0"/>
              </a:spcAft>
              <a:buSzPts val="6336"/>
              <a:buNone/>
              <a:defRPr sz="5760">
                <a:solidFill>
                  <a:srgbClr val="888888"/>
                </a:solidFill>
              </a:defRPr>
            </a:lvl8pPr>
            <a:lvl9pPr marL="4114800" lvl="8" indent="-228600" algn="l">
              <a:lnSpc>
                <a:spcPct val="120000"/>
              </a:lnSpc>
              <a:spcBef>
                <a:spcPts val="1800"/>
              </a:spcBef>
              <a:spcAft>
                <a:spcPts val="0"/>
              </a:spcAft>
              <a:buSzPts val="6336"/>
              <a:buNone/>
              <a:defRPr sz="5760">
                <a:solidFill>
                  <a:srgbClr val="888888"/>
                </a:solidFill>
              </a:defRPr>
            </a:lvl9pPr>
          </a:lstStyle>
          <a:p>
            <a:endParaRPr/>
          </a:p>
        </p:txBody>
      </p:sp>
      <p:sp>
        <p:nvSpPr>
          <p:cNvPr id="102" name="Google Shape;102;p6"/>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6"/>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6"/>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5"/>
        <p:cNvGrpSpPr/>
        <p:nvPr/>
      </p:nvGrpSpPr>
      <p:grpSpPr>
        <a:xfrm>
          <a:off x="0" y="0"/>
          <a:ext cx="0" cy="0"/>
          <a:chOff x="0" y="0"/>
          <a:chExt cx="0" cy="0"/>
        </a:xfrm>
      </p:grpSpPr>
      <p:grpSp>
        <p:nvGrpSpPr>
          <p:cNvPr id="106" name="Google Shape;106;p7"/>
          <p:cNvGrpSpPr/>
          <p:nvPr/>
        </p:nvGrpSpPr>
        <p:grpSpPr>
          <a:xfrm>
            <a:off x="-1373882" y="2"/>
            <a:ext cx="45224443" cy="32918405"/>
            <a:chOff x="1243013" y="0"/>
            <a:chExt cx="9402763" cy="6858001"/>
          </a:xfrm>
        </p:grpSpPr>
        <p:sp>
          <p:nvSpPr>
            <p:cNvPr id="107" name="Google Shape;107;p7"/>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7"/>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7"/>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7"/>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7"/>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7"/>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7"/>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7"/>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7"/>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7"/>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7"/>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7"/>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7"/>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7"/>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7"/>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7"/>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7"/>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7"/>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7"/>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7"/>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7" name="Google Shape;127;p7"/>
          <p:cNvGrpSpPr/>
          <p:nvPr/>
        </p:nvGrpSpPr>
        <p:grpSpPr>
          <a:xfrm>
            <a:off x="3072384" y="8158029"/>
            <a:ext cx="15775450" cy="16658021"/>
            <a:chOff x="640080" y="1699589"/>
            <a:chExt cx="3286552" cy="3470421"/>
          </a:xfrm>
        </p:grpSpPr>
        <p:sp>
          <p:nvSpPr>
            <p:cNvPr id="128" name="Google Shape;128;p7"/>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7"/>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7"/>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1" name="Google Shape;131;p7"/>
          <p:cNvSpPr txBox="1">
            <a:spLocks noGrp="1"/>
          </p:cNvSpPr>
          <p:nvPr>
            <p:ph type="title"/>
          </p:nvPr>
        </p:nvSpPr>
        <p:spPr>
          <a:xfrm>
            <a:off x="3455772" y="11304327"/>
            <a:ext cx="14986382" cy="11807078"/>
          </a:xfrm>
          <a:prstGeom prst="rect">
            <a:avLst/>
          </a:prstGeom>
          <a:noFill/>
          <a:ln>
            <a:noFill/>
          </a:ln>
        </p:spPr>
        <p:txBody>
          <a:bodyPr spcFirstLastPara="1" wrap="square" lIns="91425" tIns="91425" rIns="91425" bIns="91425"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7"/>
          <p:cNvSpPr txBox="1">
            <a:spLocks noGrp="1"/>
          </p:cNvSpPr>
          <p:nvPr>
            <p:ph type="body" idx="1"/>
          </p:nvPr>
        </p:nvSpPr>
        <p:spPr>
          <a:xfrm>
            <a:off x="21230467" y="3859339"/>
            <a:ext cx="19640035" cy="11804842"/>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133" name="Google Shape;133;p7"/>
          <p:cNvSpPr txBox="1">
            <a:spLocks noGrp="1"/>
          </p:cNvSpPr>
          <p:nvPr>
            <p:ph type="body" idx="2"/>
          </p:nvPr>
        </p:nvSpPr>
        <p:spPr>
          <a:xfrm>
            <a:off x="21217359" y="17208499"/>
            <a:ext cx="19653139" cy="11859101"/>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134" name="Google Shape;134;p7"/>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7"/>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7"/>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7"/>
        <p:cNvGrpSpPr/>
        <p:nvPr/>
      </p:nvGrpSpPr>
      <p:grpSpPr>
        <a:xfrm>
          <a:off x="0" y="0"/>
          <a:ext cx="0" cy="0"/>
          <a:chOff x="0" y="0"/>
          <a:chExt cx="0" cy="0"/>
        </a:xfrm>
      </p:grpSpPr>
      <p:grpSp>
        <p:nvGrpSpPr>
          <p:cNvPr id="138" name="Google Shape;138;p8"/>
          <p:cNvGrpSpPr/>
          <p:nvPr/>
        </p:nvGrpSpPr>
        <p:grpSpPr>
          <a:xfrm>
            <a:off x="-1373882" y="2"/>
            <a:ext cx="45224443" cy="32918405"/>
            <a:chOff x="1243013" y="0"/>
            <a:chExt cx="9402763" cy="6858001"/>
          </a:xfrm>
        </p:grpSpPr>
        <p:sp>
          <p:nvSpPr>
            <p:cNvPr id="139" name="Google Shape;139;p8"/>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8"/>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8"/>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8"/>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8"/>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8"/>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8"/>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8"/>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8"/>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8"/>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8"/>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8"/>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8"/>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8"/>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8"/>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8"/>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8"/>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8"/>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8"/>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8"/>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9" name="Google Shape;159;p8"/>
          <p:cNvGrpSpPr/>
          <p:nvPr/>
        </p:nvGrpSpPr>
        <p:grpSpPr>
          <a:xfrm>
            <a:off x="3072384" y="8158029"/>
            <a:ext cx="15775450" cy="16658021"/>
            <a:chOff x="640080" y="1699589"/>
            <a:chExt cx="3286552" cy="3470421"/>
          </a:xfrm>
        </p:grpSpPr>
        <p:sp>
          <p:nvSpPr>
            <p:cNvPr id="160" name="Google Shape;160;p8"/>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8"/>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8"/>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3" name="Google Shape;163;p8"/>
          <p:cNvSpPr txBox="1">
            <a:spLocks noGrp="1"/>
          </p:cNvSpPr>
          <p:nvPr>
            <p:ph type="title"/>
          </p:nvPr>
        </p:nvSpPr>
        <p:spPr>
          <a:xfrm>
            <a:off x="3455772" y="11308071"/>
            <a:ext cx="14986382" cy="11803334"/>
          </a:xfrm>
          <a:prstGeom prst="rect">
            <a:avLst/>
          </a:prstGeom>
          <a:noFill/>
          <a:ln>
            <a:noFill/>
          </a:ln>
        </p:spPr>
        <p:txBody>
          <a:bodyPr spcFirstLastPara="1" wrap="square" lIns="91425" tIns="91425" rIns="91425" bIns="91425"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8"/>
          <p:cNvSpPr txBox="1">
            <a:spLocks noGrp="1"/>
          </p:cNvSpPr>
          <p:nvPr>
            <p:ph type="body" idx="1"/>
          </p:nvPr>
        </p:nvSpPr>
        <p:spPr>
          <a:xfrm>
            <a:off x="22591740" y="3850560"/>
            <a:ext cx="18264590" cy="329184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3600"/>
              </a:spcBef>
              <a:spcAft>
                <a:spcPts val="0"/>
              </a:spcAft>
              <a:buSzPts val="9504"/>
              <a:buNone/>
              <a:defRPr sz="8640" b="0" cap="none">
                <a:solidFill>
                  <a:schemeClr val="accent1"/>
                </a:solidFill>
              </a:defRPr>
            </a:lvl1pPr>
            <a:lvl2pPr marL="914400" lvl="1" indent="-228600" algn="l">
              <a:lnSpc>
                <a:spcPct val="120000"/>
              </a:lnSpc>
              <a:spcBef>
                <a:spcPts val="1800"/>
              </a:spcBef>
              <a:spcAft>
                <a:spcPts val="0"/>
              </a:spcAft>
              <a:buSzPts val="7920"/>
              <a:buNone/>
              <a:defRPr sz="7200" b="1"/>
            </a:lvl2pPr>
            <a:lvl3pPr marL="1371600" lvl="2" indent="-228600" algn="l">
              <a:lnSpc>
                <a:spcPct val="120000"/>
              </a:lnSpc>
              <a:spcBef>
                <a:spcPts val="1800"/>
              </a:spcBef>
              <a:spcAft>
                <a:spcPts val="0"/>
              </a:spcAft>
              <a:buSzPts val="7128"/>
              <a:buNone/>
              <a:defRPr sz="6480" b="1"/>
            </a:lvl3pPr>
            <a:lvl4pPr marL="1828800" lvl="3" indent="-228600" algn="l">
              <a:lnSpc>
                <a:spcPct val="120000"/>
              </a:lnSpc>
              <a:spcBef>
                <a:spcPts val="1800"/>
              </a:spcBef>
              <a:spcAft>
                <a:spcPts val="0"/>
              </a:spcAft>
              <a:buSzPts val="6336"/>
              <a:buNone/>
              <a:defRPr sz="5760" b="1"/>
            </a:lvl4pPr>
            <a:lvl5pPr marL="2286000" lvl="4" indent="-228600" algn="l">
              <a:lnSpc>
                <a:spcPct val="120000"/>
              </a:lnSpc>
              <a:spcBef>
                <a:spcPts val="1800"/>
              </a:spcBef>
              <a:spcAft>
                <a:spcPts val="0"/>
              </a:spcAft>
              <a:buSzPts val="6336"/>
              <a:buNone/>
              <a:defRPr sz="5760" b="1"/>
            </a:lvl5pPr>
            <a:lvl6pPr marL="2743200" lvl="5" indent="-228600" algn="l">
              <a:lnSpc>
                <a:spcPct val="120000"/>
              </a:lnSpc>
              <a:spcBef>
                <a:spcPts val="1800"/>
              </a:spcBef>
              <a:spcAft>
                <a:spcPts val="0"/>
              </a:spcAft>
              <a:buSzPts val="6336"/>
              <a:buNone/>
              <a:defRPr sz="5760" b="1"/>
            </a:lvl6pPr>
            <a:lvl7pPr marL="3200400" lvl="6" indent="-228600" algn="l">
              <a:lnSpc>
                <a:spcPct val="120000"/>
              </a:lnSpc>
              <a:spcBef>
                <a:spcPts val="1800"/>
              </a:spcBef>
              <a:spcAft>
                <a:spcPts val="0"/>
              </a:spcAft>
              <a:buSzPts val="6336"/>
              <a:buNone/>
              <a:defRPr sz="5760" b="1"/>
            </a:lvl7pPr>
            <a:lvl8pPr marL="3657600" lvl="7" indent="-228600" algn="l">
              <a:lnSpc>
                <a:spcPct val="120000"/>
              </a:lnSpc>
              <a:spcBef>
                <a:spcPts val="1800"/>
              </a:spcBef>
              <a:spcAft>
                <a:spcPts val="0"/>
              </a:spcAft>
              <a:buSzPts val="6336"/>
              <a:buNone/>
              <a:defRPr sz="5760" b="1"/>
            </a:lvl8pPr>
            <a:lvl9pPr marL="4114800" lvl="8" indent="-228600" algn="l">
              <a:lnSpc>
                <a:spcPct val="120000"/>
              </a:lnSpc>
              <a:spcBef>
                <a:spcPts val="1800"/>
              </a:spcBef>
              <a:spcAft>
                <a:spcPts val="0"/>
              </a:spcAft>
              <a:buSzPts val="6336"/>
              <a:buNone/>
              <a:defRPr sz="5760" b="1"/>
            </a:lvl9pPr>
          </a:lstStyle>
          <a:p>
            <a:endParaRPr/>
          </a:p>
        </p:txBody>
      </p:sp>
      <p:sp>
        <p:nvSpPr>
          <p:cNvPr id="165" name="Google Shape;165;p8"/>
          <p:cNvSpPr txBox="1">
            <a:spLocks noGrp="1"/>
          </p:cNvSpPr>
          <p:nvPr>
            <p:ph type="body" idx="2"/>
          </p:nvPr>
        </p:nvSpPr>
        <p:spPr>
          <a:xfrm>
            <a:off x="22591853" y="7142395"/>
            <a:ext cx="18262435" cy="8521786"/>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166" name="Google Shape;166;p8"/>
          <p:cNvSpPr txBox="1">
            <a:spLocks noGrp="1"/>
          </p:cNvSpPr>
          <p:nvPr>
            <p:ph type="body" idx="3"/>
          </p:nvPr>
        </p:nvSpPr>
        <p:spPr>
          <a:xfrm>
            <a:off x="22536050" y="17210486"/>
            <a:ext cx="18334440" cy="329184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3600"/>
              </a:spcBef>
              <a:spcAft>
                <a:spcPts val="0"/>
              </a:spcAft>
              <a:buSzPts val="9504"/>
              <a:buNone/>
              <a:defRPr sz="8640" b="0" cap="none">
                <a:solidFill>
                  <a:schemeClr val="accent1"/>
                </a:solidFill>
              </a:defRPr>
            </a:lvl1pPr>
            <a:lvl2pPr marL="914400" lvl="1" indent="-228600" algn="l">
              <a:lnSpc>
                <a:spcPct val="120000"/>
              </a:lnSpc>
              <a:spcBef>
                <a:spcPts val="1800"/>
              </a:spcBef>
              <a:spcAft>
                <a:spcPts val="0"/>
              </a:spcAft>
              <a:buSzPts val="7920"/>
              <a:buNone/>
              <a:defRPr sz="7200" b="1"/>
            </a:lvl2pPr>
            <a:lvl3pPr marL="1371600" lvl="2" indent="-228600" algn="l">
              <a:lnSpc>
                <a:spcPct val="120000"/>
              </a:lnSpc>
              <a:spcBef>
                <a:spcPts val="1800"/>
              </a:spcBef>
              <a:spcAft>
                <a:spcPts val="0"/>
              </a:spcAft>
              <a:buSzPts val="7128"/>
              <a:buNone/>
              <a:defRPr sz="6480" b="1"/>
            </a:lvl3pPr>
            <a:lvl4pPr marL="1828800" lvl="3" indent="-228600" algn="l">
              <a:lnSpc>
                <a:spcPct val="120000"/>
              </a:lnSpc>
              <a:spcBef>
                <a:spcPts val="1800"/>
              </a:spcBef>
              <a:spcAft>
                <a:spcPts val="0"/>
              </a:spcAft>
              <a:buSzPts val="6336"/>
              <a:buNone/>
              <a:defRPr sz="5760" b="1"/>
            </a:lvl4pPr>
            <a:lvl5pPr marL="2286000" lvl="4" indent="-228600" algn="l">
              <a:lnSpc>
                <a:spcPct val="120000"/>
              </a:lnSpc>
              <a:spcBef>
                <a:spcPts val="1800"/>
              </a:spcBef>
              <a:spcAft>
                <a:spcPts val="0"/>
              </a:spcAft>
              <a:buSzPts val="6336"/>
              <a:buNone/>
              <a:defRPr sz="5760" b="1"/>
            </a:lvl5pPr>
            <a:lvl6pPr marL="2743200" lvl="5" indent="-228600" algn="l">
              <a:lnSpc>
                <a:spcPct val="120000"/>
              </a:lnSpc>
              <a:spcBef>
                <a:spcPts val="1800"/>
              </a:spcBef>
              <a:spcAft>
                <a:spcPts val="0"/>
              </a:spcAft>
              <a:buSzPts val="6336"/>
              <a:buNone/>
              <a:defRPr sz="5760" b="1"/>
            </a:lvl6pPr>
            <a:lvl7pPr marL="3200400" lvl="6" indent="-228600" algn="l">
              <a:lnSpc>
                <a:spcPct val="120000"/>
              </a:lnSpc>
              <a:spcBef>
                <a:spcPts val="1800"/>
              </a:spcBef>
              <a:spcAft>
                <a:spcPts val="0"/>
              </a:spcAft>
              <a:buSzPts val="6336"/>
              <a:buNone/>
              <a:defRPr sz="5760" b="1"/>
            </a:lvl7pPr>
            <a:lvl8pPr marL="3657600" lvl="7" indent="-228600" algn="l">
              <a:lnSpc>
                <a:spcPct val="120000"/>
              </a:lnSpc>
              <a:spcBef>
                <a:spcPts val="1800"/>
              </a:spcBef>
              <a:spcAft>
                <a:spcPts val="0"/>
              </a:spcAft>
              <a:buSzPts val="6336"/>
              <a:buNone/>
              <a:defRPr sz="5760" b="1"/>
            </a:lvl8pPr>
            <a:lvl9pPr marL="4114800" lvl="8" indent="-228600" algn="l">
              <a:lnSpc>
                <a:spcPct val="120000"/>
              </a:lnSpc>
              <a:spcBef>
                <a:spcPts val="1800"/>
              </a:spcBef>
              <a:spcAft>
                <a:spcPts val="0"/>
              </a:spcAft>
              <a:buSzPts val="6336"/>
              <a:buNone/>
              <a:defRPr sz="5760" b="1"/>
            </a:lvl9pPr>
          </a:lstStyle>
          <a:p>
            <a:endParaRPr/>
          </a:p>
        </p:txBody>
      </p:sp>
      <p:sp>
        <p:nvSpPr>
          <p:cNvPr id="167" name="Google Shape;167;p8"/>
          <p:cNvSpPr txBox="1">
            <a:spLocks noGrp="1"/>
          </p:cNvSpPr>
          <p:nvPr>
            <p:ph type="body" idx="4"/>
          </p:nvPr>
        </p:nvSpPr>
        <p:spPr>
          <a:xfrm>
            <a:off x="22536050" y="20497594"/>
            <a:ext cx="18334440" cy="8569997"/>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168" name="Google Shape;168;p8"/>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8"/>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8"/>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1"/>
        <p:cNvGrpSpPr/>
        <p:nvPr/>
      </p:nvGrpSpPr>
      <p:grpSpPr>
        <a:xfrm>
          <a:off x="0" y="0"/>
          <a:ext cx="0" cy="0"/>
          <a:chOff x="0" y="0"/>
          <a:chExt cx="0" cy="0"/>
        </a:xfrm>
      </p:grpSpPr>
      <p:grpSp>
        <p:nvGrpSpPr>
          <p:cNvPr id="172" name="Google Shape;172;p9"/>
          <p:cNvGrpSpPr/>
          <p:nvPr/>
        </p:nvGrpSpPr>
        <p:grpSpPr>
          <a:xfrm>
            <a:off x="-1373882" y="2"/>
            <a:ext cx="45224443" cy="32918405"/>
            <a:chOff x="1243013" y="0"/>
            <a:chExt cx="9402763" cy="6858001"/>
          </a:xfrm>
        </p:grpSpPr>
        <p:sp>
          <p:nvSpPr>
            <p:cNvPr id="173" name="Google Shape;173;p9"/>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9"/>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9"/>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9"/>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9"/>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9"/>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9"/>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9"/>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9"/>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9"/>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9"/>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9"/>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9"/>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9"/>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9"/>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9"/>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9"/>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9"/>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9"/>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9"/>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3" name="Google Shape;193;p9"/>
          <p:cNvGrpSpPr/>
          <p:nvPr/>
        </p:nvGrpSpPr>
        <p:grpSpPr>
          <a:xfrm>
            <a:off x="3072384" y="8158029"/>
            <a:ext cx="15775450" cy="16658021"/>
            <a:chOff x="640080" y="1699589"/>
            <a:chExt cx="3286552" cy="3470421"/>
          </a:xfrm>
        </p:grpSpPr>
        <p:sp>
          <p:nvSpPr>
            <p:cNvPr id="194" name="Google Shape;194;p9"/>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9"/>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9"/>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7" name="Google Shape;197;p9"/>
          <p:cNvSpPr txBox="1">
            <a:spLocks noGrp="1"/>
          </p:cNvSpPr>
          <p:nvPr>
            <p:ph type="title"/>
          </p:nvPr>
        </p:nvSpPr>
        <p:spPr>
          <a:xfrm>
            <a:off x="3482661" y="11279635"/>
            <a:ext cx="14937826" cy="11831770"/>
          </a:xfrm>
          <a:prstGeom prst="rect">
            <a:avLst/>
          </a:prstGeom>
          <a:noFill/>
          <a:ln>
            <a:noFill/>
          </a:ln>
        </p:spPr>
        <p:txBody>
          <a:bodyPr spcFirstLastPara="1" wrap="square" lIns="228600" tIns="228600" rIns="228600" bIns="228600"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9"/>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9"/>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0" name="Google Shape;200;p9"/>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1"/>
        <p:cNvGrpSpPr/>
        <p:nvPr/>
      </p:nvGrpSpPr>
      <p:grpSpPr>
        <a:xfrm>
          <a:off x="0" y="0"/>
          <a:ext cx="0" cy="0"/>
          <a:chOff x="0" y="0"/>
          <a:chExt cx="0" cy="0"/>
        </a:xfrm>
      </p:grpSpPr>
      <p:grpSp>
        <p:nvGrpSpPr>
          <p:cNvPr id="202" name="Google Shape;202;p10"/>
          <p:cNvGrpSpPr/>
          <p:nvPr/>
        </p:nvGrpSpPr>
        <p:grpSpPr>
          <a:xfrm>
            <a:off x="-1373882" y="2"/>
            <a:ext cx="45224443" cy="32918405"/>
            <a:chOff x="1243013" y="0"/>
            <a:chExt cx="9402763" cy="6858001"/>
          </a:xfrm>
        </p:grpSpPr>
        <p:sp>
          <p:nvSpPr>
            <p:cNvPr id="203" name="Google Shape;203;p10"/>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10"/>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10"/>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10"/>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10"/>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10"/>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10"/>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10"/>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10"/>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10"/>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10"/>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10"/>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10"/>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10"/>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10"/>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10"/>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10"/>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10"/>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10"/>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10"/>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3" name="Google Shape;223;p10"/>
          <p:cNvGrpSpPr/>
          <p:nvPr/>
        </p:nvGrpSpPr>
        <p:grpSpPr>
          <a:xfrm>
            <a:off x="3072384" y="8158029"/>
            <a:ext cx="15775450" cy="16658021"/>
            <a:chOff x="640080" y="1699589"/>
            <a:chExt cx="3286552" cy="3470421"/>
          </a:xfrm>
        </p:grpSpPr>
        <p:sp>
          <p:nvSpPr>
            <p:cNvPr id="224" name="Google Shape;224;p10"/>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10"/>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10"/>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7" name="Google Shape;227;p10"/>
          <p:cNvSpPr txBox="1">
            <a:spLocks noGrp="1"/>
          </p:cNvSpPr>
          <p:nvPr>
            <p:ph type="title"/>
          </p:nvPr>
        </p:nvSpPr>
        <p:spPr>
          <a:xfrm>
            <a:off x="3482661" y="11279638"/>
            <a:ext cx="14937826" cy="5881915"/>
          </a:xfrm>
          <a:prstGeom prst="rect">
            <a:avLst/>
          </a:prstGeom>
          <a:noFill/>
          <a:ln>
            <a:noFill/>
          </a:ln>
        </p:spPr>
        <p:txBody>
          <a:bodyPr spcFirstLastPara="1" wrap="square" lIns="228600" tIns="228600" rIns="228600" bIns="0" anchor="b" anchorCtr="0">
            <a:noAutofit/>
          </a:bodyPr>
          <a:lstStyle>
            <a:lvl1pPr lvl="0" algn="ctr">
              <a:lnSpc>
                <a:spcPct val="85000"/>
              </a:lnSpc>
              <a:spcBef>
                <a:spcPts val="0"/>
              </a:spcBef>
              <a:spcAft>
                <a:spcPts val="0"/>
              </a:spcAft>
              <a:buClr>
                <a:srgbClr val="FFFEFF"/>
              </a:buClr>
              <a:buSzPts val="13440"/>
              <a:buFont typeface="Calibri"/>
              <a:buNone/>
              <a:defRPr sz="13439">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8" name="Google Shape;228;p10"/>
          <p:cNvSpPr txBox="1">
            <a:spLocks noGrp="1"/>
          </p:cNvSpPr>
          <p:nvPr>
            <p:ph type="body" idx="1"/>
          </p:nvPr>
        </p:nvSpPr>
        <p:spPr>
          <a:xfrm>
            <a:off x="21195295" y="3846674"/>
            <a:ext cx="19659086" cy="25197576"/>
          </a:xfrm>
          <a:prstGeom prst="rect">
            <a:avLst/>
          </a:prstGeom>
          <a:noFill/>
          <a:ln>
            <a:noFill/>
          </a:ln>
        </p:spPr>
        <p:txBody>
          <a:bodyPr spcFirstLastPara="1" wrap="square" lIns="91425" tIns="45700" rIns="91425" bIns="45700" anchor="ctr"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229" name="Google Shape;229;p10"/>
          <p:cNvSpPr txBox="1">
            <a:spLocks noGrp="1"/>
          </p:cNvSpPr>
          <p:nvPr>
            <p:ph type="body" idx="2"/>
          </p:nvPr>
        </p:nvSpPr>
        <p:spPr>
          <a:xfrm>
            <a:off x="3482661" y="17161555"/>
            <a:ext cx="14937826" cy="5949850"/>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600"/>
              </a:spcBef>
              <a:spcAft>
                <a:spcPts val="0"/>
              </a:spcAft>
              <a:buSzPts val="7392"/>
              <a:buNone/>
              <a:defRPr sz="6719">
                <a:solidFill>
                  <a:srgbClr val="FFFEFF"/>
                </a:solidFill>
              </a:defRPr>
            </a:lvl1pPr>
            <a:lvl2pPr marL="914400" lvl="1" indent="-228600" algn="l">
              <a:lnSpc>
                <a:spcPct val="120000"/>
              </a:lnSpc>
              <a:spcBef>
                <a:spcPts val="1800"/>
              </a:spcBef>
              <a:spcAft>
                <a:spcPts val="0"/>
              </a:spcAft>
              <a:buSzPts val="5544"/>
              <a:buNone/>
              <a:defRPr sz="5040"/>
            </a:lvl2pPr>
            <a:lvl3pPr marL="1371600" lvl="2" indent="-228600" algn="l">
              <a:lnSpc>
                <a:spcPct val="120000"/>
              </a:lnSpc>
              <a:spcBef>
                <a:spcPts val="1800"/>
              </a:spcBef>
              <a:spcAft>
                <a:spcPts val="0"/>
              </a:spcAft>
              <a:buSzPts val="4752"/>
              <a:buNone/>
              <a:defRPr sz="4320"/>
            </a:lvl3pPr>
            <a:lvl4pPr marL="1828800" lvl="3" indent="-228600" algn="l">
              <a:lnSpc>
                <a:spcPct val="120000"/>
              </a:lnSpc>
              <a:spcBef>
                <a:spcPts val="1800"/>
              </a:spcBef>
              <a:spcAft>
                <a:spcPts val="0"/>
              </a:spcAft>
              <a:buSzPts val="3960"/>
              <a:buNone/>
              <a:defRPr sz="3600"/>
            </a:lvl4pPr>
            <a:lvl5pPr marL="2286000" lvl="4" indent="-228600" algn="l">
              <a:lnSpc>
                <a:spcPct val="120000"/>
              </a:lnSpc>
              <a:spcBef>
                <a:spcPts val="1800"/>
              </a:spcBef>
              <a:spcAft>
                <a:spcPts val="0"/>
              </a:spcAft>
              <a:buSzPts val="3960"/>
              <a:buNone/>
              <a:defRPr sz="3600"/>
            </a:lvl5pPr>
            <a:lvl6pPr marL="2743200" lvl="5" indent="-228600" algn="l">
              <a:lnSpc>
                <a:spcPct val="120000"/>
              </a:lnSpc>
              <a:spcBef>
                <a:spcPts val="1800"/>
              </a:spcBef>
              <a:spcAft>
                <a:spcPts val="0"/>
              </a:spcAft>
              <a:buSzPts val="3960"/>
              <a:buNone/>
              <a:defRPr sz="3600"/>
            </a:lvl6pPr>
            <a:lvl7pPr marL="3200400" lvl="6" indent="-228600" algn="l">
              <a:lnSpc>
                <a:spcPct val="120000"/>
              </a:lnSpc>
              <a:spcBef>
                <a:spcPts val="1800"/>
              </a:spcBef>
              <a:spcAft>
                <a:spcPts val="0"/>
              </a:spcAft>
              <a:buSzPts val="3960"/>
              <a:buNone/>
              <a:defRPr sz="3600"/>
            </a:lvl7pPr>
            <a:lvl8pPr marL="3657600" lvl="7" indent="-228600" algn="l">
              <a:lnSpc>
                <a:spcPct val="120000"/>
              </a:lnSpc>
              <a:spcBef>
                <a:spcPts val="1800"/>
              </a:spcBef>
              <a:spcAft>
                <a:spcPts val="0"/>
              </a:spcAft>
              <a:buSzPts val="3960"/>
              <a:buNone/>
              <a:defRPr sz="3600"/>
            </a:lvl8pPr>
            <a:lvl9pPr marL="4114800" lvl="8" indent="-228600" algn="l">
              <a:lnSpc>
                <a:spcPct val="120000"/>
              </a:lnSpc>
              <a:spcBef>
                <a:spcPts val="1800"/>
              </a:spcBef>
              <a:spcAft>
                <a:spcPts val="0"/>
              </a:spcAft>
              <a:buSzPts val="3960"/>
              <a:buNone/>
              <a:defRPr sz="3600"/>
            </a:lvl9pPr>
          </a:lstStyle>
          <a:p>
            <a:endParaRPr/>
          </a:p>
        </p:txBody>
      </p:sp>
      <p:sp>
        <p:nvSpPr>
          <p:cNvPr id="230" name="Google Shape;230;p10"/>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1" name="Google Shape;231;p10"/>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2" name="Google Shape;232;p10"/>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33"/>
        <p:cNvGrpSpPr/>
        <p:nvPr/>
      </p:nvGrpSpPr>
      <p:grpSpPr>
        <a:xfrm>
          <a:off x="0" y="0"/>
          <a:ext cx="0" cy="0"/>
          <a:chOff x="0" y="0"/>
          <a:chExt cx="0" cy="0"/>
        </a:xfrm>
      </p:grpSpPr>
      <p:grpSp>
        <p:nvGrpSpPr>
          <p:cNvPr id="234" name="Google Shape;234;p11"/>
          <p:cNvGrpSpPr/>
          <p:nvPr/>
        </p:nvGrpSpPr>
        <p:grpSpPr>
          <a:xfrm>
            <a:off x="3" y="0"/>
            <a:ext cx="45864782" cy="32895542"/>
            <a:chOff x="1524000" y="0"/>
            <a:chExt cx="9555163" cy="6853238"/>
          </a:xfrm>
        </p:grpSpPr>
        <p:sp>
          <p:nvSpPr>
            <p:cNvPr id="235" name="Google Shape;235;p11"/>
            <p:cNvSpPr/>
            <p:nvPr/>
          </p:nvSpPr>
          <p:spPr>
            <a:xfrm>
              <a:off x="1524000" y="1331913"/>
              <a:ext cx="7837488" cy="5521325"/>
            </a:xfrm>
            <a:custGeom>
              <a:avLst/>
              <a:gdLst/>
              <a:ahLst/>
              <a:cxnLst/>
              <a:rect l="l" t="t" r="r" b="b"/>
              <a:pathLst>
                <a:path w="1648" h="1161" extrusionOk="0">
                  <a:moveTo>
                    <a:pt x="1362" y="1161"/>
                  </a:moveTo>
                  <a:cubicBezTo>
                    <a:pt x="1648" y="920"/>
                    <a:pt x="1283" y="505"/>
                    <a:pt x="1097" y="326"/>
                  </a:cubicBezTo>
                  <a:cubicBezTo>
                    <a:pt x="926" y="162"/>
                    <a:pt x="709" y="35"/>
                    <a:pt x="470" y="14"/>
                  </a:cubicBezTo>
                  <a:cubicBezTo>
                    <a:pt x="315" y="0"/>
                    <a:pt x="142" y="49"/>
                    <a:pt x="0" y="138"/>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11"/>
            <p:cNvSpPr/>
            <p:nvPr/>
          </p:nvSpPr>
          <p:spPr>
            <a:xfrm>
              <a:off x="1524000" y="5564188"/>
              <a:ext cx="1412875" cy="1284288"/>
            </a:xfrm>
            <a:custGeom>
              <a:avLst/>
              <a:gdLst/>
              <a:ahLst/>
              <a:cxnLst/>
              <a:rect l="l" t="t" r="r" b="b"/>
              <a:pathLst>
                <a:path w="297" h="270" extrusionOk="0">
                  <a:moveTo>
                    <a:pt x="0" y="0"/>
                  </a:moveTo>
                  <a:cubicBezTo>
                    <a:pt x="73" y="119"/>
                    <a:pt x="186" y="220"/>
                    <a:pt x="297" y="27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11"/>
            <p:cNvSpPr/>
            <p:nvPr/>
          </p:nvSpPr>
          <p:spPr>
            <a:xfrm>
              <a:off x="1524000" y="2030413"/>
              <a:ext cx="6510338" cy="4813300"/>
            </a:xfrm>
            <a:custGeom>
              <a:avLst/>
              <a:gdLst/>
              <a:ahLst/>
              <a:cxnLst/>
              <a:rect l="l" t="t" r="r" b="b"/>
              <a:pathLst>
                <a:path w="1369" h="1012" extrusionOk="0">
                  <a:moveTo>
                    <a:pt x="845" y="1012"/>
                  </a:moveTo>
                  <a:cubicBezTo>
                    <a:pt x="1043" y="967"/>
                    <a:pt x="1369" y="853"/>
                    <a:pt x="1263" y="588"/>
                  </a:cubicBezTo>
                  <a:cubicBezTo>
                    <a:pt x="1164" y="340"/>
                    <a:pt x="861" y="107"/>
                    <a:pt x="602" y="49"/>
                  </a:cubicBezTo>
                  <a:cubicBezTo>
                    <a:pt x="383" y="0"/>
                    <a:pt x="135" y="97"/>
                    <a:pt x="0" y="28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11"/>
            <p:cNvSpPr/>
            <p:nvPr/>
          </p:nvSpPr>
          <p:spPr>
            <a:xfrm>
              <a:off x="1528763" y="6207125"/>
              <a:ext cx="717550" cy="646113"/>
            </a:xfrm>
            <a:custGeom>
              <a:avLst/>
              <a:gdLst/>
              <a:ahLst/>
              <a:cxnLst/>
              <a:rect l="l" t="t" r="r" b="b"/>
              <a:pathLst>
                <a:path w="151" h="136" extrusionOk="0">
                  <a:moveTo>
                    <a:pt x="0" y="0"/>
                  </a:moveTo>
                  <a:cubicBezTo>
                    <a:pt x="45" y="52"/>
                    <a:pt x="97" y="99"/>
                    <a:pt x="151" y="136"/>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11"/>
            <p:cNvSpPr/>
            <p:nvPr/>
          </p:nvSpPr>
          <p:spPr>
            <a:xfrm>
              <a:off x="1524000" y="1806575"/>
              <a:ext cx="6753225" cy="5046663"/>
            </a:xfrm>
            <a:custGeom>
              <a:avLst/>
              <a:gdLst/>
              <a:ahLst/>
              <a:cxnLst/>
              <a:rect l="l" t="t" r="r" b="b"/>
              <a:pathLst>
                <a:path w="1420" h="1061" extrusionOk="0">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11"/>
            <p:cNvSpPr/>
            <p:nvPr/>
          </p:nvSpPr>
          <p:spPr>
            <a:xfrm>
              <a:off x="1524000" y="669925"/>
              <a:ext cx="8797925" cy="6183313"/>
            </a:xfrm>
            <a:custGeom>
              <a:avLst/>
              <a:gdLst/>
              <a:ahLst/>
              <a:cxnLst/>
              <a:rect l="l" t="t" r="r" b="b"/>
              <a:pathLst>
                <a:path w="1850" h="1300" extrusionOk="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11"/>
            <p:cNvSpPr/>
            <p:nvPr/>
          </p:nvSpPr>
          <p:spPr>
            <a:xfrm>
              <a:off x="1524000" y="119063"/>
              <a:ext cx="9555163" cy="6734175"/>
            </a:xfrm>
            <a:custGeom>
              <a:avLst/>
              <a:gdLst/>
              <a:ahLst/>
              <a:cxnLst/>
              <a:rect l="l" t="t" r="r" b="b"/>
              <a:pathLst>
                <a:path w="2009" h="1416" extrusionOk="0">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11"/>
            <p:cNvSpPr/>
            <p:nvPr/>
          </p:nvSpPr>
          <p:spPr>
            <a:xfrm>
              <a:off x="5419725" y="4763"/>
              <a:ext cx="5216525" cy="5368925"/>
            </a:xfrm>
            <a:custGeom>
              <a:avLst/>
              <a:gdLst/>
              <a:ahLst/>
              <a:cxnLst/>
              <a:rect l="l" t="t" r="r" b="b"/>
              <a:pathLst>
                <a:path w="1097" h="1129" extrusionOk="0">
                  <a:moveTo>
                    <a:pt x="1097" y="1129"/>
                  </a:moveTo>
                  <a:cubicBezTo>
                    <a:pt x="1031" y="909"/>
                    <a:pt x="843" y="701"/>
                    <a:pt x="709" y="551"/>
                  </a:cubicBezTo>
                  <a:cubicBezTo>
                    <a:pt x="509" y="327"/>
                    <a:pt x="274" y="127"/>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p11"/>
            <p:cNvSpPr/>
            <p:nvPr/>
          </p:nvSpPr>
          <p:spPr>
            <a:xfrm>
              <a:off x="5813425" y="4763"/>
              <a:ext cx="4832350" cy="4822825"/>
            </a:xfrm>
            <a:custGeom>
              <a:avLst/>
              <a:gdLst/>
              <a:ahLst/>
              <a:cxnLst/>
              <a:rect l="l" t="t" r="r" b="b"/>
              <a:pathLst>
                <a:path w="1016" h="1014" extrusionOk="0">
                  <a:moveTo>
                    <a:pt x="1016" y="1014"/>
                  </a:moveTo>
                  <a:cubicBezTo>
                    <a:pt x="934" y="849"/>
                    <a:pt x="802" y="697"/>
                    <a:pt x="698" y="577"/>
                  </a:cubicBezTo>
                  <a:cubicBezTo>
                    <a:pt x="500" y="348"/>
                    <a:pt x="270" y="141"/>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11"/>
            <p:cNvSpPr/>
            <p:nvPr/>
          </p:nvSpPr>
          <p:spPr>
            <a:xfrm>
              <a:off x="6003925" y="4763"/>
              <a:ext cx="4641850" cy="4598988"/>
            </a:xfrm>
            <a:custGeom>
              <a:avLst/>
              <a:gdLst/>
              <a:ahLst/>
              <a:cxnLst/>
              <a:rect l="l" t="t" r="r" b="b"/>
              <a:pathLst>
                <a:path w="976" h="967" extrusionOk="0">
                  <a:moveTo>
                    <a:pt x="976" y="967"/>
                  </a:moveTo>
                  <a:cubicBezTo>
                    <a:pt x="894" y="822"/>
                    <a:pt x="779" y="689"/>
                    <a:pt x="686" y="580"/>
                  </a:cubicBezTo>
                  <a:cubicBezTo>
                    <a:pt x="491" y="352"/>
                    <a:pt x="264" y="145"/>
                    <a:pt x="0" y="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11"/>
            <p:cNvSpPr/>
            <p:nvPr/>
          </p:nvSpPr>
          <p:spPr>
            <a:xfrm>
              <a:off x="6203950" y="0"/>
              <a:ext cx="4441825" cy="4237038"/>
            </a:xfrm>
            <a:custGeom>
              <a:avLst/>
              <a:gdLst/>
              <a:ahLst/>
              <a:cxnLst/>
              <a:rect l="l" t="t" r="r" b="b"/>
              <a:pathLst>
                <a:path w="934" h="891" extrusionOk="0">
                  <a:moveTo>
                    <a:pt x="934" y="891"/>
                  </a:moveTo>
                  <a:cubicBezTo>
                    <a:pt x="863" y="783"/>
                    <a:pt x="778" y="684"/>
                    <a:pt x="705" y="599"/>
                  </a:cubicBezTo>
                  <a:cubicBezTo>
                    <a:pt x="503" y="365"/>
                    <a:pt x="270" y="152"/>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11"/>
            <p:cNvSpPr/>
            <p:nvPr/>
          </p:nvSpPr>
          <p:spPr>
            <a:xfrm>
              <a:off x="6456363" y="4763"/>
              <a:ext cx="4179888" cy="3986213"/>
            </a:xfrm>
            <a:custGeom>
              <a:avLst/>
              <a:gdLst/>
              <a:ahLst/>
              <a:cxnLst/>
              <a:rect l="l" t="t" r="r" b="b"/>
              <a:pathLst>
                <a:path w="879" h="838" extrusionOk="0">
                  <a:moveTo>
                    <a:pt x="879" y="838"/>
                  </a:moveTo>
                  <a:cubicBezTo>
                    <a:pt x="821" y="755"/>
                    <a:pt x="756" y="679"/>
                    <a:pt x="698" y="611"/>
                  </a:cubicBezTo>
                  <a:cubicBezTo>
                    <a:pt x="498" y="375"/>
                    <a:pt x="268" y="15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11"/>
            <p:cNvSpPr/>
            <p:nvPr/>
          </p:nvSpPr>
          <p:spPr>
            <a:xfrm>
              <a:off x="6869113" y="4763"/>
              <a:ext cx="3776663" cy="3838575"/>
            </a:xfrm>
            <a:custGeom>
              <a:avLst/>
              <a:gdLst/>
              <a:ahLst/>
              <a:cxnLst/>
              <a:rect l="l" t="t" r="r" b="b"/>
              <a:pathLst>
                <a:path w="794" h="807" extrusionOk="0">
                  <a:moveTo>
                    <a:pt x="794" y="807"/>
                  </a:moveTo>
                  <a:cubicBezTo>
                    <a:pt x="745" y="739"/>
                    <a:pt x="695" y="676"/>
                    <a:pt x="648" y="617"/>
                  </a:cubicBezTo>
                  <a:cubicBezTo>
                    <a:pt x="462" y="383"/>
                    <a:pt x="248" y="1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11"/>
            <p:cNvSpPr/>
            <p:nvPr/>
          </p:nvSpPr>
          <p:spPr>
            <a:xfrm>
              <a:off x="8758238" y="4763"/>
              <a:ext cx="1887538" cy="1355725"/>
            </a:xfrm>
            <a:custGeom>
              <a:avLst/>
              <a:gdLst/>
              <a:ahLst/>
              <a:cxnLst/>
              <a:rect l="l" t="t" r="r" b="b"/>
              <a:pathLst>
                <a:path w="397" h="285" extrusionOk="0">
                  <a:moveTo>
                    <a:pt x="397" y="285"/>
                  </a:moveTo>
                  <a:cubicBezTo>
                    <a:pt x="270" y="182"/>
                    <a:pt x="138" y="86"/>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11"/>
            <p:cNvSpPr/>
            <p:nvPr/>
          </p:nvSpPr>
          <p:spPr>
            <a:xfrm>
              <a:off x="9223375" y="9525"/>
              <a:ext cx="1422400" cy="1108075"/>
            </a:xfrm>
            <a:custGeom>
              <a:avLst/>
              <a:gdLst/>
              <a:ahLst/>
              <a:cxnLst/>
              <a:rect l="l" t="t" r="r" b="b"/>
              <a:pathLst>
                <a:path w="299" h="233" extrusionOk="0">
                  <a:moveTo>
                    <a:pt x="299" y="233"/>
                  </a:moveTo>
                  <a:cubicBezTo>
                    <a:pt x="197" y="145"/>
                    <a:pt x="97" y="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11"/>
            <p:cNvSpPr/>
            <p:nvPr/>
          </p:nvSpPr>
          <p:spPr>
            <a:xfrm>
              <a:off x="10009188" y="4763"/>
              <a:ext cx="636588" cy="361950"/>
            </a:xfrm>
            <a:custGeom>
              <a:avLst/>
              <a:gdLst/>
              <a:ahLst/>
              <a:cxnLst/>
              <a:rect l="l" t="t" r="r" b="b"/>
              <a:pathLst>
                <a:path w="134" h="76" extrusionOk="0">
                  <a:moveTo>
                    <a:pt x="0" y="0"/>
                  </a:moveTo>
                  <a:cubicBezTo>
                    <a:pt x="45" y="25"/>
                    <a:pt x="89" y="50"/>
                    <a:pt x="134" y="76"/>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1" name="Google Shape;251;p11"/>
          <p:cNvGrpSpPr/>
          <p:nvPr/>
        </p:nvGrpSpPr>
        <p:grpSpPr>
          <a:xfrm>
            <a:off x="3093422" y="8151994"/>
            <a:ext cx="20917210" cy="16658016"/>
            <a:chOff x="644463" y="1698332"/>
            <a:chExt cx="4357752" cy="3470420"/>
          </a:xfrm>
        </p:grpSpPr>
        <p:sp>
          <p:nvSpPr>
            <p:cNvPr id="252" name="Google Shape;252;p11"/>
            <p:cNvSpPr/>
            <p:nvPr/>
          </p:nvSpPr>
          <p:spPr>
            <a:xfrm>
              <a:off x="644463" y="1698332"/>
              <a:ext cx="4357752"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11"/>
            <p:cNvSpPr/>
            <p:nvPr/>
          </p:nvSpPr>
          <p:spPr>
            <a:xfrm>
              <a:off x="644463" y="2274404"/>
              <a:ext cx="43577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11"/>
            <p:cNvSpPr/>
            <p:nvPr/>
          </p:nvSpPr>
          <p:spPr>
            <a:xfrm rot="10800000">
              <a:off x="2665346" y="4896349"/>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5" name="Google Shape;255;p11"/>
          <p:cNvSpPr>
            <a:spLocks noGrp="1"/>
          </p:cNvSpPr>
          <p:nvPr>
            <p:ph type="pic" idx="2"/>
          </p:nvPr>
        </p:nvSpPr>
        <p:spPr>
          <a:xfrm>
            <a:off x="27142445" y="0"/>
            <a:ext cx="16748755" cy="32918400"/>
          </a:xfrm>
          <a:prstGeom prst="rect">
            <a:avLst/>
          </a:prstGeom>
          <a:solidFill>
            <a:srgbClr val="FEFEFE"/>
          </a:solidFill>
          <a:ln>
            <a:noFill/>
          </a:ln>
        </p:spPr>
      </p:sp>
      <p:sp>
        <p:nvSpPr>
          <p:cNvPr id="256" name="Google Shape;256;p11"/>
          <p:cNvSpPr txBox="1">
            <a:spLocks noGrp="1"/>
          </p:cNvSpPr>
          <p:nvPr>
            <p:ph type="title"/>
          </p:nvPr>
        </p:nvSpPr>
        <p:spPr>
          <a:xfrm>
            <a:off x="3473208" y="11214732"/>
            <a:ext cx="20148797" cy="6074587"/>
          </a:xfrm>
          <a:prstGeom prst="rect">
            <a:avLst/>
          </a:prstGeom>
          <a:noFill/>
          <a:ln>
            <a:noFill/>
          </a:ln>
        </p:spPr>
        <p:txBody>
          <a:bodyPr spcFirstLastPara="1" wrap="square" lIns="228600" tIns="228600" rIns="228600" bIns="0" anchor="b" anchorCtr="0">
            <a:normAutofit/>
          </a:bodyPr>
          <a:lstStyle>
            <a:lvl1pPr lvl="0" algn="ctr">
              <a:lnSpc>
                <a:spcPct val="85000"/>
              </a:lnSpc>
              <a:spcBef>
                <a:spcPts val="0"/>
              </a:spcBef>
              <a:spcAft>
                <a:spcPts val="0"/>
              </a:spcAft>
              <a:buClr>
                <a:srgbClr val="FFFEFF"/>
              </a:buClr>
              <a:buSzPts val="15360"/>
              <a:buFont typeface="Calibri"/>
              <a:buNone/>
              <a:defRPr sz="15360">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7" name="Google Shape;257;p11"/>
          <p:cNvSpPr txBox="1">
            <a:spLocks noGrp="1"/>
          </p:cNvSpPr>
          <p:nvPr>
            <p:ph type="body" idx="1"/>
          </p:nvPr>
        </p:nvSpPr>
        <p:spPr>
          <a:xfrm>
            <a:off x="3467107" y="17289319"/>
            <a:ext cx="20156419" cy="5829768"/>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600"/>
              </a:spcBef>
              <a:spcAft>
                <a:spcPts val="0"/>
              </a:spcAft>
              <a:buSzPts val="7392"/>
              <a:buNone/>
              <a:defRPr sz="6719">
                <a:solidFill>
                  <a:srgbClr val="FFFEFF"/>
                </a:solidFill>
              </a:defRPr>
            </a:lvl1pPr>
            <a:lvl2pPr marL="914400" lvl="1" indent="-228600" algn="l">
              <a:lnSpc>
                <a:spcPct val="120000"/>
              </a:lnSpc>
              <a:spcBef>
                <a:spcPts val="1800"/>
              </a:spcBef>
              <a:spcAft>
                <a:spcPts val="0"/>
              </a:spcAft>
              <a:buSzPts val="5544"/>
              <a:buNone/>
              <a:defRPr sz="5040"/>
            </a:lvl2pPr>
            <a:lvl3pPr marL="1371600" lvl="2" indent="-228600" algn="l">
              <a:lnSpc>
                <a:spcPct val="120000"/>
              </a:lnSpc>
              <a:spcBef>
                <a:spcPts val="1800"/>
              </a:spcBef>
              <a:spcAft>
                <a:spcPts val="0"/>
              </a:spcAft>
              <a:buSzPts val="4752"/>
              <a:buNone/>
              <a:defRPr sz="4320"/>
            </a:lvl3pPr>
            <a:lvl4pPr marL="1828800" lvl="3" indent="-228600" algn="l">
              <a:lnSpc>
                <a:spcPct val="120000"/>
              </a:lnSpc>
              <a:spcBef>
                <a:spcPts val="1800"/>
              </a:spcBef>
              <a:spcAft>
                <a:spcPts val="0"/>
              </a:spcAft>
              <a:buSzPts val="3960"/>
              <a:buNone/>
              <a:defRPr sz="3600"/>
            </a:lvl4pPr>
            <a:lvl5pPr marL="2286000" lvl="4" indent="-228600" algn="l">
              <a:lnSpc>
                <a:spcPct val="120000"/>
              </a:lnSpc>
              <a:spcBef>
                <a:spcPts val="1800"/>
              </a:spcBef>
              <a:spcAft>
                <a:spcPts val="0"/>
              </a:spcAft>
              <a:buSzPts val="3960"/>
              <a:buNone/>
              <a:defRPr sz="3600"/>
            </a:lvl5pPr>
            <a:lvl6pPr marL="2743200" lvl="5" indent="-228600" algn="l">
              <a:lnSpc>
                <a:spcPct val="120000"/>
              </a:lnSpc>
              <a:spcBef>
                <a:spcPts val="1800"/>
              </a:spcBef>
              <a:spcAft>
                <a:spcPts val="0"/>
              </a:spcAft>
              <a:buSzPts val="3960"/>
              <a:buNone/>
              <a:defRPr sz="3600"/>
            </a:lvl6pPr>
            <a:lvl7pPr marL="3200400" lvl="6" indent="-228600" algn="l">
              <a:lnSpc>
                <a:spcPct val="120000"/>
              </a:lnSpc>
              <a:spcBef>
                <a:spcPts val="1800"/>
              </a:spcBef>
              <a:spcAft>
                <a:spcPts val="0"/>
              </a:spcAft>
              <a:buSzPts val="3960"/>
              <a:buNone/>
              <a:defRPr sz="3600"/>
            </a:lvl7pPr>
            <a:lvl8pPr marL="3657600" lvl="7" indent="-228600" algn="l">
              <a:lnSpc>
                <a:spcPct val="120000"/>
              </a:lnSpc>
              <a:spcBef>
                <a:spcPts val="1800"/>
              </a:spcBef>
              <a:spcAft>
                <a:spcPts val="0"/>
              </a:spcAft>
              <a:buSzPts val="3960"/>
              <a:buNone/>
              <a:defRPr sz="3600"/>
            </a:lvl8pPr>
            <a:lvl9pPr marL="4114800" lvl="8" indent="-228600" algn="l">
              <a:lnSpc>
                <a:spcPct val="120000"/>
              </a:lnSpc>
              <a:spcBef>
                <a:spcPts val="1800"/>
              </a:spcBef>
              <a:spcAft>
                <a:spcPts val="0"/>
              </a:spcAft>
              <a:buSzPts val="3960"/>
              <a:buNone/>
              <a:defRPr sz="3600"/>
            </a:lvl9pPr>
          </a:lstStyle>
          <a:p>
            <a:endParaRPr/>
          </a:p>
        </p:txBody>
      </p:sp>
      <p:sp>
        <p:nvSpPr>
          <p:cNvPr id="258" name="Google Shape;258;p11"/>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9" name="Google Shape;259;p11"/>
          <p:cNvSpPr txBox="1">
            <a:spLocks noGrp="1"/>
          </p:cNvSpPr>
          <p:nvPr>
            <p:ph type="ftr" idx="11"/>
          </p:nvPr>
        </p:nvSpPr>
        <p:spPr>
          <a:xfrm>
            <a:off x="3072386" y="29889907"/>
            <a:ext cx="20921477"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0" name="Google Shape;260;p11"/>
          <p:cNvSpPr txBox="1">
            <a:spLocks noGrp="1"/>
          </p:cNvSpPr>
          <p:nvPr>
            <p:ph type="sldNum" idx="12"/>
          </p:nvPr>
        </p:nvSpPr>
        <p:spPr>
          <a:xfrm>
            <a:off x="20714222"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61"/>
        <p:cNvGrpSpPr/>
        <p:nvPr/>
      </p:nvGrpSpPr>
      <p:grpSpPr>
        <a:xfrm>
          <a:off x="0" y="0"/>
          <a:ext cx="0" cy="0"/>
          <a:chOff x="0" y="0"/>
          <a:chExt cx="0" cy="0"/>
        </a:xfrm>
      </p:grpSpPr>
      <p:grpSp>
        <p:nvGrpSpPr>
          <p:cNvPr id="262" name="Google Shape;262;p12"/>
          <p:cNvGrpSpPr/>
          <p:nvPr/>
        </p:nvGrpSpPr>
        <p:grpSpPr>
          <a:xfrm>
            <a:off x="-1373882" y="2"/>
            <a:ext cx="45224443" cy="32918405"/>
            <a:chOff x="1243013" y="0"/>
            <a:chExt cx="9402763" cy="6858001"/>
          </a:xfrm>
        </p:grpSpPr>
        <p:sp>
          <p:nvSpPr>
            <p:cNvPr id="263" name="Google Shape;263;p12"/>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12"/>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12"/>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12"/>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12"/>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12"/>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12"/>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12"/>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12"/>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12"/>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12"/>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12"/>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12"/>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p12"/>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12"/>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12"/>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p12"/>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12"/>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12"/>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12"/>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83" name="Google Shape;283;p12"/>
          <p:cNvGrpSpPr/>
          <p:nvPr/>
        </p:nvGrpSpPr>
        <p:grpSpPr>
          <a:xfrm>
            <a:off x="3072384" y="8158029"/>
            <a:ext cx="15775450" cy="16658021"/>
            <a:chOff x="640080" y="1699589"/>
            <a:chExt cx="3286552" cy="3470421"/>
          </a:xfrm>
        </p:grpSpPr>
        <p:sp>
          <p:nvSpPr>
            <p:cNvPr id="284" name="Google Shape;284;p12"/>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12"/>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12"/>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7" name="Google Shape;287;p12"/>
          <p:cNvSpPr txBox="1">
            <a:spLocks noGrp="1"/>
          </p:cNvSpPr>
          <p:nvPr>
            <p:ph type="title"/>
          </p:nvPr>
        </p:nvSpPr>
        <p:spPr>
          <a:xfrm>
            <a:off x="3474175" y="11279645"/>
            <a:ext cx="14946312" cy="11869315"/>
          </a:xfrm>
          <a:prstGeom prst="rect">
            <a:avLst/>
          </a:prstGeom>
          <a:noFill/>
          <a:ln>
            <a:noFill/>
          </a:ln>
        </p:spPr>
        <p:txBody>
          <a:bodyPr spcFirstLastPara="1" wrap="square" lIns="228600" tIns="228600" rIns="228600" bIns="228600"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8" name="Google Shape;288;p12"/>
          <p:cNvSpPr txBox="1">
            <a:spLocks noGrp="1"/>
          </p:cNvSpPr>
          <p:nvPr>
            <p:ph type="body" idx="1"/>
          </p:nvPr>
        </p:nvSpPr>
        <p:spPr>
          <a:xfrm rot="5400000">
            <a:off x="18407822" y="6602124"/>
            <a:ext cx="25234032" cy="19659086"/>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289" name="Google Shape;289;p12"/>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12"/>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12"/>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92"/>
        <p:cNvGrpSpPr/>
        <p:nvPr/>
      </p:nvGrpSpPr>
      <p:grpSpPr>
        <a:xfrm>
          <a:off x="0" y="0"/>
          <a:ext cx="0" cy="0"/>
          <a:chOff x="0" y="0"/>
          <a:chExt cx="0" cy="0"/>
        </a:xfrm>
      </p:grpSpPr>
      <p:grpSp>
        <p:nvGrpSpPr>
          <p:cNvPr id="293" name="Google Shape;293;p13"/>
          <p:cNvGrpSpPr/>
          <p:nvPr/>
        </p:nvGrpSpPr>
        <p:grpSpPr>
          <a:xfrm flipH="1">
            <a:off x="3" y="2"/>
            <a:ext cx="45224443" cy="32918405"/>
            <a:chOff x="1243013" y="0"/>
            <a:chExt cx="9402763" cy="6858001"/>
          </a:xfrm>
        </p:grpSpPr>
        <p:sp>
          <p:nvSpPr>
            <p:cNvPr id="294" name="Google Shape;294;p13"/>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13"/>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13"/>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13"/>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13"/>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13"/>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13"/>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13"/>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13"/>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13"/>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3"/>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13"/>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13"/>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13"/>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13"/>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13"/>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13"/>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13"/>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13"/>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13"/>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14" name="Google Shape;314;p13"/>
          <p:cNvGrpSpPr/>
          <p:nvPr/>
        </p:nvGrpSpPr>
        <p:grpSpPr>
          <a:xfrm>
            <a:off x="25095043" y="8158029"/>
            <a:ext cx="15775450" cy="16658021"/>
            <a:chOff x="640080" y="1699589"/>
            <a:chExt cx="3286552" cy="3470421"/>
          </a:xfrm>
        </p:grpSpPr>
        <p:sp>
          <p:nvSpPr>
            <p:cNvPr id="315" name="Google Shape;315;p13"/>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13"/>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13"/>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18" name="Google Shape;318;p13"/>
          <p:cNvSpPr txBox="1">
            <a:spLocks noGrp="1"/>
          </p:cNvSpPr>
          <p:nvPr>
            <p:ph type="title"/>
          </p:nvPr>
        </p:nvSpPr>
        <p:spPr>
          <a:xfrm rot="5400000">
            <a:off x="27058356" y="9726608"/>
            <a:ext cx="11831765" cy="14937826"/>
          </a:xfrm>
          <a:prstGeom prst="rect">
            <a:avLst/>
          </a:prstGeom>
          <a:noFill/>
          <a:ln>
            <a:noFill/>
          </a:ln>
        </p:spPr>
        <p:txBody>
          <a:bodyPr spcFirstLastPara="1" wrap="square" lIns="228600" tIns="228600" rIns="228600" bIns="228600" anchor="ctr" anchorCtr="0">
            <a:normAutofit/>
          </a:bodyPr>
          <a:lstStyle>
            <a:lvl1pPr lvl="0" algn="l">
              <a:lnSpc>
                <a:spcPct val="80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9" name="Google Shape;319;p13"/>
          <p:cNvSpPr txBox="1">
            <a:spLocks noGrp="1"/>
          </p:cNvSpPr>
          <p:nvPr>
            <p:ph type="body" idx="1"/>
          </p:nvPr>
        </p:nvSpPr>
        <p:spPr>
          <a:xfrm rot="5400000">
            <a:off x="360014" y="6581105"/>
            <a:ext cx="25223050" cy="19767797"/>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320" name="Google Shape;320;p13"/>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1" name="Google Shape;321;p13"/>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2" name="Google Shape;322;p13"/>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23"/>
        <p:cNvGrpSpPr/>
        <p:nvPr/>
      </p:nvGrpSpPr>
      <p:grpSpPr>
        <a:xfrm>
          <a:off x="0" y="0"/>
          <a:ext cx="0" cy="0"/>
          <a:chOff x="0" y="0"/>
          <a:chExt cx="0" cy="0"/>
        </a:xfrm>
      </p:grpSpPr>
      <p:sp>
        <p:nvSpPr>
          <p:cNvPr id="324" name="Google Shape;324;p14"/>
          <p:cNvSpPr txBox="1">
            <a:spLocks noGrp="1"/>
          </p:cNvSpPr>
          <p:nvPr>
            <p:ph type="title"/>
          </p:nvPr>
        </p:nvSpPr>
        <p:spPr>
          <a:xfrm>
            <a:off x="2193925" y="1317625"/>
            <a:ext cx="39503350" cy="5486400"/>
          </a:xfrm>
          <a:prstGeom prst="rect">
            <a:avLst/>
          </a:prstGeom>
          <a:noFill/>
          <a:ln>
            <a:noFill/>
          </a:ln>
        </p:spPr>
        <p:txBody>
          <a:bodyPr spcFirstLastPara="1" wrap="square" lIns="228600" tIns="228600" rIns="228600" bIns="228600" anchor="ctr" anchorCtr="0">
            <a:normAutofit/>
          </a:bodyPr>
          <a:lstStyle>
            <a:lvl1pPr lvl="0" algn="ctr">
              <a:lnSpc>
                <a:spcPct val="85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5" name="Google Shape;325;p14"/>
          <p:cNvSpPr txBox="1">
            <a:spLocks noGrp="1"/>
          </p:cNvSpPr>
          <p:nvPr>
            <p:ph type="body" idx="1"/>
          </p:nvPr>
        </p:nvSpPr>
        <p:spPr>
          <a:xfrm>
            <a:off x="0" y="0"/>
            <a:ext cx="43891200" cy="32918400"/>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326" name="Google Shape;326;p14"/>
          <p:cNvSpPr txBox="1">
            <a:spLocks noGrp="1"/>
          </p:cNvSpPr>
          <p:nvPr>
            <p:ph type="body" idx="2"/>
          </p:nvPr>
        </p:nvSpPr>
        <p:spPr>
          <a:xfrm>
            <a:off x="0" y="2"/>
            <a:ext cx="43891200" cy="33299400"/>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482661" y="11279640"/>
            <a:ext cx="14937826" cy="11831770"/>
          </a:xfrm>
          <a:prstGeom prst="rect">
            <a:avLst/>
          </a:prstGeom>
          <a:noFill/>
          <a:ln>
            <a:noFill/>
          </a:ln>
        </p:spPr>
        <p:txBody>
          <a:bodyPr spcFirstLastPara="1" wrap="square" lIns="228600" tIns="228600" rIns="228600" bIns="228600" anchor="ctr" anchorCtr="0">
            <a:normAutofit/>
          </a:bodyPr>
          <a:lstStyle>
            <a:lvl1pPr marR="0" lvl="0" algn="ctr" rtl="0">
              <a:lnSpc>
                <a:spcPct val="85000"/>
              </a:lnSpc>
              <a:spcBef>
                <a:spcPts val="0"/>
              </a:spcBef>
              <a:spcAft>
                <a:spcPts val="0"/>
              </a:spcAft>
              <a:buClr>
                <a:schemeClr val="dk1"/>
              </a:buClr>
              <a:buSzPts val="15360"/>
              <a:buFont typeface="Calibri"/>
              <a:buNone/>
              <a:defRPr sz="1536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1195300" y="3814651"/>
            <a:ext cx="19579627" cy="25234032"/>
          </a:xfrm>
          <a:prstGeom prst="rect">
            <a:avLst/>
          </a:prstGeom>
          <a:noFill/>
          <a:ln>
            <a:noFill/>
          </a:ln>
        </p:spPr>
        <p:txBody>
          <a:bodyPr spcFirstLastPara="1" wrap="square" lIns="91425" tIns="45700" rIns="91425" bIns="45700" anchor="t" anchorCtr="0">
            <a:normAutofit/>
          </a:bodyPr>
          <a:lstStyle>
            <a:lvl1pPr marL="457200" marR="0" lvl="0" indent="-765048" algn="l" rtl="0">
              <a:lnSpc>
                <a:spcPct val="120000"/>
              </a:lnSpc>
              <a:spcBef>
                <a:spcPts val="3600"/>
              </a:spcBef>
              <a:spcAft>
                <a:spcPts val="0"/>
              </a:spcAft>
              <a:buClr>
                <a:schemeClr val="accent1"/>
              </a:buClr>
              <a:buSzPts val="8448"/>
              <a:buFont typeface="Noto Sans Symbols"/>
              <a:buChar char="▪"/>
              <a:defRPr sz="7680" b="0" i="0" u="none" strike="noStrike" cap="none">
                <a:solidFill>
                  <a:schemeClr val="dk1"/>
                </a:solidFill>
                <a:latin typeface="Rockwell"/>
                <a:ea typeface="Rockwell"/>
                <a:cs typeface="Rockwell"/>
                <a:sym typeface="Rockwell"/>
              </a:defRPr>
            </a:lvl1pPr>
            <a:lvl2pPr marL="914400" marR="0" lvl="1" indent="-697992" algn="l" rtl="0">
              <a:lnSpc>
                <a:spcPct val="120000"/>
              </a:lnSpc>
              <a:spcBef>
                <a:spcPts val="1800"/>
              </a:spcBef>
              <a:spcAft>
                <a:spcPts val="0"/>
              </a:spcAft>
              <a:buClr>
                <a:schemeClr val="accent1"/>
              </a:buClr>
              <a:buSzPts val="7392"/>
              <a:buFont typeface="Noto Sans Symbols"/>
              <a:buChar char="▪"/>
              <a:defRPr sz="6719" b="0" i="0" u="none" strike="noStrike" cap="none">
                <a:solidFill>
                  <a:schemeClr val="dk1"/>
                </a:solidFill>
                <a:latin typeface="Rockwell"/>
                <a:ea typeface="Rockwell"/>
                <a:cs typeface="Rockwell"/>
                <a:sym typeface="Rockwell"/>
              </a:defRPr>
            </a:lvl2pPr>
            <a:lvl3pPr marL="1371600" marR="0" lvl="2" indent="-630936" algn="l" rtl="0">
              <a:lnSpc>
                <a:spcPct val="120000"/>
              </a:lnSpc>
              <a:spcBef>
                <a:spcPts val="1800"/>
              </a:spcBef>
              <a:spcAft>
                <a:spcPts val="0"/>
              </a:spcAft>
              <a:buClr>
                <a:schemeClr val="accent1"/>
              </a:buClr>
              <a:buSzPts val="6336"/>
              <a:buFont typeface="Noto Sans Symbols"/>
              <a:buChar char="▪"/>
              <a:defRPr sz="5760" b="0" i="0" u="none" strike="noStrike" cap="none">
                <a:solidFill>
                  <a:schemeClr val="dk1"/>
                </a:solidFill>
                <a:latin typeface="Rockwell"/>
                <a:ea typeface="Rockwell"/>
                <a:cs typeface="Rockwell"/>
                <a:sym typeface="Rockwell"/>
              </a:defRPr>
            </a:lvl3pPr>
            <a:lvl4pPr marL="1828800" marR="0" lvl="3" indent="-630936" algn="l" rtl="0">
              <a:lnSpc>
                <a:spcPct val="120000"/>
              </a:lnSpc>
              <a:spcBef>
                <a:spcPts val="1800"/>
              </a:spcBef>
              <a:spcAft>
                <a:spcPts val="0"/>
              </a:spcAft>
              <a:buClr>
                <a:schemeClr val="accent1"/>
              </a:buClr>
              <a:buSzPts val="6336"/>
              <a:buFont typeface="Noto Sans Symbols"/>
              <a:buChar char="▪"/>
              <a:defRPr sz="5760" b="0" i="0" u="none" strike="noStrike" cap="none">
                <a:solidFill>
                  <a:schemeClr val="dk1"/>
                </a:solidFill>
                <a:latin typeface="Rockwell"/>
                <a:ea typeface="Rockwell"/>
                <a:cs typeface="Rockwell"/>
                <a:sym typeface="Rockwell"/>
              </a:defRPr>
            </a:lvl4pPr>
            <a:lvl5pPr marL="2286000" marR="0" lvl="4" indent="-630935" algn="l" rtl="0">
              <a:lnSpc>
                <a:spcPct val="120000"/>
              </a:lnSpc>
              <a:spcBef>
                <a:spcPts val="1800"/>
              </a:spcBef>
              <a:spcAft>
                <a:spcPts val="0"/>
              </a:spcAft>
              <a:buClr>
                <a:schemeClr val="accent1"/>
              </a:buClr>
              <a:buSzPts val="6336"/>
              <a:buFont typeface="Noto Sans Symbols"/>
              <a:buChar char="▪"/>
              <a:defRPr sz="5760" b="0" i="0" u="none" strike="noStrike" cap="none">
                <a:solidFill>
                  <a:schemeClr val="dk1"/>
                </a:solidFill>
                <a:latin typeface="Rockwell"/>
                <a:ea typeface="Rockwell"/>
                <a:cs typeface="Rockwell"/>
                <a:sym typeface="Rockwell"/>
              </a:defRPr>
            </a:lvl5pPr>
            <a:lvl6pPr marL="2743200" marR="0" lvl="5" indent="-530351" algn="l" rtl="0">
              <a:lnSpc>
                <a:spcPct val="120000"/>
              </a:lnSpc>
              <a:spcBef>
                <a:spcPts val="1800"/>
              </a:spcBef>
              <a:spcAft>
                <a:spcPts val="0"/>
              </a:spcAft>
              <a:buClr>
                <a:schemeClr val="accent1"/>
              </a:buClr>
              <a:buSzPts val="4752"/>
              <a:buFont typeface="Noto Sans Symbols"/>
              <a:buChar char="▪"/>
              <a:defRPr sz="4320" b="0" i="0" u="none" strike="noStrike" cap="none">
                <a:solidFill>
                  <a:schemeClr val="dk1"/>
                </a:solidFill>
                <a:latin typeface="Rockwell"/>
                <a:ea typeface="Rockwell"/>
                <a:cs typeface="Rockwell"/>
                <a:sym typeface="Rockwell"/>
              </a:defRPr>
            </a:lvl6pPr>
            <a:lvl7pPr marL="3200400" marR="0" lvl="6" indent="-530351" algn="l" rtl="0">
              <a:lnSpc>
                <a:spcPct val="120000"/>
              </a:lnSpc>
              <a:spcBef>
                <a:spcPts val="1800"/>
              </a:spcBef>
              <a:spcAft>
                <a:spcPts val="0"/>
              </a:spcAft>
              <a:buClr>
                <a:schemeClr val="accent1"/>
              </a:buClr>
              <a:buSzPts val="4752"/>
              <a:buFont typeface="Noto Sans Symbols"/>
              <a:buChar char="▪"/>
              <a:defRPr sz="4320" b="0" i="0" u="none" strike="noStrike" cap="none">
                <a:solidFill>
                  <a:schemeClr val="dk1"/>
                </a:solidFill>
                <a:latin typeface="Rockwell"/>
                <a:ea typeface="Rockwell"/>
                <a:cs typeface="Rockwell"/>
                <a:sym typeface="Rockwell"/>
              </a:defRPr>
            </a:lvl7pPr>
            <a:lvl8pPr marL="3657600" marR="0" lvl="7" indent="-530351" algn="l" rtl="0">
              <a:lnSpc>
                <a:spcPct val="120000"/>
              </a:lnSpc>
              <a:spcBef>
                <a:spcPts val="1800"/>
              </a:spcBef>
              <a:spcAft>
                <a:spcPts val="0"/>
              </a:spcAft>
              <a:buClr>
                <a:schemeClr val="accent1"/>
              </a:buClr>
              <a:buSzPts val="4752"/>
              <a:buFont typeface="Noto Sans Symbols"/>
              <a:buChar char="▪"/>
              <a:defRPr sz="4320" b="0" i="0" u="none" strike="noStrike" cap="none">
                <a:solidFill>
                  <a:schemeClr val="dk1"/>
                </a:solidFill>
                <a:latin typeface="Rockwell"/>
                <a:ea typeface="Rockwell"/>
                <a:cs typeface="Rockwell"/>
                <a:sym typeface="Rockwell"/>
              </a:defRPr>
            </a:lvl8pPr>
            <a:lvl9pPr marL="4114800" marR="0" lvl="8" indent="-530352" algn="l" rtl="0">
              <a:lnSpc>
                <a:spcPct val="120000"/>
              </a:lnSpc>
              <a:spcBef>
                <a:spcPts val="1800"/>
              </a:spcBef>
              <a:spcAft>
                <a:spcPts val="0"/>
              </a:spcAft>
              <a:buClr>
                <a:schemeClr val="accent1"/>
              </a:buClr>
              <a:buSzPts val="4752"/>
              <a:buFont typeface="Noto Sans Symbols"/>
              <a:buChar char="▪"/>
              <a:defRPr sz="4320" b="0" i="0" u="none" strike="noStrike" cap="none">
                <a:solidFill>
                  <a:schemeClr val="dk1"/>
                </a:solidFill>
                <a:latin typeface="Rockwell"/>
                <a:ea typeface="Rockwell"/>
                <a:cs typeface="Rockwell"/>
                <a:sym typeface="Rockwell"/>
              </a:defRPr>
            </a:lvl9pPr>
          </a:lstStyle>
          <a:p>
            <a:endParaRPr/>
          </a:p>
        </p:txBody>
      </p:sp>
      <p:sp>
        <p:nvSpPr>
          <p:cNvPr id="12" name="Google Shape;12;p2"/>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800" b="0" i="0" u="none" strike="noStrike" cap="none">
                <a:solidFill>
                  <a:srgbClr val="888888"/>
                </a:solidFill>
                <a:latin typeface="Rockwell"/>
                <a:ea typeface="Rockwell"/>
                <a:cs typeface="Rockwell"/>
                <a:sym typeface="Rockwel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9pPr>
          </a:lstStyle>
          <a:p>
            <a:endParaRPr/>
          </a:p>
        </p:txBody>
      </p:sp>
      <p:sp>
        <p:nvSpPr>
          <p:cNvPr id="13" name="Google Shape;13;p2"/>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4800" b="0" i="0" u="none" strike="noStrike" cap="none">
                <a:solidFill>
                  <a:srgbClr val="888888"/>
                </a:solidFill>
                <a:latin typeface="Rockwell"/>
                <a:ea typeface="Rockwell"/>
                <a:cs typeface="Rockwell"/>
                <a:sym typeface="Rockwel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9pPr>
          </a:lstStyle>
          <a:p>
            <a:endParaRPr/>
          </a:p>
        </p:txBody>
      </p:sp>
      <p:sp>
        <p:nvSpPr>
          <p:cNvPr id="14" name="Google Shape;14;p2"/>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
          <p:cNvSpPr/>
          <p:nvPr/>
        </p:nvSpPr>
        <p:spPr>
          <a:xfrm>
            <a:off x="0" y="0"/>
            <a:ext cx="44043600" cy="3307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8A100B"/>
        </a:solidFill>
        <a:effectLst/>
      </p:bgPr>
    </p:bg>
    <p:spTree>
      <p:nvGrpSpPr>
        <p:cNvPr id="1" name="Shape 331"/>
        <p:cNvGrpSpPr/>
        <p:nvPr/>
      </p:nvGrpSpPr>
      <p:grpSpPr>
        <a:xfrm>
          <a:off x="0" y="0"/>
          <a:ext cx="0" cy="0"/>
          <a:chOff x="0" y="0"/>
          <a:chExt cx="0" cy="0"/>
        </a:xfrm>
      </p:grpSpPr>
      <p:sp>
        <p:nvSpPr>
          <p:cNvPr id="337" name="Google Shape;337;p1"/>
          <p:cNvSpPr/>
          <p:nvPr/>
        </p:nvSpPr>
        <p:spPr>
          <a:xfrm>
            <a:off x="12521957" y="3733750"/>
            <a:ext cx="19774062" cy="27111300"/>
          </a:xfrm>
          <a:prstGeom prst="rect">
            <a:avLst/>
          </a:prstGeom>
          <a:solidFill>
            <a:schemeClr val="lt1"/>
          </a:solidFill>
          <a:ln>
            <a:noFill/>
          </a:ln>
        </p:spPr>
        <p:txBody>
          <a:bodyPr spcFirstLastPara="1" wrap="square" lIns="270000" tIns="270000" rIns="270000" bIns="27000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dirty="0">
                <a:solidFill>
                  <a:srgbClr val="501214"/>
                </a:solidFill>
                <a:latin typeface="Open Sans ExtraBold"/>
                <a:ea typeface="Open Sans ExtraBold"/>
                <a:cs typeface="Open Sans ExtraBold"/>
                <a:sym typeface="Open Sans ExtraBold"/>
              </a:rPr>
              <a:t>Results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lang="en-US" sz="2100" b="0" i="0" u="none" strike="noStrike" cap="none" dirty="0">
              <a:solidFill>
                <a:schemeClr val="dk1"/>
              </a:solidFill>
              <a:latin typeface="Arial"/>
              <a:ea typeface="Arial"/>
              <a:cs typeface="Arial"/>
              <a:sym typeface="Arial"/>
            </a:endParaRPr>
          </a:p>
          <a:p>
            <a:pPr>
              <a:buSzPts val="2100"/>
            </a:pPr>
            <a:r>
              <a:rPr lang="en-US" sz="2000" dirty="0">
                <a:solidFill>
                  <a:schemeClr val="dk1"/>
                </a:solidFill>
                <a:latin typeface="Open Sans"/>
                <a:ea typeface="Open Sans"/>
                <a:cs typeface="Open Sans"/>
                <a:sym typeface="Open Sans"/>
              </a:rPr>
              <a:t>No single asset consistently hedged equities across all three stress environments. The same asset that protected in one environment actively failed in another. During COVID, Treasuries and the Broad USD Index were the only statistically significant hedges. By the rate hike cycle, Treasuries failed almost entirely, and the Broad USD index stood alone. By trade volatility, even the dollar broke down, leaving no asset with a statistically reliable hedge. JPY turned significantly negative during the hike cycle, driven by the US-Japan rate differential widening to multi-decade highs, where investors borrowed cheaply in Yen to fund Dollar assets, actively suppressing the Yen demand even on equity stress days. </a:t>
            </a:r>
            <a:endParaRPr sz="20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lang="en-US" sz="2000" b="0" i="0" u="none" strike="noStrike" cap="none" dirty="0">
              <a:solidFill>
                <a:schemeClr val="dk1"/>
              </a:solidFill>
              <a:latin typeface="Open Sans ExtraBold"/>
              <a:ea typeface="Open Sans ExtraBold"/>
              <a:cs typeface="Open Sans ExtraBold"/>
              <a:sym typeface="Open Sans ExtraBold"/>
            </a:endParaRPr>
          </a:p>
          <a:p>
            <a:pPr marL="0" marR="0" lvl="0" indent="0" algn="l" rtl="0">
              <a:lnSpc>
                <a:spcPct val="100000"/>
              </a:lnSpc>
              <a:spcBef>
                <a:spcPts val="0"/>
              </a:spcBef>
              <a:spcAft>
                <a:spcPts val="0"/>
              </a:spcAft>
              <a:buClr>
                <a:srgbClr val="000000"/>
              </a:buClr>
              <a:buSzPts val="2100"/>
              <a:buFont typeface="Arial"/>
              <a:buNone/>
            </a:pPr>
            <a:r>
              <a:rPr lang="en-US" sz="2000" b="0" i="0" u="none" strike="noStrike" cap="none" dirty="0">
                <a:solidFill>
                  <a:schemeClr val="dk1"/>
                </a:solidFill>
                <a:latin typeface="Open Sans ExtraBold"/>
                <a:ea typeface="Open Sans ExtraBold"/>
                <a:cs typeface="Open Sans ExtraBold"/>
                <a:sym typeface="Open Sans ExtraBold"/>
              </a:rPr>
              <a:t>Stress-Day Performance </a:t>
            </a:r>
            <a:r>
              <a:rPr lang="en-US" sz="2000" b="0" i="1" u="none" strike="noStrike" cap="none" dirty="0">
                <a:solidFill>
                  <a:schemeClr val="dk1"/>
                </a:solidFill>
                <a:latin typeface="Open Sans ExtraBold"/>
                <a:ea typeface="Open Sans ExtraBold"/>
                <a:cs typeface="Open Sans ExtraBold"/>
                <a:sym typeface="Open Sans ExtraBold"/>
              </a:rPr>
              <a:t>(Bootstrapping Analysis) </a:t>
            </a:r>
          </a:p>
          <a:p>
            <a:pPr marL="0" marR="0" lvl="0" indent="0" algn="l" rtl="0">
              <a:lnSpc>
                <a:spcPct val="100000"/>
              </a:lnSpc>
              <a:spcBef>
                <a:spcPts val="0"/>
              </a:spcBef>
              <a:spcAft>
                <a:spcPts val="0"/>
              </a:spcAft>
              <a:buClr>
                <a:srgbClr val="000000"/>
              </a:buClr>
              <a:buSzPts val="2100"/>
              <a:buFont typeface="Arial"/>
              <a:buNone/>
            </a:pPr>
            <a:endParaRPr lang="en-US" sz="2000" b="0" i="0" u="none" strike="noStrike" cap="none" dirty="0">
              <a:solidFill>
                <a:schemeClr val="dk1"/>
              </a:solidFill>
              <a:latin typeface="Open Sans ExtraBold"/>
              <a:ea typeface="Open Sans ExtraBold"/>
              <a:cs typeface="Open Sans ExtraBold"/>
              <a:sym typeface="Open Sans ExtraBold"/>
            </a:endParaRPr>
          </a:p>
          <a:p>
            <a:pPr lvl="0">
              <a:buSzPts val="2100"/>
            </a:pPr>
            <a:r>
              <a:rPr lang="en-US" sz="2000" dirty="0">
                <a:solidFill>
                  <a:schemeClr val="dk1"/>
                </a:solidFill>
                <a:latin typeface="Open Sans"/>
                <a:ea typeface="Open Sans"/>
                <a:cs typeface="Open Sans"/>
                <a:sym typeface="Open Sans ExtraBold"/>
              </a:rPr>
              <a:t>Daily stress-day returns are serially correlated, consecutive bad days are not independent observations, which cause t-test to overstate significance. Block Bootstrapping (block size = 5; B =10,000 replications) preserve this autocorrelation structure, producing 95% confidence intervals for mean stress-day returns. A “</a:t>
            </a:r>
            <a:r>
              <a:rPr lang="en-US" sz="2000" dirty="0">
                <a:solidFill>
                  <a:schemeClr val="dk1"/>
                </a:solidFill>
                <a:latin typeface="Open Sans"/>
                <a:ea typeface="Open Sans"/>
                <a:cs typeface="Open Sans"/>
              </a:rPr>
              <a:t>✓” indicates the confidence interval excludes zero and the asset hedged with statistical confidence. </a:t>
            </a:r>
          </a:p>
          <a:p>
            <a:pPr lvl="0">
              <a:buSzPts val="2100"/>
            </a:pPr>
            <a:endParaRPr lang="en-US" sz="2000" dirty="0">
              <a:solidFill>
                <a:schemeClr val="dk1"/>
              </a:solidFill>
              <a:latin typeface="Open Sans"/>
              <a:ea typeface="Open Sans"/>
              <a:cs typeface="Open Sans"/>
            </a:endParaRPr>
          </a:p>
          <a:p>
            <a:pPr lvl="0">
              <a:buSzPts val="2100"/>
            </a:pPr>
            <a:r>
              <a:rPr lang="en-US" sz="2000" dirty="0">
                <a:solidFill>
                  <a:schemeClr val="dk1"/>
                </a:solidFill>
                <a:latin typeface="Open Sans"/>
                <a:ea typeface="Open Sans"/>
                <a:cs typeface="Open Sans"/>
              </a:rPr>
              <a:t>In the chart below, we can see that Gold averaged +0.345% during trade volatility but its wide confidence intervals [-0.034%, +0.975%] spans zero, statistically unreliable on acute stress days. Yet its cumulative performance tells a completely different story. </a:t>
            </a:r>
            <a:endParaRPr lang="en-US" sz="20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R="0" lvl="0" algn="l" rtl="0">
              <a:lnSpc>
                <a:spcPct val="100000"/>
              </a:lnSpc>
              <a:spcBef>
                <a:spcPts val="0"/>
              </a:spcBef>
              <a:spcAft>
                <a:spcPts val="0"/>
              </a:spcAft>
              <a:buClr>
                <a:srgbClr val="000000"/>
              </a:buClr>
              <a:buSzPts val="2100"/>
            </a:pPr>
            <a:endParaRPr lang="en-US" sz="2100" i="1" dirty="0">
              <a:solidFill>
                <a:schemeClr val="dk1"/>
              </a:solidFill>
              <a:latin typeface="Open Sans"/>
              <a:ea typeface="Open Sans"/>
              <a:cs typeface="Open Sans"/>
              <a:sym typeface="Open Sans ExtraBold"/>
            </a:endParaRPr>
          </a:p>
        </p:txBody>
      </p:sp>
      <p:graphicFrame>
        <p:nvGraphicFramePr>
          <p:cNvPr id="22" name="Table 21">
            <a:extLst>
              <a:ext uri="{FF2B5EF4-FFF2-40B4-BE49-F238E27FC236}">
                <a16:creationId xmlns:a16="http://schemas.microsoft.com/office/drawing/2014/main" id="{0AD73885-C449-5B36-8C26-FB81917BFF8F}"/>
              </a:ext>
            </a:extLst>
          </p:cNvPr>
          <p:cNvGraphicFramePr>
            <a:graphicFrameLocks noGrp="1"/>
          </p:cNvGraphicFramePr>
          <p:nvPr>
            <p:extLst>
              <p:ext uri="{D42A27DB-BD31-4B8C-83A1-F6EECF244321}">
                <p14:modId xmlns:p14="http://schemas.microsoft.com/office/powerpoint/2010/main" val="2215458630"/>
              </p:ext>
            </p:extLst>
          </p:nvPr>
        </p:nvGraphicFramePr>
        <p:xfrm>
          <a:off x="12968284" y="10178166"/>
          <a:ext cx="5262784" cy="2913435"/>
        </p:xfrm>
        <a:graphic>
          <a:graphicData uri="http://schemas.openxmlformats.org/drawingml/2006/table">
            <a:tbl>
              <a:tblPr firstRow="1" bandRow="1">
                <a:tableStyleId>{BDBED569-4797-4DF1-A0F4-6AAB3CD982D8}</a:tableStyleId>
              </a:tblPr>
              <a:tblGrid>
                <a:gridCol w="1317210">
                  <a:extLst>
                    <a:ext uri="{9D8B030D-6E8A-4147-A177-3AD203B41FA5}">
                      <a16:colId xmlns:a16="http://schemas.microsoft.com/office/drawing/2014/main" val="3843680346"/>
                    </a:ext>
                  </a:extLst>
                </a:gridCol>
                <a:gridCol w="1317210">
                  <a:extLst>
                    <a:ext uri="{9D8B030D-6E8A-4147-A177-3AD203B41FA5}">
                      <a16:colId xmlns:a16="http://schemas.microsoft.com/office/drawing/2014/main" val="2889725483"/>
                    </a:ext>
                  </a:extLst>
                </a:gridCol>
                <a:gridCol w="1314182">
                  <a:extLst>
                    <a:ext uri="{9D8B030D-6E8A-4147-A177-3AD203B41FA5}">
                      <a16:colId xmlns:a16="http://schemas.microsoft.com/office/drawing/2014/main" val="1741638256"/>
                    </a:ext>
                  </a:extLst>
                </a:gridCol>
                <a:gridCol w="1314182">
                  <a:extLst>
                    <a:ext uri="{9D8B030D-6E8A-4147-A177-3AD203B41FA5}">
                      <a16:colId xmlns:a16="http://schemas.microsoft.com/office/drawing/2014/main" val="1902120613"/>
                    </a:ext>
                  </a:extLst>
                </a:gridCol>
              </a:tblGrid>
              <a:tr h="716142">
                <a:tc>
                  <a:txBody>
                    <a:bodyPr/>
                    <a:lstStyle/>
                    <a:p>
                      <a:pPr algn="ct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Asset </a:t>
                      </a:r>
                    </a:p>
                    <a:p>
                      <a:pPr algn="ctr"/>
                      <a:r>
                        <a:rPr lang="en-US" sz="1500" b="1" i="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(n=stress days)</a:t>
                      </a:r>
                    </a:p>
                  </a:txBody>
                  <a:tcPr anchor="ctr"/>
                </a:tc>
                <a:tc>
                  <a:txBody>
                    <a:bodyPr/>
                    <a:lstStyle/>
                    <a:p>
                      <a:pPr algn="ct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COVID </a:t>
                      </a:r>
                    </a:p>
                    <a:p>
                      <a:pPr algn="ctr"/>
                      <a:r>
                        <a:rPr lang="en-US" sz="1500" b="1" i="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(n=54)</a:t>
                      </a:r>
                    </a:p>
                  </a:txBody>
                  <a:tcPr anchor="ctr"/>
                </a:tc>
                <a:tc>
                  <a:txBody>
                    <a:bodyPr/>
                    <a:lstStyle/>
                    <a:p>
                      <a:pPr algn="ct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Rate Hike Cycle</a:t>
                      </a:r>
                    </a:p>
                    <a:p>
                      <a:pPr algn="ctr"/>
                      <a:r>
                        <a:rPr lang="en-US" sz="1500" b="1" i="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(n=91)</a:t>
                      </a:r>
                    </a:p>
                  </a:txBody>
                  <a:tcPr anchor="ctr"/>
                </a:tc>
                <a:tc>
                  <a:txBody>
                    <a:bodyPr/>
                    <a:lstStyle/>
                    <a:p>
                      <a:pPr algn="ct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Trade Volatility </a:t>
                      </a:r>
                    </a:p>
                    <a:p>
                      <a:pPr algn="ctr"/>
                      <a:r>
                        <a:rPr lang="en-US" sz="1500" b="1" i="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(n=31)</a:t>
                      </a:r>
                    </a:p>
                  </a:txBody>
                  <a:tcPr anchor="ctr"/>
                </a:tc>
                <a:extLst>
                  <a:ext uri="{0D108BD9-81ED-4DB2-BD59-A6C34878D82A}">
                    <a16:rowId xmlns:a16="http://schemas.microsoft.com/office/drawing/2014/main" val="417674496"/>
                  </a:ext>
                </a:extLst>
              </a:tr>
              <a:tr h="427239">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Treasuries</a:t>
                      </a:r>
                    </a:p>
                  </a:txBody>
                  <a:tcPr anchor="ctr"/>
                </a:tc>
                <a:tc>
                  <a:txBody>
                    <a:bodyPr/>
                    <a:lstStyle/>
                    <a:p>
                      <a:pPr marR="0" algn="ctr" rtl="0">
                        <a:lnSpc>
                          <a:spcPct val="100000"/>
                        </a:lnSpc>
                        <a:spcBef>
                          <a:spcPts val="0"/>
                        </a:spcBef>
                        <a:spcAft>
                          <a:spcPts val="0"/>
                        </a:spcAft>
                        <a:buClr>
                          <a:srgbClr val="000000"/>
                        </a:buClr>
                        <a:buFont typeface="Arial"/>
                      </a:pP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+0.289% </a:t>
                      </a:r>
                      <a:r>
                        <a:rPr lang="en-US" sz="1600" b="1" dirty="0"/>
                        <a:t>✓</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-0.108%</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+0.171%</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795317941"/>
                  </a:ext>
                </a:extLst>
              </a:tr>
              <a:tr h="427239">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Gold</a:t>
                      </a: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-0.035%</a:t>
                      </a: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-0.122%</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+0.354%</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2314666865"/>
                  </a:ext>
                </a:extLst>
              </a:tr>
              <a:tr h="427239">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CHF</a:t>
                      </a: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+0.052%</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+0.036%</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+0.124%</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1192617148"/>
                  </a:ext>
                </a:extLst>
              </a:tr>
              <a:tr h="427239">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JPY</a:t>
                      </a: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-0.038%</a:t>
                      </a:r>
                    </a:p>
                  </a:txBody>
                  <a:tcPr anchor="ctr"/>
                </a:tc>
                <a:tc>
                  <a:txBody>
                    <a:bodyPr/>
                    <a:lstStyle/>
                    <a:p>
                      <a:pPr marR="0" algn="ctr" rtl="0">
                        <a:lnSpc>
                          <a:spcPct val="100000"/>
                        </a:lnSpc>
                        <a:spcBef>
                          <a:spcPts val="0"/>
                        </a:spcBef>
                        <a:spcAft>
                          <a:spcPts val="0"/>
                        </a:spcAft>
                        <a:buClr>
                          <a:srgbClr val="000000"/>
                        </a:buClr>
                        <a:buFont typeface="Arial"/>
                      </a:pP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-0.132% </a:t>
                      </a:r>
                      <a:r>
                        <a:rPr lang="en-US" sz="1600" b="1" dirty="0"/>
                        <a:t>✓</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+0.018%</a:t>
                      </a:r>
                    </a:p>
                  </a:txBody>
                  <a:tcPr anchor="ctr"/>
                </a:tc>
                <a:extLst>
                  <a:ext uri="{0D108BD9-81ED-4DB2-BD59-A6C34878D82A}">
                    <a16:rowId xmlns:a16="http://schemas.microsoft.com/office/drawing/2014/main" val="3073811850"/>
                  </a:ext>
                </a:extLst>
              </a:tr>
              <a:tr h="427239">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Broad USD</a:t>
                      </a:r>
                    </a:p>
                  </a:txBody>
                  <a:tcPr anchor="ctr"/>
                </a:tc>
                <a:tc>
                  <a:txBody>
                    <a:bodyPr/>
                    <a:lstStyle/>
                    <a:p>
                      <a:pPr marR="0" algn="ctr" rtl="0">
                        <a:lnSpc>
                          <a:spcPct val="100000"/>
                        </a:lnSpc>
                        <a:spcBef>
                          <a:spcPts val="0"/>
                        </a:spcBef>
                        <a:spcAft>
                          <a:spcPts val="0"/>
                        </a:spcAft>
                        <a:buClr>
                          <a:srgbClr val="000000"/>
                        </a:buClr>
                        <a:buFont typeface="Arial"/>
                      </a:pP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+0.244% </a:t>
                      </a:r>
                      <a:r>
                        <a:rPr lang="en-US" sz="1600" b="1" dirty="0"/>
                        <a:t>✓</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+0.211% </a:t>
                      </a:r>
                      <a:r>
                        <a:rPr lang="en-US" sz="1600" b="1" dirty="0"/>
                        <a:t>✓</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-0.030%</a:t>
                      </a:r>
                    </a:p>
                  </a:txBody>
                  <a:tcPr anchor="ctr"/>
                </a:tc>
                <a:extLst>
                  <a:ext uri="{0D108BD9-81ED-4DB2-BD59-A6C34878D82A}">
                    <a16:rowId xmlns:a16="http://schemas.microsoft.com/office/drawing/2014/main" val="2998372838"/>
                  </a:ext>
                </a:extLst>
              </a:tr>
            </a:tbl>
          </a:graphicData>
        </a:graphic>
      </p:graphicFrame>
      <p:sp>
        <p:nvSpPr>
          <p:cNvPr id="332" name="Google Shape;332;p1"/>
          <p:cNvSpPr/>
          <p:nvPr/>
        </p:nvSpPr>
        <p:spPr>
          <a:xfrm>
            <a:off x="2612571" y="2054258"/>
            <a:ext cx="31203900" cy="969335"/>
          </a:xfrm>
          <a:prstGeom prst="rect">
            <a:avLst/>
          </a:prstGeom>
          <a:noFill/>
          <a:ln>
            <a:noFill/>
          </a:ln>
        </p:spPr>
        <p:txBody>
          <a:bodyPr spcFirstLastPara="1" wrap="square" lIns="68425" tIns="34200" rIns="68425" bIns="34200" anchor="t" anchorCtr="0">
            <a:spAutoFit/>
          </a:bodyPr>
          <a:lstStyle/>
          <a:p>
            <a:pPr marL="0" marR="0" lvl="0" indent="0" algn="l" rtl="0">
              <a:lnSpc>
                <a:spcPct val="100000"/>
              </a:lnSpc>
              <a:spcBef>
                <a:spcPts val="0"/>
              </a:spcBef>
              <a:spcAft>
                <a:spcPts val="0"/>
              </a:spcAft>
              <a:buClr>
                <a:srgbClr val="000000"/>
              </a:buClr>
              <a:buSzPts val="3750"/>
              <a:buFont typeface="Arial"/>
              <a:buNone/>
            </a:pPr>
            <a:r>
              <a:rPr lang="en-US" sz="3750" b="0" i="0" u="none" strike="noStrike" cap="none" dirty="0">
                <a:solidFill>
                  <a:srgbClr val="FFFFFF"/>
                </a:solidFill>
                <a:latin typeface="Open Sans Light"/>
                <a:ea typeface="Open Sans Light"/>
                <a:cs typeface="Open Sans Light"/>
                <a:sym typeface="Open Sans Light"/>
              </a:rPr>
              <a:t>Yousra Belgaid</a:t>
            </a:r>
            <a:br>
              <a:rPr lang="en-US" sz="3600" b="0" i="0" u="none" strike="noStrike" cap="none" dirty="0">
                <a:solidFill>
                  <a:srgbClr val="FFFFFF"/>
                </a:solidFill>
                <a:latin typeface="Open Sans Light"/>
                <a:ea typeface="Open Sans Light"/>
                <a:cs typeface="Open Sans Light"/>
                <a:sym typeface="Open Sans Light"/>
              </a:rPr>
            </a:br>
            <a:r>
              <a:rPr lang="en-US" sz="2100" b="0" i="0" u="none" strike="noStrike" cap="none" dirty="0">
                <a:solidFill>
                  <a:srgbClr val="FFFFFF"/>
                </a:solidFill>
                <a:latin typeface="Open Sans Light"/>
                <a:ea typeface="Open Sans Light"/>
                <a:cs typeface="Open Sans Light"/>
                <a:sym typeface="Open Sans Light"/>
              </a:rPr>
              <a:t>Woods College of Advancing Studies, Boston College</a:t>
            </a:r>
            <a:endParaRPr sz="1400" b="0" i="0" u="none" strike="noStrike" cap="none" dirty="0">
              <a:solidFill>
                <a:srgbClr val="000000"/>
              </a:solidFill>
              <a:latin typeface="Arial"/>
              <a:ea typeface="Arial"/>
              <a:cs typeface="Arial"/>
              <a:sym typeface="Arial"/>
            </a:endParaRPr>
          </a:p>
        </p:txBody>
      </p:sp>
      <p:sp>
        <p:nvSpPr>
          <p:cNvPr id="29" name="Rounded Rectangle 28">
            <a:extLst>
              <a:ext uri="{FF2B5EF4-FFF2-40B4-BE49-F238E27FC236}">
                <a16:creationId xmlns:a16="http://schemas.microsoft.com/office/drawing/2014/main" id="{D068D411-F703-F458-F6AC-E21854FF984F}"/>
              </a:ext>
            </a:extLst>
          </p:cNvPr>
          <p:cNvSpPr/>
          <p:nvPr/>
        </p:nvSpPr>
        <p:spPr>
          <a:xfrm>
            <a:off x="12923518" y="15071598"/>
            <a:ext cx="5446879" cy="6620965"/>
          </a:xfrm>
          <a:prstGeom prst="round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A5F7328-1245-B0B5-42DF-47AA1E56A16F}"/>
              </a:ext>
            </a:extLst>
          </p:cNvPr>
          <p:cNvSpPr txBox="1"/>
          <p:nvPr/>
        </p:nvSpPr>
        <p:spPr>
          <a:xfrm>
            <a:off x="13216101" y="16046366"/>
            <a:ext cx="4970202" cy="4939814"/>
          </a:xfrm>
          <a:prstGeom prst="rect">
            <a:avLst/>
          </a:prstGeom>
          <a:noFill/>
        </p:spPr>
        <p:txBody>
          <a:bodyPr wrap="square" rtlCol="0">
            <a:spAutoFit/>
          </a:bodyPr>
          <a:lstStyle/>
          <a:p>
            <a:pPr>
              <a:buSzPts val="2100"/>
            </a:pPr>
            <a:r>
              <a:rPr lang="en-US" sz="1500" b="1" dirty="0">
                <a:solidFill>
                  <a:schemeClr val="dk1"/>
                </a:solidFill>
                <a:latin typeface="Open Sans"/>
                <a:ea typeface="Open Sans"/>
                <a:cs typeface="Open Sans"/>
                <a:sym typeface="Open Sans ExtraBold"/>
              </a:rPr>
              <a:t>A fundamentally different story emerges here –</a:t>
            </a:r>
          </a:p>
          <a:p>
            <a:pPr>
              <a:buSzPts val="2100"/>
            </a:pPr>
            <a:endParaRPr lang="en-US" sz="1500" dirty="0">
              <a:solidFill>
                <a:schemeClr val="dk1"/>
              </a:solidFill>
              <a:latin typeface="Open Sans"/>
              <a:ea typeface="Open Sans"/>
              <a:cs typeface="Open Sans"/>
              <a:sym typeface="Open Sans ExtraBold"/>
            </a:endParaRPr>
          </a:p>
          <a:p>
            <a:pPr marL="285750" indent="-285750">
              <a:buSzPts val="2100"/>
              <a:buFont typeface="Arial" panose="020B0604020202020204" pitchFamily="34" charset="0"/>
              <a:buChar char="•"/>
            </a:pPr>
            <a:r>
              <a:rPr lang="en-US" sz="1500" b="1" dirty="0">
                <a:solidFill>
                  <a:schemeClr val="dk1"/>
                </a:solidFill>
                <a:latin typeface="Open Sans"/>
                <a:ea typeface="Open Sans"/>
                <a:cs typeface="Open Sans"/>
                <a:sym typeface="Open Sans ExtraBold"/>
              </a:rPr>
              <a:t>COVID</a:t>
            </a:r>
            <a:r>
              <a:rPr lang="en-US" sz="1500" dirty="0">
                <a:solidFill>
                  <a:schemeClr val="dk1"/>
                </a:solidFill>
                <a:latin typeface="Open Sans"/>
                <a:ea typeface="Open Sans"/>
                <a:cs typeface="Open Sans"/>
                <a:sym typeface="Open Sans ExtraBold"/>
              </a:rPr>
              <a:t>: Gold (+9.0%) and CHF (+8.0%) led as panic and dollar weakness drove demand for stores of value. Treasuries gained only modestly (+0.7%) despite their strong stress-day performance. </a:t>
            </a:r>
          </a:p>
          <a:p>
            <a:pPr marL="285750" indent="-285750">
              <a:buSzPts val="2100"/>
              <a:buFont typeface="Arial" panose="020B0604020202020204" pitchFamily="34" charset="0"/>
              <a:buChar char="•"/>
            </a:pPr>
            <a:endParaRPr lang="en-US" sz="1500" b="1" dirty="0">
              <a:solidFill>
                <a:schemeClr val="dk1"/>
              </a:solidFill>
              <a:latin typeface="Open Sans"/>
              <a:ea typeface="Open Sans"/>
              <a:cs typeface="Open Sans"/>
              <a:sym typeface="Open Sans ExtraBold"/>
            </a:endParaRPr>
          </a:p>
          <a:p>
            <a:pPr marL="285750" indent="-285750">
              <a:buSzPts val="2100"/>
              <a:buFont typeface="Arial" panose="020B0604020202020204" pitchFamily="34" charset="0"/>
              <a:buChar char="•"/>
            </a:pPr>
            <a:r>
              <a:rPr lang="en-US" sz="1500" b="1" dirty="0">
                <a:solidFill>
                  <a:schemeClr val="dk1"/>
                </a:solidFill>
                <a:latin typeface="Open Sans"/>
                <a:ea typeface="Open Sans"/>
                <a:cs typeface="Open Sans"/>
                <a:sym typeface="Open Sans ExtraBold"/>
              </a:rPr>
              <a:t>Rate Hike Cycle: </a:t>
            </a:r>
            <a:r>
              <a:rPr lang="en-US" sz="1500" dirty="0">
                <a:solidFill>
                  <a:schemeClr val="dk1"/>
                </a:solidFill>
                <a:latin typeface="Open Sans"/>
                <a:ea typeface="Open Sans"/>
                <a:cs typeface="Open Sans"/>
                <a:sym typeface="Open Sans ExtraBold"/>
              </a:rPr>
              <a:t>Treasuries (−20.9%) and JPY (−18.3%) fell in near-identical trajectories. The rising US rates eroded bond prices while widening US-Japan rate differentials suppressed yen demand. CHF defied the trend (+7.9%), backed by the Swiss National Bank's strategic pivot to a stronger franc to fight imported inflation.</a:t>
            </a:r>
          </a:p>
          <a:p>
            <a:pPr>
              <a:buSzPts val="2100"/>
            </a:pPr>
            <a:endParaRPr lang="en-US" sz="1500" dirty="0">
              <a:solidFill>
                <a:schemeClr val="dk1"/>
              </a:solidFill>
              <a:latin typeface="Open Sans"/>
              <a:ea typeface="Open Sans"/>
              <a:cs typeface="Open Sans"/>
              <a:sym typeface="Open Sans ExtraBold"/>
            </a:endParaRPr>
          </a:p>
          <a:p>
            <a:pPr marL="285750" indent="-285750">
              <a:buSzPts val="2100"/>
              <a:buFont typeface="Arial" panose="020B0604020202020204" pitchFamily="34" charset="0"/>
              <a:buChar char="•"/>
            </a:pPr>
            <a:r>
              <a:rPr lang="en-US" sz="1500" b="1" dirty="0">
                <a:solidFill>
                  <a:schemeClr val="dk1"/>
                </a:solidFill>
                <a:latin typeface="Open Sans"/>
                <a:ea typeface="Open Sans"/>
                <a:cs typeface="Open Sans"/>
                <a:sym typeface="Open Sans ExtraBold"/>
              </a:rPr>
              <a:t>Trade Volatility: </a:t>
            </a:r>
            <a:r>
              <a:rPr lang="en-US" sz="1500" dirty="0">
                <a:solidFill>
                  <a:schemeClr val="dk1"/>
                </a:solidFill>
                <a:latin typeface="Open Sans"/>
                <a:ea typeface="Open Sans"/>
                <a:cs typeface="Open Sans"/>
                <a:sym typeface="Open Sans ExtraBold"/>
              </a:rPr>
              <a:t>Gold (+70.7%) dominated every asset across all three regimes, driven by tariff escalation and policy uncertainty. The Broad USD Index turned negative (−8.2%), a pretty unusual reversal as the United States itself becomes the source of the shock.</a:t>
            </a:r>
          </a:p>
        </p:txBody>
      </p:sp>
      <p:sp>
        <p:nvSpPr>
          <p:cNvPr id="31" name="Round Same Side Corner Rectangle 30">
            <a:extLst>
              <a:ext uri="{FF2B5EF4-FFF2-40B4-BE49-F238E27FC236}">
                <a16:creationId xmlns:a16="http://schemas.microsoft.com/office/drawing/2014/main" id="{88169546-0C68-F74A-D8AB-91AC6C66F479}"/>
              </a:ext>
            </a:extLst>
          </p:cNvPr>
          <p:cNvSpPr/>
          <p:nvPr/>
        </p:nvSpPr>
        <p:spPr>
          <a:xfrm>
            <a:off x="13872521" y="14858431"/>
            <a:ext cx="3588597" cy="745126"/>
          </a:xfrm>
          <a:prstGeom prst="round2Same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4735E58B-C9A8-8E1B-FD6C-83848A3AFFA5}"/>
              </a:ext>
            </a:extLst>
          </p:cNvPr>
          <p:cNvSpPr txBox="1"/>
          <p:nvPr/>
        </p:nvSpPr>
        <p:spPr>
          <a:xfrm>
            <a:off x="14134726" y="15029052"/>
            <a:ext cx="4096342" cy="738664"/>
          </a:xfrm>
          <a:prstGeom prst="rect">
            <a:avLst/>
          </a:prstGeom>
          <a:noFill/>
        </p:spPr>
        <p:txBody>
          <a:bodyPr wrap="square" rtlCol="0">
            <a:spAutoFit/>
          </a:bodyPr>
          <a:lstStyle/>
          <a:p>
            <a:r>
              <a:rPr lang="en-US" sz="2100" dirty="0">
                <a:solidFill>
                  <a:schemeClr val="dk1"/>
                </a:solidFill>
                <a:latin typeface="Open Sans ExtraBold"/>
                <a:ea typeface="Open Sans ExtraBold"/>
                <a:cs typeface="Open Sans ExtraBold"/>
                <a:sym typeface="Open Sans ExtraBold"/>
              </a:rPr>
              <a:t>Cumulative Returns</a:t>
            </a:r>
          </a:p>
          <a:p>
            <a:endParaRPr lang="en-US" sz="2100" dirty="0"/>
          </a:p>
        </p:txBody>
      </p:sp>
      <p:sp>
        <p:nvSpPr>
          <p:cNvPr id="34" name="Rounded Rectangle 33">
            <a:extLst>
              <a:ext uri="{FF2B5EF4-FFF2-40B4-BE49-F238E27FC236}">
                <a16:creationId xmlns:a16="http://schemas.microsoft.com/office/drawing/2014/main" id="{22E8E341-2A46-0F55-9267-DDEE11A5D250}"/>
              </a:ext>
            </a:extLst>
          </p:cNvPr>
          <p:cNvSpPr/>
          <p:nvPr/>
        </p:nvSpPr>
        <p:spPr>
          <a:xfrm>
            <a:off x="23325016" y="21983807"/>
            <a:ext cx="7961231" cy="3899045"/>
          </a:xfrm>
          <a:prstGeom prst="round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33" name="Google Shape;333;p1"/>
          <p:cNvCxnSpPr/>
          <p:nvPr/>
        </p:nvCxnSpPr>
        <p:spPr>
          <a:xfrm>
            <a:off x="2543176" y="3200400"/>
            <a:ext cx="39323283" cy="0"/>
          </a:xfrm>
          <a:prstGeom prst="straightConnector1">
            <a:avLst/>
          </a:prstGeom>
          <a:noFill/>
          <a:ln w="76200" cap="flat" cmpd="sng">
            <a:solidFill>
              <a:schemeClr val="lt1"/>
            </a:solidFill>
            <a:prstDash val="solid"/>
            <a:round/>
            <a:headEnd type="none" w="sm" len="sm"/>
            <a:tailEnd type="none" w="sm" len="sm"/>
          </a:ln>
          <a:effectLst>
            <a:outerShdw blurRad="40000" dist="23000" dir="5400000" rotWithShape="0">
              <a:srgbClr val="808080">
                <a:alpha val="34509"/>
              </a:srgbClr>
            </a:outerShdw>
          </a:effectLst>
        </p:spPr>
      </p:cxnSp>
      <p:sp>
        <p:nvSpPr>
          <p:cNvPr id="334" name="Google Shape;334;p1"/>
          <p:cNvSpPr txBox="1"/>
          <p:nvPr/>
        </p:nvSpPr>
        <p:spPr>
          <a:xfrm>
            <a:off x="2612570" y="1019964"/>
            <a:ext cx="39277229" cy="10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200" b="0" i="0" u="none" strike="noStrike" cap="none" dirty="0">
                <a:solidFill>
                  <a:srgbClr val="B4985A"/>
                </a:solidFill>
                <a:latin typeface="Open Sans ExtraBold"/>
                <a:ea typeface="Open Sans ExtraBold"/>
                <a:cs typeface="Open Sans ExtraBold"/>
                <a:sym typeface="Open Sans ExtraBold"/>
              </a:rPr>
              <a:t>The Hedge That Flipped: Safe-Asset Performance Across COVID, Rate Hikes, and Trade Volatility</a:t>
            </a:r>
            <a:endParaRPr sz="6200" b="0" i="0" u="none" strike="noStrike" cap="none" dirty="0">
              <a:solidFill>
                <a:srgbClr val="B4985A"/>
              </a:solidFill>
              <a:latin typeface="Open Sans ExtraBold"/>
              <a:ea typeface="Open Sans ExtraBold"/>
              <a:cs typeface="Open Sans ExtraBold"/>
              <a:sym typeface="Open Sans ExtraBold"/>
            </a:endParaRPr>
          </a:p>
        </p:txBody>
      </p:sp>
      <p:sp>
        <p:nvSpPr>
          <p:cNvPr id="335" name="Google Shape;335;p1"/>
          <p:cNvSpPr/>
          <p:nvPr/>
        </p:nvSpPr>
        <p:spPr>
          <a:xfrm>
            <a:off x="2543175" y="3733749"/>
            <a:ext cx="9650326" cy="6759577"/>
          </a:xfrm>
          <a:prstGeom prst="rect">
            <a:avLst/>
          </a:prstGeom>
          <a:solidFill>
            <a:schemeClr val="lt1"/>
          </a:solidFill>
          <a:ln>
            <a:noFill/>
          </a:ln>
        </p:spPr>
        <p:txBody>
          <a:bodyPr spcFirstLastPara="1" wrap="square" lIns="270000" tIns="270000" rIns="270000" bIns="270000" anchor="t" anchorCtr="0">
            <a:noAutofit/>
          </a:bodyPr>
          <a:lstStyle/>
          <a:p>
            <a:pPr marL="0" marR="0" lvl="0" indent="0" rtl="0">
              <a:lnSpc>
                <a:spcPct val="100000"/>
              </a:lnSpc>
              <a:spcBef>
                <a:spcPts val="0"/>
              </a:spcBef>
              <a:spcAft>
                <a:spcPts val="0"/>
              </a:spcAft>
              <a:buClr>
                <a:srgbClr val="000000"/>
              </a:buClr>
              <a:buSzPts val="3000"/>
              <a:buFont typeface="Arial"/>
              <a:buNone/>
            </a:pPr>
            <a:r>
              <a:rPr lang="en-US" sz="3000" b="0" i="0" u="none" strike="noStrike" cap="none" dirty="0">
                <a:solidFill>
                  <a:srgbClr val="501214"/>
                </a:solidFill>
                <a:latin typeface="Open Sans ExtraBold"/>
                <a:ea typeface="Open Sans ExtraBold"/>
                <a:cs typeface="Open Sans ExtraBold"/>
                <a:sym typeface="Open Sans ExtraBold"/>
              </a:rPr>
              <a:t>Abstract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Open Sans"/>
                <a:ea typeface="Open Sans"/>
                <a:cs typeface="Open Sans"/>
                <a:sym typeface="Open Sans"/>
              </a:rPr>
              <a:t> </a:t>
            </a:r>
            <a:endParaRPr lang="en-US" sz="1400" b="0" i="0" u="none" strike="noStrike" cap="none" dirty="0">
              <a:solidFill>
                <a:srgbClr val="000000"/>
              </a:solidFill>
              <a:latin typeface="Arial"/>
              <a:ea typeface="Arial"/>
              <a:cs typeface="Arial"/>
              <a:sym typeface="Arial"/>
            </a:endParaRPr>
          </a:p>
          <a:p>
            <a:pPr>
              <a:buSzPts val="2100"/>
            </a:pPr>
            <a:r>
              <a:rPr lang="en-US" sz="2000" i="0" u="none" strike="noStrike" cap="none" dirty="0">
                <a:solidFill>
                  <a:schemeClr val="dk1"/>
                </a:solidFill>
                <a:latin typeface="Open Sans"/>
                <a:ea typeface="Open Sans"/>
                <a:cs typeface="Open Sans"/>
                <a:sym typeface="Open Sans"/>
              </a:rPr>
              <a:t>Which safe assets protect investors when equities fall? Does that answer depend on what is driving the crisis? Using daily data from 2019 to 2026, this study evaluates the hedging performance of the US 10-year Treasury, Gold, the Swiss Franc (CHF), the Japanese Yen (JPY), and the Broad USD Index across three stress environments</a:t>
            </a:r>
            <a:r>
              <a:rPr lang="en-US" sz="2000" dirty="0">
                <a:solidFill>
                  <a:schemeClr val="dk1"/>
                </a:solidFill>
                <a:latin typeface="Open Sans"/>
                <a:ea typeface="Open Sans"/>
                <a:cs typeface="Open Sans"/>
                <a:sym typeface="Open Sans"/>
              </a:rPr>
              <a:t>: the COVID market shock, the Federal Reserve rate hike cycle, and the ongoing trade volatility period. </a:t>
            </a:r>
          </a:p>
          <a:p>
            <a:pPr>
              <a:buSzPts val="2100"/>
            </a:pPr>
            <a:endParaRPr lang="en-US" sz="2000" dirty="0">
              <a:solidFill>
                <a:schemeClr val="dk1"/>
              </a:solidFill>
              <a:latin typeface="Open Sans"/>
              <a:ea typeface="Open Sans"/>
              <a:cs typeface="Open Sans"/>
              <a:sym typeface="Open Sans"/>
            </a:endParaRPr>
          </a:p>
          <a:p>
            <a:pPr>
              <a:buSzPts val="2100"/>
            </a:pPr>
            <a:r>
              <a:rPr lang="en-US" sz="2000" b="1" dirty="0">
                <a:solidFill>
                  <a:schemeClr val="dk1"/>
                </a:solidFill>
                <a:latin typeface="Open Sans"/>
                <a:ea typeface="Open Sans"/>
                <a:cs typeface="Open Sans"/>
                <a:sym typeface="Open Sans"/>
              </a:rPr>
              <a:t>Results of this study reveal that hedging performance is deeply conditional on the nature of the crisis. </a:t>
            </a:r>
            <a:r>
              <a:rPr lang="en-US" sz="2000" dirty="0">
                <a:solidFill>
                  <a:schemeClr val="dk1"/>
                </a:solidFill>
                <a:latin typeface="Open Sans"/>
                <a:ea typeface="Open Sans"/>
                <a:cs typeface="Open Sans"/>
                <a:sym typeface="Open Sans"/>
              </a:rPr>
              <a:t>Treasuries were a reliable hedge during COVID but failed entirely during the rate hike cycle, as rising yields caused bonds and equities to fall together. Gold delivered strong cumulative returns across regimes but provided no reliable protection on acute stress days. The broad USD Index was the only asset to hedge consistently across multiple stress environments, until trade volatility, when it broke down as the United States became the source of the shock itself. These findings suggest that no single asset is a universal hedge. Which asset protects, and which fails, depends on the economic conditions driving it. </a:t>
            </a:r>
          </a:p>
          <a:p>
            <a:pPr>
              <a:buSzPts val="2100"/>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1400" b="0" i="0" u="none" strike="noStrike" cap="none" dirty="0">
              <a:solidFill>
                <a:srgbClr val="000000"/>
              </a:solidFill>
              <a:latin typeface="Arial"/>
              <a:ea typeface="Arial"/>
              <a:cs typeface="Arial"/>
              <a:sym typeface="Arial"/>
            </a:endParaRPr>
          </a:p>
        </p:txBody>
      </p:sp>
      <p:sp>
        <p:nvSpPr>
          <p:cNvPr id="346" name="Google Shape;346;p1"/>
          <p:cNvSpPr/>
          <p:nvPr/>
        </p:nvSpPr>
        <p:spPr>
          <a:xfrm>
            <a:off x="32560450" y="25648013"/>
            <a:ext cx="9265325" cy="3589500"/>
          </a:xfrm>
          <a:prstGeom prst="rect">
            <a:avLst/>
          </a:prstGeom>
          <a:solidFill>
            <a:schemeClr val="lt1"/>
          </a:solidFill>
          <a:ln>
            <a:noFill/>
          </a:ln>
        </p:spPr>
        <p:txBody>
          <a:bodyPr spcFirstLastPara="1" wrap="square" lIns="270000" tIns="270000" rIns="270000" bIns="27000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dirty="0">
                <a:solidFill>
                  <a:srgbClr val="501214"/>
                </a:solidFill>
                <a:latin typeface="Open Sans ExtraBold"/>
                <a:ea typeface="Open Sans ExtraBold"/>
                <a:cs typeface="Open Sans ExtraBold"/>
                <a:sym typeface="Open Sans ExtraBold"/>
              </a:rPr>
              <a:t>References</a:t>
            </a:r>
            <a:endParaRPr sz="1400" b="0" i="0" u="none" strike="noStrike" cap="none" dirty="0">
              <a:solidFill>
                <a:srgbClr val="000000"/>
              </a:solidFill>
              <a:latin typeface="Arial"/>
              <a:ea typeface="Arial"/>
              <a:cs typeface="Arial"/>
              <a:sym typeface="Arial"/>
            </a:endParaRPr>
          </a:p>
        </p:txBody>
      </p:sp>
      <p:sp>
        <p:nvSpPr>
          <p:cNvPr id="348" name="Google Shape;348;p1"/>
          <p:cNvSpPr/>
          <p:nvPr/>
        </p:nvSpPr>
        <p:spPr>
          <a:xfrm>
            <a:off x="32513485" y="3733749"/>
            <a:ext cx="9312290" cy="21737455"/>
          </a:xfrm>
          <a:prstGeom prst="rect">
            <a:avLst/>
          </a:prstGeom>
          <a:solidFill>
            <a:schemeClr val="lt1"/>
          </a:solidFill>
          <a:ln>
            <a:noFill/>
          </a:ln>
        </p:spPr>
        <p:txBody>
          <a:bodyPr spcFirstLastPara="1" wrap="square" lIns="270000" tIns="270000" rIns="270000" bIns="270000" anchor="t" anchorCtr="0">
            <a:noAutofit/>
          </a:bodyPr>
          <a:lstStyle/>
          <a:p>
            <a:pPr lvl="0">
              <a:buSzPts val="3000"/>
            </a:pPr>
            <a:r>
              <a:rPr lang="en-US" sz="3000" dirty="0">
                <a:solidFill>
                  <a:srgbClr val="501214"/>
                </a:solidFill>
                <a:latin typeface="Open Sans ExtraBold"/>
                <a:ea typeface="Open Sans ExtraBold"/>
                <a:cs typeface="Open Sans ExtraBold"/>
                <a:sym typeface="Open Sans ExtraBold"/>
              </a:rPr>
              <a:t>Discussion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1050"/>
              </a:spcBef>
              <a:spcAft>
                <a:spcPts val="0"/>
              </a:spcAft>
              <a:buClr>
                <a:srgbClr val="000000"/>
              </a:buClr>
              <a:buSzPts val="2100"/>
              <a:buFont typeface="Arial"/>
              <a:buNone/>
            </a:pPr>
            <a:r>
              <a:rPr lang="en-US" sz="1900" b="0" i="0" u="none" strike="noStrike" cap="none" dirty="0">
                <a:solidFill>
                  <a:schemeClr val="dk1"/>
                </a:solidFill>
                <a:latin typeface="Open Sans ExtraBold"/>
                <a:ea typeface="Open Sans ExtraBold"/>
                <a:cs typeface="Open Sans ExtraBold"/>
                <a:sym typeface="Open Sans ExtraBold"/>
              </a:rPr>
              <a:t>The Yield Channel</a:t>
            </a:r>
          </a:p>
          <a:p>
            <a:r>
              <a:rPr lang="en-US" sz="1900" dirty="0">
                <a:latin typeface="Open Sans" panose="020B0606030504020204" pitchFamily="34" charset="0"/>
                <a:ea typeface="Open Sans" panose="020B0606030504020204" pitchFamily="34" charset="0"/>
                <a:cs typeface="Open Sans" panose="020B0606030504020204" pitchFamily="34" charset="0"/>
              </a:rPr>
              <a:t>The hedge relationship between Treasuries and equities is not driven by the stress environment, it is driven by the direction of yields.</a:t>
            </a:r>
          </a:p>
          <a:p>
            <a:endParaRPr lang="en-US" sz="19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1900" b="1" dirty="0">
                <a:latin typeface="Open Sans" panose="020B0606030504020204" pitchFamily="34" charset="0"/>
                <a:ea typeface="Open Sans" panose="020B0606030504020204" pitchFamily="34" charset="0"/>
                <a:cs typeface="Open Sans" panose="020B0606030504020204" pitchFamily="34" charset="0"/>
              </a:rPr>
              <a:t>COVID:</a:t>
            </a:r>
            <a:r>
              <a:rPr lang="en-US" sz="1900" dirty="0">
                <a:latin typeface="Open Sans" panose="020B0606030504020204" pitchFamily="34" charset="0"/>
                <a:ea typeface="Open Sans" panose="020B0606030504020204" pitchFamily="34" charset="0"/>
                <a:cs typeface="Open Sans" panose="020B0606030504020204" pitchFamily="34" charset="0"/>
              </a:rPr>
              <a:t> The Fed cut rates to zero and launched unlimited QE, suppressing yields and allowing Treasuries to rise alongside falling equities </a:t>
            </a:r>
            <a:r>
              <a:rPr lang="en-US" sz="1900" i="1" dirty="0">
                <a:latin typeface="Open Sans" panose="020B0606030504020204" pitchFamily="34" charset="0"/>
                <a:ea typeface="Open Sans" panose="020B0606030504020204" pitchFamily="34" charset="0"/>
                <a:cs typeface="Open Sans" panose="020B0606030504020204" pitchFamily="34" charset="0"/>
              </a:rPr>
              <a:t>(+0.289% on stress days, Figure 2)</a:t>
            </a:r>
          </a:p>
          <a:p>
            <a:pPr marL="342900" indent="-342900">
              <a:buFont typeface="Arial" panose="020B0604020202020204" pitchFamily="34" charset="0"/>
              <a:buChar char="•"/>
            </a:pPr>
            <a:r>
              <a:rPr lang="en-US" sz="1900" b="1" dirty="0">
                <a:latin typeface="Open Sans" panose="020B0606030504020204" pitchFamily="34" charset="0"/>
                <a:ea typeface="Open Sans" panose="020B0606030504020204" pitchFamily="34" charset="0"/>
                <a:cs typeface="Open Sans" panose="020B0606030504020204" pitchFamily="34" charset="0"/>
              </a:rPr>
              <a:t>Rate Hike Cycle:</a:t>
            </a:r>
            <a:r>
              <a:rPr lang="en-US" sz="1900" dirty="0">
                <a:latin typeface="Open Sans" panose="020B0606030504020204" pitchFamily="34" charset="0"/>
                <a:ea typeface="Open Sans" panose="020B0606030504020204" pitchFamily="34" charset="0"/>
                <a:cs typeface="Open Sans" panose="020B0606030504020204" pitchFamily="34" charset="0"/>
              </a:rPr>
              <a:t> Starting from historically low yields of near 1.5% the Fed raised rates by 400 basis points in a single year, bond prices collapsed as yields surpassed 4%, producing one of Treasuries' worst annual losses </a:t>
            </a:r>
            <a:r>
              <a:rPr lang="en-US" sz="1900" i="1" dirty="0">
                <a:latin typeface="Open Sans" panose="020B0606030504020204" pitchFamily="34" charset="0"/>
                <a:ea typeface="Open Sans" panose="020B0606030504020204" pitchFamily="34" charset="0"/>
                <a:cs typeface="Open Sans" panose="020B0606030504020204" pitchFamily="34" charset="0"/>
              </a:rPr>
              <a:t>(−20.9% cumulative, Figure 3)</a:t>
            </a:r>
          </a:p>
          <a:p>
            <a:pPr marL="342900" indent="-342900">
              <a:buFont typeface="Arial" panose="020B0604020202020204" pitchFamily="34" charset="0"/>
              <a:buChar char="•"/>
            </a:pPr>
            <a:r>
              <a:rPr lang="en-US" sz="1900" b="1" dirty="0">
                <a:latin typeface="Open Sans" panose="020B0606030504020204" pitchFamily="34" charset="0"/>
                <a:ea typeface="Open Sans" panose="020B0606030504020204" pitchFamily="34" charset="0"/>
                <a:cs typeface="Open Sans" panose="020B0606030504020204" pitchFamily="34" charset="0"/>
              </a:rPr>
              <a:t>Supply pressure:</a:t>
            </a:r>
            <a:r>
              <a:rPr lang="en-US" sz="1900" dirty="0">
                <a:latin typeface="Open Sans" panose="020B0606030504020204" pitchFamily="34" charset="0"/>
                <a:ea typeface="Open Sans" panose="020B0606030504020204" pitchFamily="34" charset="0"/>
                <a:cs typeface="Open Sans" panose="020B0606030504020204" pitchFamily="34" charset="0"/>
              </a:rPr>
              <a:t> Quantitative tightening reduced Fed demand while deficit spending kept supply elevated. Major foreign holders including China and Japan simultaneously reduced their Treasury holdings, amplifying the sell-off</a:t>
            </a:r>
          </a:p>
          <a:p>
            <a:endParaRPr lang="en-US" sz="1900" dirty="0">
              <a:latin typeface="Open Sans" panose="020B0606030504020204" pitchFamily="34" charset="0"/>
              <a:ea typeface="Open Sans" panose="020B0606030504020204" pitchFamily="34" charset="0"/>
              <a:cs typeface="Open Sans" panose="020B0606030504020204" pitchFamily="34" charset="0"/>
            </a:endParaRPr>
          </a:p>
          <a:p>
            <a:r>
              <a:rPr lang="en-US" sz="1900" dirty="0">
                <a:latin typeface="Open Sans" panose="020B0606030504020204" pitchFamily="34" charset="0"/>
                <a:ea typeface="Open Sans" panose="020B0606030504020204" pitchFamily="34" charset="0"/>
                <a:cs typeface="Open Sans" panose="020B0606030504020204" pitchFamily="34" charset="0"/>
              </a:rPr>
              <a:t>The Fed's first rate cut on September 18, 2024, partially restored the negative Treasury–equity correlation </a:t>
            </a:r>
            <a:r>
              <a:rPr lang="en-US" sz="1900" i="1" dirty="0">
                <a:latin typeface="Open Sans" panose="020B0606030504020204" pitchFamily="34" charset="0"/>
                <a:ea typeface="Open Sans" panose="020B0606030504020204" pitchFamily="34" charset="0"/>
                <a:cs typeface="Open Sans" panose="020B0606030504020204" pitchFamily="34" charset="0"/>
              </a:rPr>
              <a:t>(visible in Figure 1).</a:t>
            </a:r>
            <a:endParaRPr lang="en-US" sz="1900" dirty="0">
              <a:latin typeface="Open Sans" panose="020B0606030504020204" pitchFamily="34" charset="0"/>
              <a:ea typeface="Open Sans" panose="020B0606030504020204" pitchFamily="34" charset="0"/>
              <a:cs typeface="Open Sans" panose="020B0606030504020204" pitchFamily="34" charset="0"/>
            </a:endParaRPr>
          </a:p>
          <a:p>
            <a:pPr marL="342900" indent="-342900">
              <a:buSzPts val="2100"/>
              <a:buFont typeface="Arial" panose="020B0604020202020204" pitchFamily="34" charset="0"/>
              <a:buChar char="•"/>
            </a:pPr>
            <a:endParaRPr lang="en-US" sz="1900" dirty="0">
              <a:solidFill>
                <a:schemeClr val="dk1"/>
              </a:solidFill>
              <a:latin typeface="Open Sans"/>
              <a:ea typeface="Open Sans"/>
              <a:cs typeface="Open Sans"/>
            </a:endParaRPr>
          </a:p>
          <a:p>
            <a:pPr lvl="0">
              <a:spcBef>
                <a:spcPts val="1050"/>
              </a:spcBef>
              <a:buSzPts val="2100"/>
            </a:pPr>
            <a:r>
              <a:rPr lang="en-US" sz="1900" dirty="0">
                <a:solidFill>
                  <a:schemeClr val="dk1"/>
                </a:solidFill>
                <a:latin typeface="Open Sans ExtraBold"/>
                <a:ea typeface="Open Sans ExtraBold"/>
                <a:cs typeface="Open Sans ExtraBold"/>
                <a:sym typeface="Open Sans ExtraBold"/>
              </a:rPr>
              <a:t>The Broad US Breakdown </a:t>
            </a:r>
          </a:p>
          <a:p>
            <a:r>
              <a:rPr lang="en-US" sz="1900" dirty="0">
                <a:latin typeface="Open Sans" panose="020B0606030504020204" pitchFamily="34" charset="0"/>
                <a:ea typeface="Open Sans" panose="020B0606030504020204" pitchFamily="34" charset="0"/>
                <a:cs typeface="Open Sans" panose="020B0606030504020204" pitchFamily="34" charset="0"/>
              </a:rPr>
              <a:t>The Broad USD Index was the most consistent hedge across two consecutive stress environments, until the United States itself became the source of the shock.</a:t>
            </a:r>
          </a:p>
          <a:p>
            <a:endParaRPr lang="en-US" sz="19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1900" b="1" dirty="0">
                <a:latin typeface="Open Sans" panose="020B0606030504020204" pitchFamily="34" charset="0"/>
                <a:ea typeface="Open Sans" panose="020B0606030504020204" pitchFamily="34" charset="0"/>
                <a:cs typeface="Open Sans" panose="020B0606030504020204" pitchFamily="34" charset="0"/>
              </a:rPr>
              <a:t>Rate Hike Cycle: </a:t>
            </a:r>
            <a:r>
              <a:rPr lang="en-US" sz="1900" dirty="0">
                <a:latin typeface="Open Sans" panose="020B0606030504020204" pitchFamily="34" charset="0"/>
                <a:ea typeface="Open Sans" panose="020B0606030504020204" pitchFamily="34" charset="0"/>
                <a:cs typeface="Open Sans" panose="020B0606030504020204" pitchFamily="34" charset="0"/>
              </a:rPr>
              <a:t>As the Fed raised rates by more than 400 basis points, faster than any other major central bank, global capital flowed into dollar-denominated assets for yield and stability </a:t>
            </a:r>
            <a:r>
              <a:rPr lang="en-US" sz="1900" i="1" dirty="0">
                <a:latin typeface="Open Sans" panose="020B0606030504020204" pitchFamily="34" charset="0"/>
                <a:ea typeface="Open Sans" panose="020B0606030504020204" pitchFamily="34" charset="0"/>
                <a:cs typeface="Open Sans" panose="020B0606030504020204" pitchFamily="34" charset="0"/>
              </a:rPr>
              <a:t>(+0.211% on stress days, Figure 2). </a:t>
            </a:r>
          </a:p>
          <a:p>
            <a:pPr marL="342900" indent="-342900">
              <a:buFont typeface="Arial" panose="020B0604020202020204" pitchFamily="34" charset="0"/>
              <a:buChar char="•"/>
            </a:pPr>
            <a:r>
              <a:rPr lang="en-US" sz="1900" b="1" dirty="0">
                <a:latin typeface="Open Sans" panose="020B0606030504020204" pitchFamily="34" charset="0"/>
                <a:ea typeface="Open Sans" panose="020B0606030504020204" pitchFamily="34" charset="0"/>
                <a:cs typeface="Open Sans" panose="020B0606030504020204" pitchFamily="34" charset="0"/>
              </a:rPr>
              <a:t>Trade Volatility: </a:t>
            </a:r>
            <a:r>
              <a:rPr lang="en-US" sz="1900" dirty="0">
                <a:latin typeface="Open Sans" panose="020B0606030504020204" pitchFamily="34" charset="0"/>
                <a:ea typeface="Open Sans" panose="020B0606030504020204" pitchFamily="34" charset="0"/>
                <a:cs typeface="Open Sans" panose="020B0606030504020204" pitchFamily="34" charset="0"/>
              </a:rPr>
              <a:t>The dollar fell over 9% in 2025, its worst annual performance since 2017. Sweeping tariffs, threats to Fed independence, and the longest government shutdown in US history eroded confidence in dollar-denominated assets </a:t>
            </a:r>
            <a:r>
              <a:rPr lang="en-US" sz="1900" i="1" dirty="0">
                <a:latin typeface="Open Sans" panose="020B0606030504020204" pitchFamily="34" charset="0"/>
                <a:ea typeface="Open Sans" panose="020B0606030504020204" pitchFamily="34" charset="0"/>
                <a:cs typeface="Open Sans" panose="020B0606030504020204" pitchFamily="34" charset="0"/>
              </a:rPr>
              <a:t>(−8.2% cumulative, Figure 3)</a:t>
            </a:r>
          </a:p>
          <a:p>
            <a:pPr marL="342900" indent="-342900">
              <a:buFont typeface="Arial" panose="020B0604020202020204" pitchFamily="34" charset="0"/>
              <a:buChar char="•"/>
            </a:pPr>
            <a:r>
              <a:rPr lang="en-US" sz="1900" b="1" dirty="0">
                <a:latin typeface="Open Sans" panose="020B0606030504020204" pitchFamily="34" charset="0"/>
                <a:ea typeface="Open Sans" panose="020B0606030504020204" pitchFamily="34" charset="0"/>
                <a:cs typeface="Open Sans" panose="020B0606030504020204" pitchFamily="34" charset="0"/>
              </a:rPr>
              <a:t>The "Sell America" trade: </a:t>
            </a:r>
            <a:r>
              <a:rPr lang="en-US" sz="1900" dirty="0">
                <a:latin typeface="Open Sans" panose="020B0606030504020204" pitchFamily="34" charset="0"/>
                <a:ea typeface="Open Sans" panose="020B0606030504020204" pitchFamily="34" charset="0"/>
                <a:cs typeface="Open Sans" panose="020B0606030504020204" pitchFamily="34" charset="0"/>
              </a:rPr>
              <a:t>When the shock originates from US policy itself, the dollar loses its safe-haven demand, foreign investors began selling American assets rather than buying them, reversing the safe-haven flow </a:t>
            </a:r>
            <a:r>
              <a:rPr lang="en-US" sz="1900" i="1" dirty="0">
                <a:latin typeface="Open Sans" panose="020B0606030504020204" pitchFamily="34" charset="0"/>
                <a:ea typeface="Open Sans" panose="020B0606030504020204" pitchFamily="34" charset="0"/>
                <a:cs typeface="Open Sans" panose="020B0606030504020204" pitchFamily="34" charset="0"/>
              </a:rPr>
              <a:t>(−0.030% on stress days, Figure 2)</a:t>
            </a:r>
          </a:p>
          <a:p>
            <a:pPr marL="342900" indent="-342900">
              <a:buSzPts val="2100"/>
              <a:buFont typeface="Arial" panose="020B0604020202020204" pitchFamily="34" charset="0"/>
              <a:buChar char="•"/>
            </a:pPr>
            <a:endParaRPr sz="1900" dirty="0">
              <a:latin typeface="Open Sans" panose="020B0606030504020204" pitchFamily="34" charset="0"/>
              <a:ea typeface="Open Sans" panose="020B0606030504020204" pitchFamily="34" charset="0"/>
              <a:cs typeface="Open Sans" panose="020B0606030504020204" pitchFamily="34" charset="0"/>
            </a:endParaRPr>
          </a:p>
          <a:p>
            <a:pPr lvl="0">
              <a:spcBef>
                <a:spcPts val="1050"/>
              </a:spcBef>
              <a:buSzPts val="2100"/>
            </a:pPr>
            <a:r>
              <a:rPr lang="en-US" sz="1900" dirty="0">
                <a:solidFill>
                  <a:schemeClr val="dk1"/>
                </a:solidFill>
                <a:latin typeface="Open Sans ExtraBold"/>
                <a:ea typeface="Open Sans ExtraBold"/>
                <a:cs typeface="Open Sans ExtraBold"/>
                <a:sym typeface="Open Sans ExtraBold"/>
              </a:rPr>
              <a:t>Asset Level Dynamics</a:t>
            </a:r>
          </a:p>
          <a:p>
            <a:r>
              <a:rPr lang="en-US" sz="1900" dirty="0">
                <a:latin typeface="Open Sans" panose="020B0606030504020204" pitchFamily="34" charset="0"/>
                <a:ea typeface="Open Sans" panose="020B0606030504020204" pitchFamily="34" charset="0"/>
                <a:cs typeface="Open Sans" panose="020B0606030504020204" pitchFamily="34" charset="0"/>
              </a:rPr>
              <a:t>Not every asset failed or succeeded for the same reason, as each responded to its own structural driver.</a:t>
            </a:r>
          </a:p>
          <a:p>
            <a:pPr marL="342900" indent="-342900">
              <a:buFont typeface="Arial" panose="020B0604020202020204" pitchFamily="34" charset="0"/>
              <a:buChar char="•"/>
            </a:pPr>
            <a:endParaRPr lang="en-US" sz="19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1900" b="1" dirty="0">
                <a:latin typeface="Open Sans" panose="020B0606030504020204" pitchFamily="34" charset="0"/>
                <a:ea typeface="Open Sans" panose="020B0606030504020204" pitchFamily="34" charset="0"/>
                <a:cs typeface="Open Sans" panose="020B0606030504020204" pitchFamily="34" charset="0"/>
              </a:rPr>
              <a:t>JPY: </a:t>
            </a:r>
            <a:r>
              <a:rPr lang="en-US" sz="1900" dirty="0">
                <a:latin typeface="Open Sans" panose="020B0606030504020204" pitchFamily="34" charset="0"/>
                <a:ea typeface="Open Sans" panose="020B0606030504020204" pitchFamily="34" charset="0"/>
                <a:cs typeface="Open Sans" panose="020B0606030504020204" pitchFamily="34" charset="0"/>
              </a:rPr>
              <a:t>The Yen turned significantly negative during the rate hike cycle </a:t>
            </a:r>
            <a:r>
              <a:rPr lang="en-US" sz="1900" i="1" dirty="0">
                <a:latin typeface="Open Sans" panose="020B0606030504020204" pitchFamily="34" charset="0"/>
                <a:ea typeface="Open Sans" panose="020B0606030504020204" pitchFamily="34" charset="0"/>
                <a:cs typeface="Open Sans" panose="020B0606030504020204" pitchFamily="34" charset="0"/>
              </a:rPr>
              <a:t>(−0.132%, Figure 2) </a:t>
            </a:r>
            <a:r>
              <a:rPr lang="en-US" sz="1900" dirty="0">
                <a:latin typeface="Open Sans" panose="020B0606030504020204" pitchFamily="34" charset="0"/>
                <a:ea typeface="Open Sans" panose="020B0606030504020204" pitchFamily="34" charset="0"/>
                <a:cs typeface="Open Sans" panose="020B0606030504020204" pitchFamily="34" charset="0"/>
              </a:rPr>
              <a:t>because of a simple trade: when US interest rates are much higher than Japanese rates, investors borrow cheaply in yen and invest in higher-yielding dollar assets. This "carry trade" meant the yen was actively being sold, even on days when equities were falling, making it the opposite of a safe-haven during this period</a:t>
            </a:r>
          </a:p>
          <a:p>
            <a:pPr marL="342900" indent="-342900">
              <a:buFont typeface="Arial" panose="020B0604020202020204" pitchFamily="34" charset="0"/>
              <a:buChar char="•"/>
            </a:pPr>
            <a:r>
              <a:rPr lang="en-US" sz="1900" b="1" dirty="0">
                <a:latin typeface="Open Sans" panose="020B0606030504020204" pitchFamily="34" charset="0"/>
                <a:ea typeface="Open Sans" panose="020B0606030504020204" pitchFamily="34" charset="0"/>
                <a:cs typeface="Open Sans" panose="020B0606030504020204" pitchFamily="34" charset="0"/>
              </a:rPr>
              <a:t>Gold: </a:t>
            </a:r>
            <a:r>
              <a:rPr lang="en-US" sz="1900" dirty="0">
                <a:latin typeface="Open Sans" panose="020B0606030504020204" pitchFamily="34" charset="0"/>
                <a:ea typeface="Open Sans" panose="020B0606030504020204" pitchFamily="34" charset="0"/>
                <a:cs typeface="Open Sans" panose="020B0606030504020204" pitchFamily="34" charset="0"/>
              </a:rPr>
              <a:t>Despite being the strongest cumulative performer across all three regimes </a:t>
            </a:r>
            <a:r>
              <a:rPr lang="en-US" sz="1900" i="1" dirty="0">
                <a:latin typeface="Open Sans" panose="020B0606030504020204" pitchFamily="34" charset="0"/>
                <a:ea typeface="Open Sans" panose="020B0606030504020204" pitchFamily="34" charset="0"/>
                <a:cs typeface="Open Sans" panose="020B0606030504020204" pitchFamily="34" charset="0"/>
              </a:rPr>
              <a:t>(+70.7% during trade volatility, Figure 3), </a:t>
            </a:r>
            <a:r>
              <a:rPr lang="en-US" sz="1900" dirty="0">
                <a:latin typeface="Open Sans" panose="020B0606030504020204" pitchFamily="34" charset="0"/>
                <a:ea typeface="Open Sans" panose="020B0606030504020204" pitchFamily="34" charset="0"/>
                <a:cs typeface="Open Sans" panose="020B0606030504020204" pitchFamily="34" charset="0"/>
              </a:rPr>
              <a:t>Gold failed to provide reliable protection on individual stress days in any crisis. Gold moves slowly and steadily in response to long-term uncertainty (tariffs, geopolitical risk, dollar weakness). </a:t>
            </a:r>
          </a:p>
          <a:p>
            <a:pPr marL="342900" indent="-342900">
              <a:buFont typeface="Arial" panose="020B0604020202020204" pitchFamily="34" charset="0"/>
              <a:buChar char="•"/>
            </a:pPr>
            <a:endParaRPr lang="en-US" sz="1900" dirty="0">
              <a:latin typeface="Open Sans" panose="020B0606030504020204" pitchFamily="34" charset="0"/>
              <a:ea typeface="Open Sans" panose="020B0606030504020204" pitchFamily="34" charset="0"/>
              <a:cs typeface="Open Sans" panose="020B0606030504020204" pitchFamily="34" charset="0"/>
            </a:endParaRPr>
          </a:p>
          <a:p>
            <a:r>
              <a:rPr lang="en-US" sz="2400" dirty="0">
                <a:solidFill>
                  <a:srgbClr val="501214"/>
                </a:solidFill>
                <a:latin typeface="Open Sans ExtraBold"/>
                <a:ea typeface="Open Sans ExtraBold"/>
                <a:cs typeface="Open Sans ExtraBold"/>
                <a:sym typeface="Open Sans ExtraBold"/>
              </a:rPr>
              <a:t>Conclusion</a:t>
            </a:r>
            <a:endParaRPr lang="en-US" sz="1900" dirty="0">
              <a:latin typeface="Open Sans" panose="020B0606030504020204" pitchFamily="34" charset="0"/>
              <a:ea typeface="Open Sans" panose="020B0606030504020204" pitchFamily="34" charset="0"/>
              <a:cs typeface="Open Sans" panose="020B0606030504020204" pitchFamily="34" charset="0"/>
            </a:endParaRPr>
          </a:p>
          <a:p>
            <a:endParaRPr lang="en-US" sz="1900" dirty="0">
              <a:latin typeface="Open Sans" panose="020B0606030504020204" pitchFamily="34" charset="0"/>
              <a:ea typeface="Open Sans" panose="020B0606030504020204" pitchFamily="34" charset="0"/>
              <a:cs typeface="Open Sans" panose="020B0606030504020204" pitchFamily="34" charset="0"/>
            </a:endParaRPr>
          </a:p>
          <a:p>
            <a:r>
              <a:rPr lang="en-US" sz="1900" dirty="0">
                <a:latin typeface="Open Sans" panose="020B0606030504020204" pitchFamily="34" charset="0"/>
                <a:ea typeface="Open Sans" panose="020B0606030504020204" pitchFamily="34" charset="0"/>
                <a:cs typeface="Open Sans" panose="020B0606030504020204" pitchFamily="34" charset="0"/>
              </a:rPr>
              <a:t>This study aims to explore a simple question: </a:t>
            </a:r>
            <a:r>
              <a:rPr lang="en-US" sz="1900" b="1" dirty="0">
                <a:latin typeface="Open Sans" panose="020B0606030504020204" pitchFamily="34" charset="0"/>
                <a:ea typeface="Open Sans" panose="020B0606030504020204" pitchFamily="34" charset="0"/>
                <a:cs typeface="Open Sans" panose="020B0606030504020204" pitchFamily="34" charset="0"/>
              </a:rPr>
              <a:t>which safe assets protect investors when equities fall? </a:t>
            </a:r>
            <a:r>
              <a:rPr lang="en-US" sz="1900" dirty="0">
                <a:latin typeface="Open Sans" panose="020B0606030504020204" pitchFamily="34" charset="0"/>
                <a:ea typeface="Open Sans" panose="020B0606030504020204" pitchFamily="34" charset="0"/>
                <a:cs typeface="Open Sans" panose="020B0606030504020204" pitchFamily="34" charset="0"/>
              </a:rPr>
              <a:t>The answer is, it depends. Treasuries and the Broad USD Index were reliable during COVID but broke down when yields rose and when the United States itself became the source of the shock. Gold rallied strongly, delivering +70.7% cumulatively during trade volatility while failing on individual stress days.</a:t>
            </a:r>
          </a:p>
          <a:p>
            <a:endParaRPr lang="en-US" sz="1900" dirty="0">
              <a:latin typeface="Open Sans" panose="020B0606030504020204" pitchFamily="34" charset="0"/>
              <a:ea typeface="Open Sans" panose="020B0606030504020204" pitchFamily="34" charset="0"/>
              <a:cs typeface="Open Sans" panose="020B0606030504020204" pitchFamily="34" charset="0"/>
            </a:endParaRPr>
          </a:p>
          <a:p>
            <a:r>
              <a:rPr lang="en-US" sz="1900" b="1" dirty="0">
                <a:latin typeface="Open Sans" panose="020B0606030504020204" pitchFamily="34" charset="0"/>
                <a:ea typeface="Open Sans" panose="020B0606030504020204" pitchFamily="34" charset="0"/>
                <a:cs typeface="Open Sans" panose="020B0606030504020204" pitchFamily="34" charset="0"/>
              </a:rPr>
              <a:t>The deeper finding is this: </a:t>
            </a:r>
            <a:r>
              <a:rPr lang="en-US" sz="1900" dirty="0">
                <a:latin typeface="Open Sans" panose="020B0606030504020204" pitchFamily="34" charset="0"/>
                <a:ea typeface="Open Sans" panose="020B0606030504020204" pitchFamily="34" charset="0"/>
                <a:cs typeface="Open Sans" panose="020B0606030504020204" pitchFamily="34" charset="0"/>
              </a:rPr>
              <a:t>safe asset performance is conditional on the economic environment driving the crisis. Specifically, the direction of yields, the origin of the shock, and the structural incentives facing global investors at any given moment. As trade policy continues to reshape global capital flows and the role of the dollar as a reserve currency faces renewed scrutiny, the question this study raises is: if long-duration bonds are not always a cushion, and the dollar cannot always be trusted, </a:t>
            </a:r>
            <a:r>
              <a:rPr lang="en-US" sz="1900" i="1" dirty="0">
                <a:latin typeface="Open Sans" panose="020B0606030504020204" pitchFamily="34" charset="0"/>
                <a:ea typeface="Open Sans" panose="020B0606030504020204" pitchFamily="34" charset="0"/>
                <a:cs typeface="Open Sans" panose="020B0606030504020204" pitchFamily="34" charset="0"/>
              </a:rPr>
              <a:t>what truly qualifies as a safe-haven?</a:t>
            </a:r>
          </a:p>
          <a:p>
            <a:pPr>
              <a:buSzPts val="2100"/>
            </a:pPr>
            <a:endParaRPr lang="en-US" sz="1900"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dirty="0">
              <a:solidFill>
                <a:schemeClr val="dk1"/>
              </a:solidFill>
              <a:latin typeface="Arial"/>
              <a:ea typeface="Arial"/>
              <a:cs typeface="Arial"/>
              <a:sym typeface="Arial"/>
            </a:endParaRPr>
          </a:p>
        </p:txBody>
      </p:sp>
      <p:sp>
        <p:nvSpPr>
          <p:cNvPr id="350" name="Google Shape;350;p1"/>
          <p:cNvSpPr/>
          <p:nvPr/>
        </p:nvSpPr>
        <p:spPr>
          <a:xfrm>
            <a:off x="2543136" y="10798632"/>
            <a:ext cx="9650251" cy="20046418"/>
          </a:xfrm>
          <a:prstGeom prst="rect">
            <a:avLst/>
          </a:prstGeom>
          <a:solidFill>
            <a:schemeClr val="lt1"/>
          </a:solidFill>
          <a:ln>
            <a:noFill/>
          </a:ln>
        </p:spPr>
        <p:txBody>
          <a:bodyPr spcFirstLastPara="1" wrap="square" lIns="270000" tIns="270000" rIns="270000" bIns="27000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dirty="0">
                <a:solidFill>
                  <a:srgbClr val="501214"/>
                </a:solidFill>
                <a:latin typeface="Open Sans ExtraBold"/>
                <a:ea typeface="Open Sans ExtraBold"/>
                <a:cs typeface="Open Sans ExtraBold"/>
                <a:sym typeface="Open Sans ExtraBold"/>
              </a:rPr>
              <a:t>Introduction &amp; Significance</a:t>
            </a:r>
          </a:p>
          <a:p>
            <a:pPr marL="0" marR="0" lvl="0" indent="0" algn="l" rtl="0">
              <a:lnSpc>
                <a:spcPct val="100000"/>
              </a:lnSpc>
              <a:spcBef>
                <a:spcPts val="0"/>
              </a:spcBef>
              <a:spcAft>
                <a:spcPts val="0"/>
              </a:spcAft>
              <a:buClr>
                <a:srgbClr val="000000"/>
              </a:buClr>
              <a:buSzPts val="3000"/>
              <a:buFont typeface="Arial"/>
              <a:buNone/>
            </a:pPr>
            <a:endParaRPr lang="en-US" sz="2000" b="0" i="0" u="none" strike="noStrike" cap="none" dirty="0">
              <a:solidFill>
                <a:srgbClr val="501214"/>
              </a:solidFill>
              <a:latin typeface="Open Sans ExtraBold"/>
              <a:ea typeface="Open Sans ExtraBold"/>
              <a:cs typeface="Open Sans ExtraBold"/>
              <a:sym typeface="Open Sans ExtraBold"/>
            </a:endParaRPr>
          </a:p>
          <a:p>
            <a:pPr>
              <a:buSzPts val="2100"/>
            </a:pPr>
            <a:r>
              <a:rPr lang="en-US" sz="2000" dirty="0">
                <a:solidFill>
                  <a:schemeClr val="dk1"/>
                </a:solidFill>
                <a:latin typeface="Open Sans"/>
                <a:ea typeface="Open Sans"/>
                <a:cs typeface="Open Sans"/>
                <a:sym typeface="Open Sans"/>
              </a:rPr>
              <a:t>In 2022, one the the most reliable relationships in portfolio management broke down. For decades, US Treasuries rose when equities fell. This negative correlation formed the foundation of the classic 60/40 portfolio. Then, as the Federal Reserve began its most aggressive rate hike cycle, bonds and stocks fell together. The hedge flipped. This study asks </a:t>
            </a:r>
            <a:r>
              <a:rPr lang="en-US" sz="2000" i="1" dirty="0">
                <a:solidFill>
                  <a:schemeClr val="dk1"/>
                </a:solidFill>
                <a:latin typeface="Open Sans"/>
                <a:ea typeface="Open Sans"/>
                <a:cs typeface="Open Sans"/>
                <a:sym typeface="Open Sans"/>
              </a:rPr>
              <a:t>why</a:t>
            </a:r>
            <a:r>
              <a:rPr lang="en-US" sz="2000" dirty="0">
                <a:solidFill>
                  <a:schemeClr val="dk1"/>
                </a:solidFill>
                <a:latin typeface="Open Sans"/>
                <a:ea typeface="Open Sans"/>
                <a:cs typeface="Open Sans"/>
                <a:sym typeface="Open Sans"/>
              </a:rPr>
              <a:t>, and</a:t>
            </a:r>
            <a:r>
              <a:rPr lang="en-US" sz="2000" b="1" dirty="0">
                <a:solidFill>
                  <a:schemeClr val="dk1"/>
                </a:solidFill>
                <a:latin typeface="Open Sans"/>
                <a:ea typeface="Open Sans"/>
                <a:cs typeface="Open Sans"/>
                <a:sym typeface="Open Sans"/>
              </a:rPr>
              <a:t> </a:t>
            </a:r>
            <a:r>
              <a:rPr lang="en-US" sz="2000" dirty="0">
                <a:solidFill>
                  <a:schemeClr val="dk1"/>
                </a:solidFill>
                <a:latin typeface="Open Sans"/>
                <a:ea typeface="Open Sans"/>
                <a:cs typeface="Open Sans"/>
                <a:sym typeface="Open Sans"/>
              </a:rPr>
              <a:t>whether other </a:t>
            </a:r>
            <a:r>
              <a:rPr lang="en-US" sz="2000" b="1" dirty="0">
                <a:solidFill>
                  <a:schemeClr val="dk1"/>
                </a:solidFill>
                <a:latin typeface="Open Sans"/>
                <a:ea typeface="Open Sans"/>
                <a:cs typeface="Open Sans"/>
                <a:sym typeface="Open Sans"/>
              </a:rPr>
              <a:t>safe assets held where Treasuries failed. </a:t>
            </a:r>
          </a:p>
          <a:p>
            <a:pPr>
              <a:buSzPts val="2100"/>
            </a:pPr>
            <a:endParaRPr lang="en-US" sz="2000" b="1" dirty="0">
              <a:solidFill>
                <a:schemeClr val="dk1"/>
              </a:solidFill>
              <a:latin typeface="Open Sans"/>
              <a:ea typeface="Open Sans"/>
              <a:cs typeface="Open Sans"/>
              <a:sym typeface="Open Sans"/>
            </a:endParaRPr>
          </a:p>
          <a:p>
            <a:pPr>
              <a:buSzPts val="2100"/>
            </a:pPr>
            <a:r>
              <a:rPr lang="en-US" sz="2000" dirty="0">
                <a:solidFill>
                  <a:schemeClr val="dk1"/>
                </a:solidFill>
                <a:latin typeface="Open Sans"/>
                <a:ea typeface="Open Sans"/>
                <a:cs typeface="Open Sans"/>
                <a:sym typeface="Open Sans"/>
              </a:rPr>
              <a:t>This study examine five assets: The 10-Year Treasury (DGS10, FRED), Gold, the Swiss Franc (CHF), the Japanese Yen (JPY), and the Broad USD Index (DTWEXBGS, FRED), using daily return data from January 2019 through February 2026 across three stress environments: </a:t>
            </a: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000" dirty="0">
              <a:solidFill>
                <a:schemeClr val="dk1"/>
              </a:solidFill>
              <a:latin typeface="Open Sans"/>
              <a:ea typeface="Open Sans"/>
              <a:cs typeface="Open Sans"/>
              <a:sym typeface="Open Sans"/>
            </a:endParaRPr>
          </a:p>
          <a:p>
            <a:pPr>
              <a:buSzPts val="2100"/>
            </a:pPr>
            <a:endParaRPr lang="en-US" sz="2000" dirty="0">
              <a:solidFill>
                <a:schemeClr val="dk1"/>
              </a:solidFill>
              <a:latin typeface="Open Sans"/>
              <a:ea typeface="Open Sans"/>
              <a:cs typeface="Open Sans"/>
              <a:sym typeface="Open Sans"/>
            </a:endParaRPr>
          </a:p>
          <a:p>
            <a:pPr>
              <a:buSzPts val="2100"/>
            </a:pPr>
            <a:r>
              <a:rPr lang="en-US" sz="2000" dirty="0">
                <a:solidFill>
                  <a:schemeClr val="dk1"/>
                </a:solidFill>
                <a:latin typeface="Open Sans"/>
                <a:ea typeface="Open Sans"/>
                <a:cs typeface="Open Sans"/>
                <a:sym typeface="Open Sans"/>
              </a:rPr>
              <a:t>The three regimes were selected to represent fundamentally different economic shock types and yield environments. The COVID shock captures a more panic driven collapse with near zero rates and massive fiscal stimulus. The rate hike cycle represents the sharpest Fed tightening in four decades, while the trade volatility period, which is anchored by Liberation Day (April 2, 2025), when sweeping US reciprocal tariffs triggered an immediate repricing across all asset classes captures policy uncertainty with no clear yield direction. </a:t>
            </a:r>
            <a:endParaRPr lang="en-US" sz="20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r>
              <a:rPr lang="en-US" sz="2400" dirty="0">
                <a:solidFill>
                  <a:srgbClr val="501214"/>
                </a:solidFill>
                <a:latin typeface="Open Sans ExtraBold"/>
                <a:ea typeface="Open Sans ExtraBold"/>
                <a:cs typeface="Open Sans ExtraBold"/>
                <a:sym typeface="Open Sans ExtraBold"/>
              </a:rPr>
              <a:t>Methods </a:t>
            </a:r>
          </a:p>
          <a:p>
            <a:pPr>
              <a:buSzPts val="2100"/>
            </a:pPr>
            <a:endParaRPr lang="en-US" sz="2400" b="1" dirty="0">
              <a:solidFill>
                <a:srgbClr val="501214"/>
              </a:solidFill>
              <a:latin typeface="Open Sans ExtraBold"/>
              <a:ea typeface="Open Sans ExtraBold"/>
              <a:cs typeface="Open Sans ExtraBold"/>
              <a:sym typeface="Open Sans ExtraBold"/>
            </a:endParaRPr>
          </a:p>
          <a:p>
            <a:pPr marL="342900" indent="-342900">
              <a:buSzPts val="2100"/>
              <a:buFont typeface="Arial" panose="020B0604020202020204" pitchFamily="34" charset="0"/>
              <a:buChar char="•"/>
            </a:pPr>
            <a:r>
              <a:rPr lang="en-US" sz="2000" b="1" dirty="0">
                <a:solidFill>
                  <a:schemeClr val="dk1"/>
                </a:solidFill>
                <a:latin typeface="Open Sans"/>
                <a:ea typeface="Open Sans"/>
                <a:cs typeface="Open Sans"/>
                <a:sym typeface="Open Sans"/>
              </a:rPr>
              <a:t>Stress-day Returns: </a:t>
            </a:r>
            <a:r>
              <a:rPr lang="en-US" sz="2000" dirty="0">
                <a:solidFill>
                  <a:schemeClr val="dk1"/>
                </a:solidFill>
                <a:latin typeface="Open Sans"/>
                <a:ea typeface="Open Sans"/>
                <a:cs typeface="Open Sans"/>
                <a:sym typeface="Open Sans"/>
              </a:rPr>
              <a:t>Mean daily returns on S&amp;P500 &lt; -1% days, block-bootstrapped 95% CI </a:t>
            </a:r>
            <a:r>
              <a:rPr lang="en-US" sz="2000" i="1" dirty="0">
                <a:solidFill>
                  <a:schemeClr val="dk1"/>
                </a:solidFill>
                <a:latin typeface="Open Sans"/>
                <a:ea typeface="Open Sans"/>
                <a:cs typeface="Open Sans"/>
                <a:sym typeface="Open Sans"/>
              </a:rPr>
              <a:t>(block size = 5; B =10000)</a:t>
            </a:r>
          </a:p>
          <a:p>
            <a:pPr marL="342900" indent="-342900">
              <a:buSzPts val="2100"/>
              <a:buFont typeface="Arial" panose="020B0604020202020204" pitchFamily="34" charset="0"/>
              <a:buChar char="•"/>
            </a:pPr>
            <a:r>
              <a:rPr lang="en-US" sz="2000" b="1" dirty="0">
                <a:solidFill>
                  <a:schemeClr val="dk1"/>
                </a:solidFill>
                <a:latin typeface="Open Sans"/>
                <a:ea typeface="Open Sans"/>
                <a:cs typeface="Open Sans"/>
                <a:sym typeface="Open Sans"/>
              </a:rPr>
              <a:t>Rolling Correlations: </a:t>
            </a:r>
            <a:r>
              <a:rPr lang="en-US" sz="2000" dirty="0">
                <a:solidFill>
                  <a:schemeClr val="dk1"/>
                </a:solidFill>
                <a:latin typeface="Open Sans"/>
                <a:ea typeface="Open Sans"/>
                <a:cs typeface="Open Sans"/>
                <a:sym typeface="Open Sans"/>
              </a:rPr>
              <a:t>60-day rolling correlation between each asset and the S&amp;P 500.</a:t>
            </a:r>
          </a:p>
          <a:p>
            <a:pPr marL="342900" indent="-342900">
              <a:buSzPts val="2100"/>
              <a:buFont typeface="Arial" panose="020B0604020202020204" pitchFamily="34" charset="0"/>
              <a:buChar char="•"/>
            </a:pPr>
            <a:r>
              <a:rPr lang="en-US" sz="2000" b="1" dirty="0">
                <a:solidFill>
                  <a:schemeClr val="dk1"/>
                </a:solidFill>
                <a:latin typeface="Open Sans"/>
                <a:ea typeface="Open Sans"/>
                <a:cs typeface="Open Sans"/>
                <a:sym typeface="Open Sans"/>
              </a:rPr>
              <a:t>Treasury Returns </a:t>
            </a:r>
            <a:r>
              <a:rPr lang="en-US" sz="2000" dirty="0">
                <a:solidFill>
                  <a:schemeClr val="dk1"/>
                </a:solidFill>
                <a:latin typeface="Open Sans"/>
                <a:ea typeface="Open Sans"/>
                <a:cs typeface="Open Sans"/>
                <a:sym typeface="Open Sans"/>
              </a:rPr>
              <a:t>approximated using a modified duration: </a:t>
            </a:r>
            <a:r>
              <a:rPr lang="en-US" sz="2000" dirty="0">
                <a:solidFill>
                  <a:schemeClr val="dk1"/>
                </a:solidFill>
                <a:latin typeface="Open Sans"/>
                <a:ea typeface="Open Sans"/>
                <a:cs typeface="Open Sans"/>
              </a:rPr>
              <a:t>r = −D × </a:t>
            </a:r>
            <a:r>
              <a:rPr lang="el-GR" sz="2000" dirty="0">
                <a:solidFill>
                  <a:schemeClr val="dk1"/>
                </a:solidFill>
                <a:latin typeface="Open Sans"/>
                <a:ea typeface="Open Sans"/>
                <a:cs typeface="Open Sans"/>
              </a:rPr>
              <a:t>Δ</a:t>
            </a:r>
            <a:r>
              <a:rPr lang="en-US" sz="2000" dirty="0">
                <a:solidFill>
                  <a:schemeClr val="dk1"/>
                </a:solidFill>
                <a:latin typeface="Open Sans"/>
                <a:ea typeface="Open Sans"/>
                <a:cs typeface="Open Sans"/>
              </a:rPr>
              <a:t>y, where D = 10/(1+y), applied to daily DGS10 yield changes</a:t>
            </a:r>
          </a:p>
          <a:p>
            <a:pPr>
              <a:buSzPts val="2100"/>
            </a:pPr>
            <a:endParaRPr lang="en-US" sz="2100" dirty="0">
              <a:solidFill>
                <a:schemeClr val="dk1"/>
              </a:solidFill>
              <a:latin typeface="Open Sans"/>
              <a:ea typeface="Open Sans"/>
              <a:cs typeface="Open Sans"/>
              <a:sym typeface="Open Sans"/>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p:txBody>
      </p:sp>
      <p:pic>
        <p:nvPicPr>
          <p:cNvPr id="354" name="Google Shape;354;p1"/>
          <p:cNvPicPr preferRelativeResize="0"/>
          <p:nvPr/>
        </p:nvPicPr>
        <p:blipFill rotWithShape="1">
          <a:blip r:embed="rId3">
            <a:alphaModFix/>
          </a:blip>
          <a:srcRect/>
          <a:stretch/>
        </p:blipFill>
        <p:spPr>
          <a:xfrm>
            <a:off x="33983738" y="29441918"/>
            <a:ext cx="7092248" cy="1119537"/>
          </a:xfrm>
          <a:prstGeom prst="rect">
            <a:avLst/>
          </a:prstGeom>
          <a:noFill/>
          <a:ln>
            <a:noFill/>
          </a:ln>
        </p:spPr>
      </p:pic>
      <p:graphicFrame>
        <p:nvGraphicFramePr>
          <p:cNvPr id="13" name="Table 12">
            <a:extLst>
              <a:ext uri="{FF2B5EF4-FFF2-40B4-BE49-F238E27FC236}">
                <a16:creationId xmlns:a16="http://schemas.microsoft.com/office/drawing/2014/main" id="{C57F4D51-E0A2-9AB0-E46E-719532B312C2}"/>
              </a:ext>
            </a:extLst>
          </p:cNvPr>
          <p:cNvGraphicFramePr>
            <a:graphicFrameLocks noGrp="1"/>
          </p:cNvGraphicFramePr>
          <p:nvPr>
            <p:extLst>
              <p:ext uri="{D42A27DB-BD31-4B8C-83A1-F6EECF244321}">
                <p14:modId xmlns:p14="http://schemas.microsoft.com/office/powerpoint/2010/main" val="3909583896"/>
              </p:ext>
            </p:extLst>
          </p:nvPr>
        </p:nvGraphicFramePr>
        <p:xfrm>
          <a:off x="4013411" y="15645097"/>
          <a:ext cx="6350508" cy="2909827"/>
        </p:xfrm>
        <a:graphic>
          <a:graphicData uri="http://schemas.openxmlformats.org/drawingml/2006/table">
            <a:tbl>
              <a:tblPr firstRow="1" bandRow="1">
                <a:tableStyleId>{BDBED569-4797-4DF1-A0F4-6AAB3CD982D8}</a:tableStyleId>
              </a:tblPr>
              <a:tblGrid>
                <a:gridCol w="1885162">
                  <a:extLst>
                    <a:ext uri="{9D8B030D-6E8A-4147-A177-3AD203B41FA5}">
                      <a16:colId xmlns:a16="http://schemas.microsoft.com/office/drawing/2014/main" val="2889725483"/>
                    </a:ext>
                  </a:extLst>
                </a:gridCol>
                <a:gridCol w="2350135">
                  <a:extLst>
                    <a:ext uri="{9D8B030D-6E8A-4147-A177-3AD203B41FA5}">
                      <a16:colId xmlns:a16="http://schemas.microsoft.com/office/drawing/2014/main" val="1741638256"/>
                    </a:ext>
                  </a:extLst>
                </a:gridCol>
                <a:gridCol w="2115211">
                  <a:extLst>
                    <a:ext uri="{9D8B030D-6E8A-4147-A177-3AD203B41FA5}">
                      <a16:colId xmlns:a16="http://schemas.microsoft.com/office/drawing/2014/main" val="1902120613"/>
                    </a:ext>
                  </a:extLst>
                </a:gridCol>
              </a:tblGrid>
              <a:tr h="633844">
                <a:tc>
                  <a:txBody>
                    <a:bodyPr/>
                    <a:lstStyle/>
                    <a:p>
                      <a:pPr algn="ct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Environment </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algn="ct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Period</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algn="ct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Driver</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417674496"/>
                  </a:ext>
                </a:extLst>
              </a:tr>
              <a:tr h="758661">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COVID Shock </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Feb 2020– Jun 2021</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Panic, deflation, flight to cash</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795317941"/>
                  </a:ext>
                </a:extLst>
              </a:tr>
              <a:tr h="758661">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Rate Hike Cycle </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June 2022 – Dec 2023</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Inflation, rapidly rising rates </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2314666865"/>
                  </a:ext>
                </a:extLst>
              </a:tr>
              <a:tr h="758661">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Trade Volatility </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Jan 2025– Feb 2026 </a:t>
                      </a: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Tariff Escalation, Policy Uncertainty </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1192617148"/>
                  </a:ext>
                </a:extLst>
              </a:tr>
            </a:tbl>
          </a:graphicData>
        </a:graphic>
      </p:graphicFrame>
      <p:sp>
        <p:nvSpPr>
          <p:cNvPr id="320" name="Rectangle 6">
            <a:extLst>
              <a:ext uri="{FF2B5EF4-FFF2-40B4-BE49-F238E27FC236}">
                <a16:creationId xmlns:a16="http://schemas.microsoft.com/office/drawing/2014/main" id="{4B340424-CFA5-9B31-1DB3-BEF7870EA860}"/>
              </a:ext>
            </a:extLst>
          </p:cNvPr>
          <p:cNvSpPr>
            <a:spLocks noChangeArrowheads="1"/>
          </p:cNvSpPr>
          <p:nvPr/>
        </p:nvSpPr>
        <p:spPr bwMode="auto">
          <a:xfrm>
            <a:off x="32714461" y="26344413"/>
            <a:ext cx="8957302"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err="1"/>
              <a:t>Brunnermeier</a:t>
            </a:r>
            <a:r>
              <a:rPr lang="en-US" dirty="0"/>
              <a:t>, Markus K. </a:t>
            </a:r>
            <a:r>
              <a:rPr lang="en-US" i="1" dirty="0"/>
              <a:t>Flight-to-Safety Capital Flows and the Global Financial Architecture.</a:t>
            </a:r>
            <a:r>
              <a:rPr lang="en-US" dirty="0"/>
              <a:t> Presentation at the Federal Reserve Bank of New York, Princeton University.</a:t>
            </a:r>
          </a:p>
          <a:p>
            <a:r>
              <a:rPr lang="en-US" dirty="0"/>
              <a:t>Eisenbach, Thomas, and Gregory Phelan. </a:t>
            </a:r>
            <a:r>
              <a:rPr lang="en-US" i="1" dirty="0"/>
              <a:t>Fragility of Safe Asset Markets.</a:t>
            </a:r>
            <a:r>
              <a:rPr lang="en-US" dirty="0"/>
              <a:t> Federal Reserve Bank of New York, 2022.</a:t>
            </a:r>
          </a:p>
          <a:p>
            <a:r>
              <a:rPr lang="en-US" dirty="0"/>
              <a:t>Li, Wenhao. "A Discussion of 'Fragility of Safe Asset Markets' by Thomas Eisenbach and Gregory Phelan." University of Southern California Marshall School of Business, October 2022.</a:t>
            </a:r>
          </a:p>
          <a:p>
            <a:r>
              <a:rPr lang="en-US" dirty="0"/>
              <a:t>Nam, Rafael. "Why the Dollar Fell Over 9% in 2025, and What to Expect in 2026." </a:t>
            </a:r>
            <a:r>
              <a:rPr lang="en-US" i="1" dirty="0"/>
              <a:t>NPR</a:t>
            </a:r>
            <a:r>
              <a:rPr lang="en-US" dirty="0"/>
              <a:t>, January 4, 2026.</a:t>
            </a:r>
          </a:p>
          <a:p>
            <a:r>
              <a:rPr lang="en-US" dirty="0"/>
              <a:t>Federal Reserve Board. "Federal Reserve Issues FOMC Statement." Board of Governors of the Federal Reserve System, September 18, 2024.</a:t>
            </a:r>
          </a:p>
          <a:p>
            <a:r>
              <a:rPr lang="en-US" dirty="0"/>
              <a:t>Clarida, Richard, Burcu </a:t>
            </a:r>
            <a:r>
              <a:rPr lang="en-US" dirty="0" err="1"/>
              <a:t>Duygan</a:t>
            </a:r>
            <a:r>
              <a:rPr lang="en-US" dirty="0"/>
              <a:t>-Bump, and Chiara Scotti. "The COVID-19 Crisis and the Federal Reserve's Policy Response." </a:t>
            </a:r>
            <a:r>
              <a:rPr lang="en-US" i="1" dirty="0"/>
              <a:t>Federal Reserve Board Finance and Economics Discussion Series</a:t>
            </a:r>
            <a:r>
              <a:rPr lang="en-US" dirty="0"/>
              <a:t>, 2021.</a:t>
            </a:r>
          </a:p>
          <a:p>
            <a:r>
              <a:rPr lang="en-US" dirty="0"/>
              <a:t>World Gold Council. "Gold's 2024 Performance Best in 14 Years." World Gold Council, 2025.</a:t>
            </a:r>
          </a:p>
          <a:p>
            <a:endParaRPr lang="en-US" dirty="0"/>
          </a:p>
        </p:txBody>
      </p:sp>
      <p:sp>
        <p:nvSpPr>
          <p:cNvPr id="20" name="TextBox 19">
            <a:extLst>
              <a:ext uri="{FF2B5EF4-FFF2-40B4-BE49-F238E27FC236}">
                <a16:creationId xmlns:a16="http://schemas.microsoft.com/office/drawing/2014/main" id="{AC0FA8FF-2084-9059-B493-159B319BDE83}"/>
              </a:ext>
            </a:extLst>
          </p:cNvPr>
          <p:cNvSpPr txBox="1"/>
          <p:nvPr/>
        </p:nvSpPr>
        <p:spPr>
          <a:xfrm>
            <a:off x="18662980" y="14008255"/>
            <a:ext cx="13360719" cy="523220"/>
          </a:xfrm>
          <a:prstGeom prst="rect">
            <a:avLst/>
          </a:prstGeom>
          <a:noFill/>
        </p:spPr>
        <p:txBody>
          <a:bodyPr wrap="square" rtlCol="0">
            <a:spAutoFit/>
          </a:bodyPr>
          <a:lstStyle/>
          <a:p>
            <a:r>
              <a:rPr lang="en-US" b="1" dirty="0">
                <a:latin typeface="Open Sans" panose="020B0606030504020204" pitchFamily="34" charset="0"/>
                <a:ea typeface="Open Sans" panose="020B0606030504020204" pitchFamily="34" charset="0"/>
                <a:cs typeface="Open Sans" panose="020B0606030504020204" pitchFamily="34" charset="0"/>
              </a:rPr>
              <a:t>Figure 2.</a:t>
            </a:r>
            <a:r>
              <a:rPr lang="en-US" dirty="0">
                <a:latin typeface="Open Sans" panose="020B0606030504020204" pitchFamily="34" charset="0"/>
                <a:ea typeface="Open Sans" panose="020B0606030504020204" pitchFamily="34" charset="0"/>
                <a:cs typeface="Open Sans" panose="020B0606030504020204" pitchFamily="34" charset="0"/>
              </a:rPr>
              <a:t> Mean daily returns for each asset on S&amp;P 500 &lt; −1% days across three stress regimes, with 95% block-bootstrapped confidence intervals. ✓ indicates the CI excludes zero.</a:t>
            </a:r>
          </a:p>
        </p:txBody>
      </p:sp>
      <p:sp>
        <p:nvSpPr>
          <p:cNvPr id="21" name="TextBox 20">
            <a:extLst>
              <a:ext uri="{FF2B5EF4-FFF2-40B4-BE49-F238E27FC236}">
                <a16:creationId xmlns:a16="http://schemas.microsoft.com/office/drawing/2014/main" id="{27A49EEB-318A-3937-651C-6B97CE0A72C3}"/>
              </a:ext>
            </a:extLst>
          </p:cNvPr>
          <p:cNvSpPr txBox="1"/>
          <p:nvPr/>
        </p:nvSpPr>
        <p:spPr>
          <a:xfrm>
            <a:off x="12923518" y="13131234"/>
            <a:ext cx="5262785" cy="738664"/>
          </a:xfrm>
          <a:prstGeom prst="rect">
            <a:avLst/>
          </a:prstGeom>
          <a:noFill/>
        </p:spPr>
        <p:txBody>
          <a:bodyPr wrap="square" rtlCol="0">
            <a:spAutoFit/>
          </a:bodyPr>
          <a:lstStyle/>
          <a:p>
            <a:r>
              <a:rPr lang="en-US" b="1" dirty="0">
                <a:latin typeface="Open Sans" panose="020B0606030504020204" pitchFamily="34" charset="0"/>
                <a:ea typeface="Open Sans" panose="020B0606030504020204" pitchFamily="34" charset="0"/>
                <a:cs typeface="Open Sans" panose="020B0606030504020204" pitchFamily="34" charset="0"/>
              </a:rPr>
              <a:t>Table 1.</a:t>
            </a:r>
            <a:r>
              <a:rPr lang="en-US" dirty="0">
                <a:latin typeface="Open Sans" panose="020B0606030504020204" pitchFamily="34" charset="0"/>
                <a:ea typeface="Open Sans" panose="020B0606030504020204" pitchFamily="34" charset="0"/>
                <a:cs typeface="Open Sans" panose="020B0606030504020204" pitchFamily="34" charset="0"/>
              </a:rPr>
              <a:t> Summary of mean stress-day returns by asset and regime. ✓ = 95% bootstrap CI excludes zero; all other results are statistically insignificant.</a:t>
            </a:r>
          </a:p>
        </p:txBody>
      </p:sp>
      <p:sp>
        <p:nvSpPr>
          <p:cNvPr id="24" name="TextBox 23">
            <a:extLst>
              <a:ext uri="{FF2B5EF4-FFF2-40B4-BE49-F238E27FC236}">
                <a16:creationId xmlns:a16="http://schemas.microsoft.com/office/drawing/2014/main" id="{3C41D790-9117-8078-2AE6-848762876C96}"/>
              </a:ext>
            </a:extLst>
          </p:cNvPr>
          <p:cNvSpPr txBox="1"/>
          <p:nvPr/>
        </p:nvSpPr>
        <p:spPr>
          <a:xfrm>
            <a:off x="18673031" y="20338579"/>
            <a:ext cx="13360719" cy="523220"/>
          </a:xfrm>
          <a:prstGeom prst="rect">
            <a:avLst/>
          </a:prstGeom>
          <a:noFill/>
        </p:spPr>
        <p:txBody>
          <a:bodyPr wrap="square" rtlCol="0">
            <a:spAutoFit/>
          </a:bodyPr>
          <a:lstStyle/>
          <a:p>
            <a:r>
              <a:rPr lang="en-US" b="1" dirty="0">
                <a:latin typeface="Open Sans" panose="020B0606030504020204" pitchFamily="34" charset="0"/>
                <a:ea typeface="Open Sans" panose="020B0606030504020204" pitchFamily="34" charset="0"/>
                <a:cs typeface="Open Sans" panose="020B0606030504020204" pitchFamily="34" charset="0"/>
              </a:rPr>
              <a:t>Figure 3. </a:t>
            </a:r>
            <a:r>
              <a:rPr lang="en-US" dirty="0">
                <a:latin typeface="Open Sans" panose="020B0606030504020204" pitchFamily="34" charset="0"/>
                <a:ea typeface="Open Sans" panose="020B0606030504020204" pitchFamily="34" charset="0"/>
                <a:cs typeface="Open Sans" panose="020B0606030504020204" pitchFamily="34" charset="0"/>
              </a:rPr>
              <a:t>Cumulative returns for each asset indexed to 100 at the start of each stress regime. The dotted vertical line in the Trade Volatility panel marks Liberation Day (April 2, 2025).</a:t>
            </a:r>
          </a:p>
        </p:txBody>
      </p:sp>
      <p:sp>
        <p:nvSpPr>
          <p:cNvPr id="25" name="Round Same Side Corner Rectangle 24">
            <a:extLst>
              <a:ext uri="{FF2B5EF4-FFF2-40B4-BE49-F238E27FC236}">
                <a16:creationId xmlns:a16="http://schemas.microsoft.com/office/drawing/2014/main" id="{2F5971DF-B3B7-2D52-8510-2E1BCD5159F0}"/>
              </a:ext>
            </a:extLst>
          </p:cNvPr>
          <p:cNvSpPr/>
          <p:nvPr/>
        </p:nvSpPr>
        <p:spPr>
          <a:xfrm>
            <a:off x="24472732" y="21342539"/>
            <a:ext cx="5270866" cy="1061829"/>
          </a:xfrm>
          <a:prstGeom prst="round2Same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0D6A61B-E279-253B-DCAF-E94F42013CAD}"/>
              </a:ext>
            </a:extLst>
          </p:cNvPr>
          <p:cNvSpPr txBox="1"/>
          <p:nvPr/>
        </p:nvSpPr>
        <p:spPr>
          <a:xfrm>
            <a:off x="24472732" y="21491257"/>
            <a:ext cx="5270866" cy="1061829"/>
          </a:xfrm>
          <a:prstGeom prst="rect">
            <a:avLst/>
          </a:prstGeom>
          <a:noFill/>
        </p:spPr>
        <p:txBody>
          <a:bodyPr wrap="square" rtlCol="0">
            <a:spAutoFit/>
          </a:bodyPr>
          <a:lstStyle/>
          <a:p>
            <a:pPr algn="ctr"/>
            <a:r>
              <a:rPr lang="en-US" sz="2100" dirty="0">
                <a:solidFill>
                  <a:schemeClr val="dk1"/>
                </a:solidFill>
                <a:latin typeface="Open Sans ExtraBold"/>
                <a:ea typeface="Open Sans ExtraBold"/>
                <a:cs typeface="Open Sans ExtraBold"/>
                <a:sym typeface="Open Sans ExtraBold"/>
              </a:rPr>
              <a:t>Correlation Matrix + Descriptive Analysis </a:t>
            </a:r>
          </a:p>
          <a:p>
            <a:pPr algn="ctr"/>
            <a:endParaRPr lang="en-US" sz="2100" dirty="0"/>
          </a:p>
        </p:txBody>
      </p:sp>
      <p:graphicFrame>
        <p:nvGraphicFramePr>
          <p:cNvPr id="28" name="Table 27">
            <a:extLst>
              <a:ext uri="{FF2B5EF4-FFF2-40B4-BE49-F238E27FC236}">
                <a16:creationId xmlns:a16="http://schemas.microsoft.com/office/drawing/2014/main" id="{A32BEA27-F0AE-02A8-5305-AB49C5B7A2FA}"/>
              </a:ext>
            </a:extLst>
          </p:cNvPr>
          <p:cNvGraphicFramePr>
            <a:graphicFrameLocks noGrp="1"/>
          </p:cNvGraphicFramePr>
          <p:nvPr>
            <p:extLst>
              <p:ext uri="{D42A27DB-BD31-4B8C-83A1-F6EECF244321}">
                <p14:modId xmlns:p14="http://schemas.microsoft.com/office/powerpoint/2010/main" val="468011224"/>
              </p:ext>
            </p:extLst>
          </p:nvPr>
        </p:nvGraphicFramePr>
        <p:xfrm>
          <a:off x="23352736" y="26448946"/>
          <a:ext cx="8021321" cy="2834640"/>
        </p:xfrm>
        <a:graphic>
          <a:graphicData uri="http://schemas.openxmlformats.org/drawingml/2006/table">
            <a:tbl>
              <a:tblPr firstRow="1" bandRow="1">
                <a:tableStyleId>{BDBED569-4797-4DF1-A0F4-6AAB3CD982D8}</a:tableStyleId>
              </a:tblPr>
              <a:tblGrid>
                <a:gridCol w="1197293">
                  <a:extLst>
                    <a:ext uri="{9D8B030D-6E8A-4147-A177-3AD203B41FA5}">
                      <a16:colId xmlns:a16="http://schemas.microsoft.com/office/drawing/2014/main" val="3843680346"/>
                    </a:ext>
                  </a:extLst>
                </a:gridCol>
                <a:gridCol w="1151255">
                  <a:extLst>
                    <a:ext uri="{9D8B030D-6E8A-4147-A177-3AD203B41FA5}">
                      <a16:colId xmlns:a16="http://schemas.microsoft.com/office/drawing/2014/main" val="2889725483"/>
                    </a:ext>
                  </a:extLst>
                </a:gridCol>
                <a:gridCol w="1094105">
                  <a:extLst>
                    <a:ext uri="{9D8B030D-6E8A-4147-A177-3AD203B41FA5}">
                      <a16:colId xmlns:a16="http://schemas.microsoft.com/office/drawing/2014/main" val="1741638256"/>
                    </a:ext>
                  </a:extLst>
                </a:gridCol>
                <a:gridCol w="1278255">
                  <a:extLst>
                    <a:ext uri="{9D8B030D-6E8A-4147-A177-3AD203B41FA5}">
                      <a16:colId xmlns:a16="http://schemas.microsoft.com/office/drawing/2014/main" val="1902120613"/>
                    </a:ext>
                  </a:extLst>
                </a:gridCol>
                <a:gridCol w="3300413">
                  <a:extLst>
                    <a:ext uri="{9D8B030D-6E8A-4147-A177-3AD203B41FA5}">
                      <a16:colId xmlns:a16="http://schemas.microsoft.com/office/drawing/2014/main" val="137633076"/>
                    </a:ext>
                  </a:extLst>
                </a:gridCol>
              </a:tblGrid>
              <a:tr h="485995">
                <a:tc>
                  <a:txBody>
                    <a:bodyPr/>
                    <a:lstStyle/>
                    <a:p>
                      <a:pPr algn="ctr"/>
                      <a:r>
                        <a:rPr lang="en-US" sz="1500" b="1" u="none" strike="noStrike" cap="none" dirty="0">
                          <a:solidFill>
                            <a:schemeClr val="dk1"/>
                          </a:solidFill>
                          <a:sym typeface="Arial"/>
                        </a:rPr>
                        <a:t>Asset </a:t>
                      </a:r>
                    </a:p>
                  </a:txBody>
                  <a:tcPr anchor="ctr"/>
                </a:tc>
                <a:tc>
                  <a:txBody>
                    <a:bodyPr/>
                    <a:lstStyle/>
                    <a:p>
                      <a:pPr algn="ctr"/>
                      <a:r>
                        <a:rPr lang="en-US" sz="1500" b="1" u="none" strike="noStrike" cap="none" dirty="0">
                          <a:solidFill>
                            <a:schemeClr val="dk1"/>
                          </a:solidFill>
                          <a:sym typeface="Arial"/>
                        </a:rPr>
                        <a:t>Mean </a:t>
                      </a:r>
                    </a:p>
                    <a:p>
                      <a:pPr algn="ctr"/>
                      <a:r>
                        <a:rPr lang="en-US" sz="1500" b="1" u="none" strike="noStrike" cap="none" dirty="0">
                          <a:solidFill>
                            <a:schemeClr val="dk1"/>
                          </a:solidFill>
                          <a:sym typeface="Arial"/>
                        </a:rPr>
                        <a:t>(Hike) </a:t>
                      </a:r>
                    </a:p>
                  </a:txBody>
                  <a:tcPr anchor="ctr"/>
                </a:tc>
                <a:tc>
                  <a:txBody>
                    <a:bodyPr/>
                    <a:lstStyle/>
                    <a:p>
                      <a:pPr algn="ctr"/>
                      <a:r>
                        <a:rPr lang="en-US" sz="1500" b="1" u="none" strike="noStrike" cap="none" dirty="0">
                          <a:solidFill>
                            <a:schemeClr val="dk1"/>
                          </a:solidFill>
                          <a:sym typeface="Arial"/>
                        </a:rPr>
                        <a:t>Std</a:t>
                      </a:r>
                      <a:r>
                        <a:rPr lang="en-US" sz="1500" b="1" i="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 </a:t>
                      </a:r>
                    </a:p>
                    <a:p>
                      <a:pPr algn="ct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(COVID)</a:t>
                      </a:r>
                      <a:endParaRPr lang="en-US" sz="1500" b="1" i="0" u="none" strike="noStrike" cap="none" dirty="0">
                        <a:solidFill>
                          <a:schemeClr val="dk1"/>
                        </a:solidFill>
                        <a:sym typeface="Arial"/>
                      </a:endParaRPr>
                    </a:p>
                  </a:txBody>
                  <a:tcPr anchor="ctr"/>
                </a:tc>
                <a:tc>
                  <a:txBody>
                    <a:bodyPr/>
                    <a:lstStyle/>
                    <a:p>
                      <a:pPr algn="ctr"/>
                      <a:r>
                        <a:rPr lang="en-US" sz="1500" b="1" u="none" strike="noStrike" cap="none" dirty="0">
                          <a:solidFill>
                            <a:schemeClr val="dk1"/>
                          </a:solidFill>
                          <a:sym typeface="Arial"/>
                        </a:rPr>
                        <a:t>Std</a:t>
                      </a:r>
                    </a:p>
                    <a:p>
                      <a:pPr algn="ctr"/>
                      <a:r>
                        <a:rPr lang="en-US" sz="1500" b="1" u="none" strike="noStrike" cap="none" dirty="0">
                          <a:solidFill>
                            <a:schemeClr val="dk1"/>
                          </a:solidFill>
                          <a:sym typeface="Arial"/>
                        </a:rPr>
                        <a:t> (Trade Vol)</a:t>
                      </a:r>
                      <a:endParaRPr lang="en-US" sz="1500" b="1" i="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algn="ctr"/>
                      <a:r>
                        <a:rPr lang="en-US" sz="1500" b="1" i="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Key Signal </a:t>
                      </a:r>
                    </a:p>
                  </a:txBody>
                  <a:tcPr anchor="ctr"/>
                </a:tc>
                <a:extLst>
                  <a:ext uri="{0D108BD9-81ED-4DB2-BD59-A6C34878D82A}">
                    <a16:rowId xmlns:a16="http://schemas.microsoft.com/office/drawing/2014/main" val="417674496"/>
                  </a:ext>
                </a:extLst>
              </a:tr>
              <a:tr h="427239">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sym typeface="Arial"/>
                        </a:rPr>
                        <a:t>Treasuries</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1" u="none" strike="noStrike" cap="none" dirty="0">
                          <a:solidFill>
                            <a:schemeClr val="dk1"/>
                          </a:solidFill>
                          <a:sym typeface="Arial"/>
                        </a:rPr>
                        <a:t>-0.044% </a:t>
                      </a:r>
                      <a:r>
                        <a:rPr lang="en-US" sz="1600" b="1" dirty="0"/>
                        <a:t>✓</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0.510%</a:t>
                      </a: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0.623%</a:t>
                      </a:r>
                    </a:p>
                  </a:txBody>
                  <a:tcPr anchor="ctr"/>
                </a:tc>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Mean flips negative, volatility barely changes </a:t>
                      </a:r>
                    </a:p>
                  </a:txBody>
                  <a:tcPr anchor="ctr"/>
                </a:tc>
                <a:extLst>
                  <a:ext uri="{0D108BD9-81ED-4DB2-BD59-A6C34878D82A}">
                    <a16:rowId xmlns:a16="http://schemas.microsoft.com/office/drawing/2014/main" val="795317941"/>
                  </a:ext>
                </a:extLst>
              </a:tr>
              <a:tr h="427239">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sym typeface="Arial"/>
                        </a:rPr>
                        <a:t>Gold</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sym typeface="Arial"/>
                        </a:rPr>
                        <a:t>+0.028%</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1.306% </a:t>
                      </a:r>
                      <a:r>
                        <a:rPr lang="en-US" sz="1600" b="1" dirty="0"/>
                        <a:t>✓</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1.560% </a:t>
                      </a:r>
                      <a:r>
                        <a:rPr lang="en-US" sz="1600" b="1" dirty="0"/>
                        <a:t>✓</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Highest volatility – cumulative gains mask daily noise </a:t>
                      </a:r>
                    </a:p>
                  </a:txBody>
                  <a:tcPr anchor="ctr"/>
                </a:tc>
                <a:extLst>
                  <a:ext uri="{0D108BD9-81ED-4DB2-BD59-A6C34878D82A}">
                    <a16:rowId xmlns:a16="http://schemas.microsoft.com/office/drawing/2014/main" val="2314666865"/>
                  </a:ext>
                </a:extLst>
              </a:tr>
              <a:tr h="427239">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sym typeface="Arial"/>
                        </a:rPr>
                        <a:t>CHF</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sym typeface="Arial"/>
                        </a:rPr>
                        <a:t>+0.017%</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0.466%</a:t>
                      </a: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0.576%</a:t>
                      </a:r>
                    </a:p>
                  </a:txBody>
                  <a:tcPr anchor="ctr"/>
                </a:tc>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Most stable volatility across all stress environments</a:t>
                      </a:r>
                    </a:p>
                  </a:txBody>
                  <a:tcPr anchor="ctr"/>
                </a:tc>
                <a:extLst>
                  <a:ext uri="{0D108BD9-81ED-4DB2-BD59-A6C34878D82A}">
                    <a16:rowId xmlns:a16="http://schemas.microsoft.com/office/drawing/2014/main" val="1192617148"/>
                  </a:ext>
                </a:extLst>
              </a:tr>
              <a:tr h="427239">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sym typeface="Arial"/>
                        </a:rPr>
                        <a:t>JPY</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-0.038% </a:t>
                      </a:r>
                      <a:r>
                        <a:rPr lang="en-US" sz="1400" b="1" dirty="0"/>
                        <a:t>✓</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0.484%</a:t>
                      </a: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0.624%</a:t>
                      </a:r>
                    </a:p>
                  </a:txBody>
                  <a:tcPr anchor="ctr"/>
                </a:tc>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Carry trade suppressed returns during hike cycle </a:t>
                      </a:r>
                    </a:p>
                  </a:txBody>
                  <a:tcPr anchor="ctr"/>
                </a:tc>
                <a:extLst>
                  <a:ext uri="{0D108BD9-81ED-4DB2-BD59-A6C34878D82A}">
                    <a16:rowId xmlns:a16="http://schemas.microsoft.com/office/drawing/2014/main" val="3073811850"/>
                  </a:ext>
                </a:extLst>
              </a:tr>
              <a:tr h="427239">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sym typeface="Arial"/>
                        </a:rPr>
                        <a:t>Broad USD</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1" u="none" strike="noStrike" cap="none" dirty="0">
                          <a:solidFill>
                            <a:schemeClr val="dk1"/>
                          </a:solidFill>
                          <a:sym typeface="Arial"/>
                        </a:rPr>
                        <a:t>+0.005%</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sym typeface="Arial"/>
                        </a:rPr>
                        <a:t>0.375%</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0.307% </a:t>
                      </a:r>
                      <a:r>
                        <a:rPr lang="en-US" sz="1600" b="1" dirty="0"/>
                        <a:t>✓</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Std shrinks – most predictable until trade volatility</a:t>
                      </a:r>
                    </a:p>
                  </a:txBody>
                  <a:tcPr anchor="ctr"/>
                </a:tc>
                <a:extLst>
                  <a:ext uri="{0D108BD9-81ED-4DB2-BD59-A6C34878D82A}">
                    <a16:rowId xmlns:a16="http://schemas.microsoft.com/office/drawing/2014/main" val="2998372838"/>
                  </a:ext>
                </a:extLst>
              </a:tr>
            </a:tbl>
          </a:graphicData>
        </a:graphic>
      </p:graphicFrame>
      <p:sp>
        <p:nvSpPr>
          <p:cNvPr id="33" name="TextBox 32">
            <a:extLst>
              <a:ext uri="{FF2B5EF4-FFF2-40B4-BE49-F238E27FC236}">
                <a16:creationId xmlns:a16="http://schemas.microsoft.com/office/drawing/2014/main" id="{37077DFD-28C1-469D-4CE0-C76D77801CAF}"/>
              </a:ext>
            </a:extLst>
          </p:cNvPr>
          <p:cNvSpPr txBox="1"/>
          <p:nvPr/>
        </p:nvSpPr>
        <p:spPr>
          <a:xfrm>
            <a:off x="23837425" y="22520734"/>
            <a:ext cx="7447260" cy="3170099"/>
          </a:xfrm>
          <a:prstGeom prst="rect">
            <a:avLst/>
          </a:prstGeom>
          <a:noFill/>
        </p:spPr>
        <p:txBody>
          <a:bodyPr wrap="square" rtlCol="0">
            <a:spAutoFit/>
          </a:bodyPr>
          <a:lstStyle/>
          <a:p>
            <a:pPr>
              <a:buSzPts val="2100"/>
            </a:pPr>
            <a:r>
              <a:rPr lang="en-US" sz="2000" dirty="0">
                <a:solidFill>
                  <a:schemeClr val="dk1"/>
                </a:solidFill>
                <a:latin typeface="Open Sans"/>
                <a:ea typeface="Open Sans"/>
                <a:cs typeface="Open Sans"/>
                <a:sym typeface="Open Sans ExtraBold"/>
              </a:rPr>
              <a:t>The same asset that moved against equities in one regime moved with them in another highlighting that the hedge relationship itself is regime-dependent.</a:t>
            </a:r>
          </a:p>
          <a:p>
            <a:pPr>
              <a:buSzPts val="2100"/>
            </a:pPr>
            <a:endParaRPr lang="en-US" sz="2000" dirty="0">
              <a:solidFill>
                <a:schemeClr val="dk1"/>
              </a:solidFill>
              <a:latin typeface="Open Sans"/>
              <a:ea typeface="Open Sans"/>
              <a:cs typeface="Open Sans"/>
              <a:sym typeface="Open Sans ExtraBold"/>
            </a:endParaRPr>
          </a:p>
          <a:p>
            <a:pPr>
              <a:buSzPts val="2100"/>
            </a:pPr>
            <a:r>
              <a:rPr lang="en-US" sz="2000" dirty="0">
                <a:solidFill>
                  <a:schemeClr val="dk1"/>
                </a:solidFill>
                <a:latin typeface="Open Sans"/>
                <a:ea typeface="Open Sans"/>
                <a:cs typeface="Open Sans"/>
                <a:sym typeface="Open Sans ExtraBold"/>
              </a:rPr>
              <a:t>The heatmap to the left shows the average 60-day rolling correlation between each asset and the S&amp;P 500 across three stress regimes. Blue indicates hedging behavior (negative correlation with equities) while values near zero signal a breakdown in the hedge relationship.</a:t>
            </a:r>
          </a:p>
          <a:p>
            <a:pPr>
              <a:buSzPts val="2100"/>
            </a:pPr>
            <a:endParaRPr lang="en-US" sz="2000" dirty="0">
              <a:solidFill>
                <a:schemeClr val="dk1"/>
              </a:solidFill>
              <a:latin typeface="Open Sans"/>
              <a:ea typeface="Open Sans"/>
              <a:cs typeface="Open Sans"/>
              <a:sym typeface="Open Sans ExtraBold"/>
            </a:endParaRPr>
          </a:p>
        </p:txBody>
      </p:sp>
      <p:sp>
        <p:nvSpPr>
          <p:cNvPr id="35" name="TextBox 34">
            <a:extLst>
              <a:ext uri="{FF2B5EF4-FFF2-40B4-BE49-F238E27FC236}">
                <a16:creationId xmlns:a16="http://schemas.microsoft.com/office/drawing/2014/main" id="{F7280D0E-8C3D-5F5E-68F2-F3E0FD5B9E88}"/>
              </a:ext>
            </a:extLst>
          </p:cNvPr>
          <p:cNvSpPr txBox="1"/>
          <p:nvPr/>
        </p:nvSpPr>
        <p:spPr>
          <a:xfrm>
            <a:off x="13081985" y="28329479"/>
            <a:ext cx="9662674" cy="954107"/>
          </a:xfrm>
          <a:prstGeom prst="rect">
            <a:avLst/>
          </a:prstGeom>
          <a:noFill/>
        </p:spPr>
        <p:txBody>
          <a:bodyPr wrap="square" rtlCol="0">
            <a:spAutoFit/>
          </a:bodyPr>
          <a:lstStyle/>
          <a:p>
            <a:r>
              <a:rPr lang="en-US" b="1" dirty="0">
                <a:latin typeface="Open Sans" panose="020B0606030504020204" pitchFamily="34" charset="0"/>
                <a:ea typeface="Open Sans" panose="020B0606030504020204" pitchFamily="34" charset="0"/>
                <a:cs typeface="Open Sans" panose="020B0606030504020204" pitchFamily="34" charset="0"/>
              </a:rPr>
              <a:t>Figure 4. </a:t>
            </a:r>
            <a:r>
              <a:rPr lang="en-US" dirty="0">
                <a:latin typeface="Open Sans" panose="020B0606030504020204" pitchFamily="34" charset="0"/>
                <a:ea typeface="Open Sans" panose="020B0606030504020204" pitchFamily="34" charset="0"/>
                <a:cs typeface="Open Sans" panose="020B0606030504020204" pitchFamily="34" charset="0"/>
              </a:rPr>
              <a:t>Daily return statistics reveal why some assets hedge reliably while others do not. Gold's high volatility across all regimes explains why its strong cumulative returns do not translate into reliable stress-day protection. A single large daily move can dominate the mean without representing consistent behavior.</a:t>
            </a:r>
          </a:p>
          <a:p>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36" name="TextBox 35">
            <a:extLst>
              <a:ext uri="{FF2B5EF4-FFF2-40B4-BE49-F238E27FC236}">
                <a16:creationId xmlns:a16="http://schemas.microsoft.com/office/drawing/2014/main" id="{0AF76B40-A356-DEF7-5426-1ACC8E76B7FD}"/>
              </a:ext>
            </a:extLst>
          </p:cNvPr>
          <p:cNvSpPr txBox="1"/>
          <p:nvPr/>
        </p:nvSpPr>
        <p:spPr>
          <a:xfrm>
            <a:off x="23352736" y="29364570"/>
            <a:ext cx="8021321" cy="954107"/>
          </a:xfrm>
          <a:prstGeom prst="rect">
            <a:avLst/>
          </a:prstGeom>
          <a:noFill/>
        </p:spPr>
        <p:txBody>
          <a:bodyPr wrap="square" rtlCol="0">
            <a:spAutoFit/>
          </a:bodyPr>
          <a:lstStyle/>
          <a:p>
            <a:r>
              <a:rPr lang="en-US" b="1" dirty="0">
                <a:latin typeface="Open Sans" panose="020B0606030504020204" pitchFamily="34" charset="0"/>
                <a:ea typeface="Open Sans" panose="020B0606030504020204" pitchFamily="34" charset="0"/>
                <a:cs typeface="Open Sans" panose="020B0606030504020204" pitchFamily="34" charset="0"/>
              </a:rPr>
              <a:t>Table 2. </a:t>
            </a:r>
            <a:r>
              <a:rPr lang="en-US" dirty="0"/>
              <a:t>In calm markets, Treasuries rose roughly 0.14% for every 1% drop in the S&amp;P 500,  a reliable hedge. During the rate hike cycle, that relationship reversed: </a:t>
            </a:r>
            <a:r>
              <a:rPr lang="en-US" i="1" dirty="0"/>
              <a:t>Treasuries fell alongside equities instead of rising. </a:t>
            </a:r>
          </a:p>
          <a:p>
            <a:endParaRPr lang="en-US" dirty="0">
              <a:latin typeface="Open Sans" panose="020B0606030504020204" pitchFamily="34" charset="0"/>
              <a:ea typeface="Open Sans" panose="020B0606030504020204" pitchFamily="34" charset="0"/>
              <a:cs typeface="Open Sans" panose="020B0606030504020204" pitchFamily="34" charset="0"/>
            </a:endParaRPr>
          </a:p>
        </p:txBody>
      </p:sp>
      <p:pic>
        <p:nvPicPr>
          <p:cNvPr id="37" name="Picture 36">
            <a:extLst>
              <a:ext uri="{FF2B5EF4-FFF2-40B4-BE49-F238E27FC236}">
                <a16:creationId xmlns:a16="http://schemas.microsoft.com/office/drawing/2014/main" id="{2D299CCC-5FFA-17E5-7EE9-DCD73AD99789}"/>
              </a:ext>
            </a:extLst>
          </p:cNvPr>
          <p:cNvPicPr>
            <a:picLocks noChangeAspect="1"/>
          </p:cNvPicPr>
          <p:nvPr/>
        </p:nvPicPr>
        <p:blipFill>
          <a:blip r:embed="rId4"/>
          <a:stretch>
            <a:fillRect/>
          </a:stretch>
        </p:blipFill>
        <p:spPr>
          <a:xfrm>
            <a:off x="18587863" y="9618905"/>
            <a:ext cx="13360719" cy="4254056"/>
          </a:xfrm>
          <a:prstGeom prst="rect">
            <a:avLst/>
          </a:prstGeom>
          <a:ln>
            <a:solidFill>
              <a:schemeClr val="tx1"/>
            </a:solidFill>
          </a:ln>
        </p:spPr>
      </p:pic>
      <p:pic>
        <p:nvPicPr>
          <p:cNvPr id="38" name="Picture 37">
            <a:extLst>
              <a:ext uri="{FF2B5EF4-FFF2-40B4-BE49-F238E27FC236}">
                <a16:creationId xmlns:a16="http://schemas.microsoft.com/office/drawing/2014/main" id="{0EC19658-4446-EC3E-415B-57758EB5190E}"/>
              </a:ext>
            </a:extLst>
          </p:cNvPr>
          <p:cNvPicPr>
            <a:picLocks noChangeAspect="1"/>
          </p:cNvPicPr>
          <p:nvPr/>
        </p:nvPicPr>
        <p:blipFill>
          <a:blip r:embed="rId5"/>
          <a:stretch>
            <a:fillRect/>
          </a:stretch>
        </p:blipFill>
        <p:spPr>
          <a:xfrm>
            <a:off x="18587863" y="15661602"/>
            <a:ext cx="13360719" cy="4555419"/>
          </a:xfrm>
          <a:prstGeom prst="rect">
            <a:avLst/>
          </a:prstGeom>
          <a:ln>
            <a:solidFill>
              <a:schemeClr val="tx1"/>
            </a:solidFill>
          </a:ln>
        </p:spPr>
      </p:pic>
      <p:pic>
        <p:nvPicPr>
          <p:cNvPr id="39" name="Picture 38">
            <a:extLst>
              <a:ext uri="{FF2B5EF4-FFF2-40B4-BE49-F238E27FC236}">
                <a16:creationId xmlns:a16="http://schemas.microsoft.com/office/drawing/2014/main" id="{525742C1-02EC-C903-2F3A-5B5F44AD3BA6}"/>
              </a:ext>
            </a:extLst>
          </p:cNvPr>
          <p:cNvPicPr>
            <a:picLocks noChangeAspect="1"/>
          </p:cNvPicPr>
          <p:nvPr/>
        </p:nvPicPr>
        <p:blipFill>
          <a:blip r:embed="rId6"/>
          <a:stretch>
            <a:fillRect/>
          </a:stretch>
        </p:blipFill>
        <p:spPr>
          <a:xfrm>
            <a:off x="13119373" y="23071237"/>
            <a:ext cx="9706718" cy="5129759"/>
          </a:xfrm>
          <a:prstGeom prst="rect">
            <a:avLst/>
          </a:prstGeom>
          <a:ln>
            <a:solidFill>
              <a:schemeClr val="tx1"/>
            </a:solidFill>
          </a:ln>
        </p:spPr>
      </p:pic>
      <p:pic>
        <p:nvPicPr>
          <p:cNvPr id="40" name="Picture 39">
            <a:extLst>
              <a:ext uri="{FF2B5EF4-FFF2-40B4-BE49-F238E27FC236}">
                <a16:creationId xmlns:a16="http://schemas.microsoft.com/office/drawing/2014/main" id="{77C745F2-09AF-9E27-5A91-0A244ED1FE36}"/>
              </a:ext>
            </a:extLst>
          </p:cNvPr>
          <p:cNvPicPr>
            <a:picLocks noChangeAspect="1"/>
          </p:cNvPicPr>
          <p:nvPr/>
        </p:nvPicPr>
        <p:blipFill>
          <a:blip r:embed="rId7"/>
          <a:stretch>
            <a:fillRect/>
          </a:stretch>
        </p:blipFill>
        <p:spPr>
          <a:xfrm>
            <a:off x="2851805" y="24964154"/>
            <a:ext cx="9032912" cy="3428209"/>
          </a:xfrm>
          <a:prstGeom prst="rect">
            <a:avLst/>
          </a:prstGeom>
          <a:ln>
            <a:solidFill>
              <a:schemeClr val="tx1"/>
            </a:solidFill>
          </a:ln>
        </p:spPr>
      </p:pic>
      <p:sp>
        <p:nvSpPr>
          <p:cNvPr id="41" name="TextBox 40">
            <a:extLst>
              <a:ext uri="{FF2B5EF4-FFF2-40B4-BE49-F238E27FC236}">
                <a16:creationId xmlns:a16="http://schemas.microsoft.com/office/drawing/2014/main" id="{08F298CE-785F-C285-EAD3-D5E0C7111ABD}"/>
              </a:ext>
            </a:extLst>
          </p:cNvPr>
          <p:cNvSpPr txBox="1"/>
          <p:nvPr/>
        </p:nvSpPr>
        <p:spPr>
          <a:xfrm>
            <a:off x="2851805" y="28545016"/>
            <a:ext cx="9032912" cy="1384995"/>
          </a:xfrm>
          <a:prstGeom prst="rect">
            <a:avLst/>
          </a:prstGeom>
          <a:noFill/>
        </p:spPr>
        <p:txBody>
          <a:bodyPr wrap="square" rtlCol="0">
            <a:spAutoFit/>
          </a:bodyPr>
          <a:lstStyle/>
          <a:p>
            <a:pPr>
              <a:buSzPts val="2100"/>
            </a:pPr>
            <a:r>
              <a:rPr lang="en-US" b="1" dirty="0">
                <a:solidFill>
                  <a:schemeClr val="dk1"/>
                </a:solidFill>
                <a:latin typeface="Open Sans"/>
                <a:ea typeface="Open Sans"/>
                <a:cs typeface="Open Sans"/>
                <a:sym typeface="Open Sans"/>
              </a:rPr>
              <a:t>Figure 1. </a:t>
            </a:r>
            <a:r>
              <a:rPr lang="en-US" dirty="0">
                <a:solidFill>
                  <a:schemeClr val="dk1"/>
                </a:solidFill>
                <a:latin typeface="Open Sans"/>
                <a:ea typeface="Open Sans"/>
                <a:cs typeface="Open Sans"/>
                <a:sym typeface="Open Sans"/>
              </a:rPr>
              <a:t>During COVID, the Treasury-equity correlation approached -0.6, consistent with the classic flight-to-safety dynamics. During the rate hike cycle, the correlation turned sharply positive as rising yields eroded bond prices and pressured equities simultaneously. The correlation briefly recovered as markets anticipated Fed cuts late in 2023, but has since oscillated near zero through the trade volatility period, showing no reliable hedge signal. </a:t>
            </a:r>
          </a:p>
          <a:p>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theme/theme1.xml><?xml version="1.0" encoding="utf-8"?>
<a:theme xmlns:a="http://schemas.openxmlformats.org/drawingml/2006/main" name="Atlas">
  <a:themeElements>
    <a:clrScheme name="Atlas">
      <a:dk1>
        <a:srgbClr val="000000"/>
      </a:dk1>
      <a:lt1>
        <a:srgbClr val="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13543</TotalTime>
  <Words>2370</Words>
  <Application>Microsoft Macintosh PowerPoint</Application>
  <PresentationFormat>Custom</PresentationFormat>
  <Paragraphs>186</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Open Sans</vt:lpstr>
      <vt:lpstr>Calibri</vt:lpstr>
      <vt:lpstr>Open Sans ExtraBold</vt:lpstr>
      <vt:lpstr>Open Sans Light</vt:lpstr>
      <vt:lpstr>Noto Sans Symbols</vt:lpstr>
      <vt:lpstr>Rockwell</vt:lpstr>
      <vt:lpstr>Arial</vt:lpstr>
      <vt:lpstr>Atlas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Creative Services at Public Affairs</dc:creator>
  <cp:lastModifiedBy>Belgaid, Yousra</cp:lastModifiedBy>
  <cp:revision>16</cp:revision>
  <dcterms:created xsi:type="dcterms:W3CDTF">2009-06-18T18:05:32Z</dcterms:created>
  <dcterms:modified xsi:type="dcterms:W3CDTF">2026-03-13T04:53:43Z</dcterms:modified>
</cp:coreProperties>
</file>