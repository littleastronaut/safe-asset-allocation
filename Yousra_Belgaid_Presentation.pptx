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Open Sans" panose="020B0606030504020204" pitchFamily="34" charset="0"/>
      <p:regular r:id="rId4"/>
      <p:bold r:id="rId5"/>
      <p:italic r:id="rId6"/>
      <p:boldItalic r:id="rId7"/>
    </p:embeddedFont>
    <p:embeddedFont>
      <p:font typeface="Open Sans ExtraBold" panose="020B0906030804020204" pitchFamily="34" charset="0"/>
      <p:bold r:id="rId8"/>
      <p:italic r:id="rId9"/>
      <p:boldItalic r:id="rId10"/>
    </p:embeddedFont>
    <p:embeddedFont>
      <p:font typeface="Open Sans Light" panose="020B0306030504020204" pitchFamily="34" charset="0"/>
      <p:regular r:id="rId11"/>
      <p:bold r:id=""/>
      <p:italic r:id="rId12"/>
      <p:boldItalic r:id=""/>
    </p:embeddedFont>
    <p:embeddedFont>
      <p:font typeface="Rockwell" panose="02060603020205020403" pitchFamily="18" charset="77"/>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OLUNJkTXzeWlBfknOfQt+Agr61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10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6368"/>
    <p:restoredTop sz="94768"/>
  </p:normalViewPr>
  <p:slideViewPr>
    <p:cSldViewPr snapToGrid="0">
      <p:cViewPr>
        <p:scale>
          <a:sx n="50" d="100"/>
          <a:sy n="50" d="100"/>
        </p:scale>
        <p:origin x="744" y="-340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3" Type="http://schemas.openxmlformats.org/officeDocument/2006/relationships/notesMaster" Target="notesMasters/notesMaster1.xml"/><Relationship Id="rId21" Type="http://schemas.openxmlformats.org/officeDocument/2006/relationships/viewProps" Target="viewProps.xml"/><Relationship Id="rId7" Type="http://schemas.openxmlformats.org/officeDocument/2006/relationships/font" Target="fonts/font4.fntdata"/><Relationship Id="rId12"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tableStyles" Target="tableStyles.xml"/><Relationship Id="rId10" Type="http://schemas.openxmlformats.org/officeDocument/2006/relationships/font" Target="fonts/font7.fntdata"/><Relationship Id="rId19" Type="http://customschemas.google.com/relationships/presentationmetadata" Target="meta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9" name="Google Shape;32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dirty="0"/>
          </a:p>
        </p:txBody>
      </p:sp>
      <p:sp>
        <p:nvSpPr>
          <p:cNvPr id="330" name="Google Shape;33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20"/>
        <p:cNvGrpSpPr/>
        <p:nvPr/>
      </p:nvGrpSpPr>
      <p:grpSpPr>
        <a:xfrm>
          <a:off x="0" y="0"/>
          <a:ext cx="0" cy="0"/>
          <a:chOff x="0" y="0"/>
          <a:chExt cx="0" cy="0"/>
        </a:xfrm>
      </p:grpSpPr>
      <p:grpSp>
        <p:nvGrpSpPr>
          <p:cNvPr id="21" name="Google Shape;21;p4"/>
          <p:cNvGrpSpPr/>
          <p:nvPr/>
        </p:nvGrpSpPr>
        <p:grpSpPr>
          <a:xfrm>
            <a:off x="3" y="0"/>
            <a:ext cx="45864782" cy="32895542"/>
            <a:chOff x="1524000" y="0"/>
            <a:chExt cx="9555163" cy="6853238"/>
          </a:xfrm>
        </p:grpSpPr>
        <p:sp>
          <p:nvSpPr>
            <p:cNvPr id="22" name="Google Shape;22;p4"/>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 name="Google Shape;38;p4"/>
          <p:cNvGrpSpPr/>
          <p:nvPr/>
        </p:nvGrpSpPr>
        <p:grpSpPr>
          <a:xfrm>
            <a:off x="6158947" y="5607979"/>
            <a:ext cx="31613395" cy="21781517"/>
            <a:chOff x="1283114" y="1168329"/>
            <a:chExt cx="6586124" cy="4537816"/>
          </a:xfrm>
        </p:grpSpPr>
        <p:sp>
          <p:nvSpPr>
            <p:cNvPr id="39" name="Google Shape;39;p4"/>
            <p:cNvSpPr/>
            <p:nvPr/>
          </p:nvSpPr>
          <p:spPr>
            <a:xfrm>
              <a:off x="1283114" y="1168329"/>
              <a:ext cx="6586124" cy="731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4"/>
            <p:cNvSpPr/>
            <p:nvPr/>
          </p:nvSpPr>
          <p:spPr>
            <a:xfrm>
              <a:off x="1283114" y="1973001"/>
              <a:ext cx="6586124" cy="33844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
            <p:cNvSpPr/>
            <p:nvPr/>
          </p:nvSpPr>
          <p:spPr>
            <a:xfrm rot="10800000">
              <a:off x="4362524" y="5355082"/>
              <a:ext cx="407233" cy="35106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 name="Google Shape;42;p4"/>
          <p:cNvSpPr txBox="1">
            <a:spLocks noGrp="1"/>
          </p:cNvSpPr>
          <p:nvPr>
            <p:ph type="ctrTitle"/>
          </p:nvPr>
        </p:nvSpPr>
        <p:spPr>
          <a:xfrm>
            <a:off x="6523639" y="9865334"/>
            <a:ext cx="30856536" cy="8691053"/>
          </a:xfrm>
          <a:prstGeom prst="rect">
            <a:avLst/>
          </a:prstGeom>
          <a:noFill/>
          <a:ln>
            <a:noFill/>
          </a:ln>
        </p:spPr>
        <p:txBody>
          <a:bodyPr spcFirstLastPara="1" wrap="square" lIns="228600" tIns="228600" rIns="228600" bIns="0" anchor="b" anchorCtr="0">
            <a:normAutofit/>
          </a:bodyPr>
          <a:lstStyle>
            <a:lvl1pPr lvl="0" algn="ctr">
              <a:lnSpc>
                <a:spcPct val="80000"/>
              </a:lnSpc>
              <a:spcBef>
                <a:spcPts val="0"/>
              </a:spcBef>
              <a:spcAft>
                <a:spcPts val="0"/>
              </a:spcAft>
              <a:buClr>
                <a:srgbClr val="FFFEFF"/>
              </a:buClr>
              <a:buSzPts val="23040"/>
              <a:buFont typeface="Calibri"/>
              <a:buNone/>
              <a:defRPr sz="2304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
          <p:cNvSpPr txBox="1">
            <a:spLocks noGrp="1"/>
          </p:cNvSpPr>
          <p:nvPr>
            <p:ph type="subTitle" idx="1"/>
          </p:nvPr>
        </p:nvSpPr>
        <p:spPr>
          <a:xfrm>
            <a:off x="6523639" y="18919162"/>
            <a:ext cx="30856536" cy="6403776"/>
          </a:xfrm>
          <a:prstGeom prst="rect">
            <a:avLst/>
          </a:prstGeom>
          <a:noFill/>
          <a:ln>
            <a:noFill/>
          </a:ln>
        </p:spPr>
        <p:txBody>
          <a:bodyPr spcFirstLastPara="1" wrap="square" lIns="91425" tIns="0" rIns="91425" bIns="45700" anchor="t" anchorCtr="0">
            <a:normAutofit/>
          </a:bodyPr>
          <a:lstStyle>
            <a:lvl1pPr lvl="0" algn="ctr">
              <a:lnSpc>
                <a:spcPct val="100000"/>
              </a:lnSpc>
              <a:spcBef>
                <a:spcPts val="3600"/>
              </a:spcBef>
              <a:spcAft>
                <a:spcPts val="0"/>
              </a:spcAft>
              <a:buSzPts val="9504"/>
              <a:buNone/>
              <a:defRPr sz="8640" b="0">
                <a:solidFill>
                  <a:srgbClr val="FFFEFF"/>
                </a:solidFill>
              </a:defRPr>
            </a:lvl1pPr>
            <a:lvl2pPr lvl="1" algn="ctr">
              <a:lnSpc>
                <a:spcPct val="120000"/>
              </a:lnSpc>
              <a:spcBef>
                <a:spcPts val="1800"/>
              </a:spcBef>
              <a:spcAft>
                <a:spcPts val="0"/>
              </a:spcAft>
              <a:buSzPts val="7920"/>
              <a:buNone/>
              <a:defRPr sz="7200"/>
            </a:lvl2pPr>
            <a:lvl3pPr lvl="2" algn="ctr">
              <a:lnSpc>
                <a:spcPct val="120000"/>
              </a:lnSpc>
              <a:spcBef>
                <a:spcPts val="1800"/>
              </a:spcBef>
              <a:spcAft>
                <a:spcPts val="0"/>
              </a:spcAft>
              <a:buSzPts val="7128"/>
              <a:buNone/>
              <a:defRPr sz="6480"/>
            </a:lvl3pPr>
            <a:lvl4pPr lvl="3" algn="ctr">
              <a:lnSpc>
                <a:spcPct val="120000"/>
              </a:lnSpc>
              <a:spcBef>
                <a:spcPts val="1800"/>
              </a:spcBef>
              <a:spcAft>
                <a:spcPts val="0"/>
              </a:spcAft>
              <a:buSzPts val="6336"/>
              <a:buNone/>
              <a:defRPr sz="5760"/>
            </a:lvl4pPr>
            <a:lvl5pPr lvl="4" algn="ctr">
              <a:lnSpc>
                <a:spcPct val="120000"/>
              </a:lnSpc>
              <a:spcBef>
                <a:spcPts val="1800"/>
              </a:spcBef>
              <a:spcAft>
                <a:spcPts val="0"/>
              </a:spcAft>
              <a:buSzPts val="6336"/>
              <a:buNone/>
              <a:defRPr sz="5760"/>
            </a:lvl5pPr>
            <a:lvl6pPr lvl="5" algn="ctr">
              <a:lnSpc>
                <a:spcPct val="120000"/>
              </a:lnSpc>
              <a:spcBef>
                <a:spcPts val="1800"/>
              </a:spcBef>
              <a:spcAft>
                <a:spcPts val="0"/>
              </a:spcAft>
              <a:buSzPts val="6336"/>
              <a:buNone/>
              <a:defRPr sz="5760"/>
            </a:lvl6pPr>
            <a:lvl7pPr lvl="6" algn="ctr">
              <a:lnSpc>
                <a:spcPct val="120000"/>
              </a:lnSpc>
              <a:spcBef>
                <a:spcPts val="1800"/>
              </a:spcBef>
              <a:spcAft>
                <a:spcPts val="0"/>
              </a:spcAft>
              <a:buSzPts val="6336"/>
              <a:buNone/>
              <a:defRPr sz="5760"/>
            </a:lvl7pPr>
            <a:lvl8pPr lvl="7" algn="ctr">
              <a:lnSpc>
                <a:spcPct val="120000"/>
              </a:lnSpc>
              <a:spcBef>
                <a:spcPts val="1800"/>
              </a:spcBef>
              <a:spcAft>
                <a:spcPts val="0"/>
              </a:spcAft>
              <a:buSzPts val="6336"/>
              <a:buNone/>
              <a:defRPr sz="5760"/>
            </a:lvl8pPr>
            <a:lvl9pPr lvl="8" algn="ctr">
              <a:lnSpc>
                <a:spcPct val="120000"/>
              </a:lnSpc>
              <a:spcBef>
                <a:spcPts val="1800"/>
              </a:spcBef>
              <a:spcAft>
                <a:spcPts val="0"/>
              </a:spcAft>
              <a:buSzPts val="6336"/>
              <a:buNone/>
              <a:defRPr sz="5760"/>
            </a:lvl9pPr>
          </a:lstStyle>
          <a:p>
            <a:endParaRPr/>
          </a:p>
        </p:txBody>
      </p:sp>
      <p:sp>
        <p:nvSpPr>
          <p:cNvPr id="44" name="Google Shape;44;p4"/>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7"/>
        <p:cNvGrpSpPr/>
        <p:nvPr/>
      </p:nvGrpSpPr>
      <p:grpSpPr>
        <a:xfrm>
          <a:off x="0" y="0"/>
          <a:ext cx="0" cy="0"/>
          <a:chOff x="0" y="0"/>
          <a:chExt cx="0" cy="0"/>
        </a:xfrm>
      </p:grpSpPr>
      <p:grpSp>
        <p:nvGrpSpPr>
          <p:cNvPr id="48" name="Google Shape;48;p5"/>
          <p:cNvGrpSpPr/>
          <p:nvPr/>
        </p:nvGrpSpPr>
        <p:grpSpPr>
          <a:xfrm>
            <a:off x="-1373882" y="2"/>
            <a:ext cx="45224443" cy="32918405"/>
            <a:chOff x="1243013" y="0"/>
            <a:chExt cx="9402763" cy="6858001"/>
          </a:xfrm>
        </p:grpSpPr>
        <p:sp>
          <p:nvSpPr>
            <p:cNvPr id="49" name="Google Shape;49;p5"/>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5"/>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5"/>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5"/>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5"/>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5"/>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5"/>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5"/>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5"/>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5"/>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5"/>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5"/>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5"/>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5"/>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5"/>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5"/>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5"/>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9" name="Google Shape;69;p5"/>
          <p:cNvGrpSpPr/>
          <p:nvPr/>
        </p:nvGrpSpPr>
        <p:grpSpPr>
          <a:xfrm>
            <a:off x="3072384" y="8158029"/>
            <a:ext cx="15775450" cy="16658021"/>
            <a:chOff x="640080" y="1699589"/>
            <a:chExt cx="3286552" cy="3470421"/>
          </a:xfrm>
        </p:grpSpPr>
        <p:sp>
          <p:nvSpPr>
            <p:cNvPr id="70" name="Google Shape;70;p5"/>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5"/>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5"/>
          <p:cNvSpPr txBox="1">
            <a:spLocks noGrp="1"/>
          </p:cNvSpPr>
          <p:nvPr>
            <p:ph type="title"/>
          </p:nvPr>
        </p:nvSpPr>
        <p:spPr>
          <a:xfrm>
            <a:off x="3482659" y="11279635"/>
            <a:ext cx="14937830" cy="1183177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
          <p:cNvSpPr txBox="1">
            <a:spLocks noGrp="1"/>
          </p:cNvSpPr>
          <p:nvPr>
            <p:ph type="body" idx="1"/>
          </p:nvPr>
        </p:nvSpPr>
        <p:spPr>
          <a:xfrm>
            <a:off x="21195298" y="3855293"/>
            <a:ext cx="19638768" cy="25193386"/>
          </a:xfrm>
          <a:prstGeom prst="rect">
            <a:avLst/>
          </a:prstGeom>
          <a:noFill/>
          <a:ln>
            <a:noFill/>
          </a:ln>
        </p:spPr>
        <p:txBody>
          <a:bodyPr spcFirstLastPara="1" wrap="square" lIns="91425" tIns="45700" rIns="91425" bIns="45700" anchor="ctr"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75" name="Google Shape;75;p5"/>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grpSp>
        <p:nvGrpSpPr>
          <p:cNvPr id="79" name="Google Shape;79;p6"/>
          <p:cNvGrpSpPr/>
          <p:nvPr/>
        </p:nvGrpSpPr>
        <p:grpSpPr>
          <a:xfrm>
            <a:off x="3" y="0"/>
            <a:ext cx="45864782" cy="32895542"/>
            <a:chOff x="1524000" y="0"/>
            <a:chExt cx="9555163" cy="6853238"/>
          </a:xfrm>
        </p:grpSpPr>
        <p:sp>
          <p:nvSpPr>
            <p:cNvPr id="80" name="Google Shape;80;p6"/>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6"/>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6"/>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6"/>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6"/>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6"/>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6"/>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6"/>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6"/>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6"/>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6"/>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6"/>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6"/>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6"/>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6" name="Google Shape;96;p6"/>
          <p:cNvGrpSpPr/>
          <p:nvPr/>
        </p:nvGrpSpPr>
        <p:grpSpPr>
          <a:xfrm>
            <a:off x="11536685" y="5562730"/>
            <a:ext cx="20724883" cy="21781517"/>
            <a:chOff x="2403476" y="1158902"/>
            <a:chExt cx="4317684" cy="4537816"/>
          </a:xfrm>
        </p:grpSpPr>
        <p:sp>
          <p:nvSpPr>
            <p:cNvPr id="97" name="Google Shape;97;p6"/>
            <p:cNvSpPr/>
            <p:nvPr/>
          </p:nvSpPr>
          <p:spPr>
            <a:xfrm>
              <a:off x="2403476" y="1158902"/>
              <a:ext cx="4317684" cy="731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6"/>
            <p:cNvSpPr/>
            <p:nvPr/>
          </p:nvSpPr>
          <p:spPr>
            <a:xfrm>
              <a:off x="2403476" y="1963574"/>
              <a:ext cx="4317684" cy="3384463"/>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
            <p:cNvSpPr/>
            <p:nvPr/>
          </p:nvSpPr>
          <p:spPr>
            <a:xfrm rot="10800000">
              <a:off x="4358702" y="5345655"/>
              <a:ext cx="407233" cy="35106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0" name="Google Shape;100;p6"/>
          <p:cNvSpPr txBox="1">
            <a:spLocks noGrp="1"/>
          </p:cNvSpPr>
          <p:nvPr>
            <p:ph type="title"/>
          </p:nvPr>
        </p:nvSpPr>
        <p:spPr>
          <a:xfrm>
            <a:off x="11899910" y="9738370"/>
            <a:ext cx="19982170" cy="8315875"/>
          </a:xfrm>
          <a:prstGeom prst="rect">
            <a:avLst/>
          </a:prstGeom>
          <a:noFill/>
          <a:ln>
            <a:noFill/>
          </a:ln>
        </p:spPr>
        <p:txBody>
          <a:bodyPr spcFirstLastPara="1" wrap="square" lIns="228600" tIns="228600" rIns="228600" bIns="0" anchor="b" anchorCtr="0">
            <a:normAutofit/>
          </a:bodyPr>
          <a:lstStyle>
            <a:lvl1pPr lvl="0" algn="ctr">
              <a:lnSpc>
                <a:spcPct val="85000"/>
              </a:lnSpc>
              <a:spcBef>
                <a:spcPts val="0"/>
              </a:spcBef>
              <a:spcAft>
                <a:spcPts val="0"/>
              </a:spcAft>
              <a:buClr>
                <a:srgbClr val="FFFEFF"/>
              </a:buClr>
              <a:buSzPts val="17280"/>
              <a:buFont typeface="Calibri"/>
              <a:buNone/>
              <a:defRPr sz="1728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6"/>
          <p:cNvSpPr txBox="1">
            <a:spLocks noGrp="1"/>
          </p:cNvSpPr>
          <p:nvPr>
            <p:ph type="body" idx="1"/>
          </p:nvPr>
        </p:nvSpPr>
        <p:spPr>
          <a:xfrm>
            <a:off x="11899910" y="18448025"/>
            <a:ext cx="19982170" cy="6845266"/>
          </a:xfrm>
          <a:prstGeom prst="rect">
            <a:avLst/>
          </a:prstGeom>
          <a:noFill/>
          <a:ln>
            <a:noFill/>
          </a:ln>
        </p:spPr>
        <p:txBody>
          <a:bodyPr spcFirstLastPara="1" wrap="square" lIns="91425" tIns="0" rIns="91425" bIns="45700" anchor="t" anchorCtr="0">
            <a:normAutofit/>
          </a:bodyPr>
          <a:lstStyle>
            <a:lvl1pPr marL="457200" lvl="0" indent="-228600" algn="ctr">
              <a:lnSpc>
                <a:spcPct val="120000"/>
              </a:lnSpc>
              <a:spcBef>
                <a:spcPts val="3600"/>
              </a:spcBef>
              <a:spcAft>
                <a:spcPts val="0"/>
              </a:spcAft>
              <a:buSzPts val="8448"/>
              <a:buNone/>
              <a:defRPr sz="7680">
                <a:solidFill>
                  <a:srgbClr val="FFFEFF"/>
                </a:solidFill>
              </a:defRPr>
            </a:lvl1pPr>
            <a:lvl2pPr marL="914400" lvl="1" indent="-228600" algn="l">
              <a:lnSpc>
                <a:spcPct val="120000"/>
              </a:lnSpc>
              <a:spcBef>
                <a:spcPts val="1800"/>
              </a:spcBef>
              <a:spcAft>
                <a:spcPts val="0"/>
              </a:spcAft>
              <a:buSzPts val="7920"/>
              <a:buNone/>
              <a:defRPr sz="7200">
                <a:solidFill>
                  <a:srgbClr val="888888"/>
                </a:solidFill>
              </a:defRPr>
            </a:lvl2pPr>
            <a:lvl3pPr marL="1371600" lvl="2" indent="-228600" algn="l">
              <a:lnSpc>
                <a:spcPct val="120000"/>
              </a:lnSpc>
              <a:spcBef>
                <a:spcPts val="1800"/>
              </a:spcBef>
              <a:spcAft>
                <a:spcPts val="0"/>
              </a:spcAft>
              <a:buSzPts val="7128"/>
              <a:buNone/>
              <a:defRPr sz="6480">
                <a:solidFill>
                  <a:srgbClr val="888888"/>
                </a:solidFill>
              </a:defRPr>
            </a:lvl3pPr>
            <a:lvl4pPr marL="1828800" lvl="3" indent="-228600" algn="l">
              <a:lnSpc>
                <a:spcPct val="120000"/>
              </a:lnSpc>
              <a:spcBef>
                <a:spcPts val="1800"/>
              </a:spcBef>
              <a:spcAft>
                <a:spcPts val="0"/>
              </a:spcAft>
              <a:buSzPts val="6336"/>
              <a:buNone/>
              <a:defRPr sz="5760">
                <a:solidFill>
                  <a:srgbClr val="888888"/>
                </a:solidFill>
              </a:defRPr>
            </a:lvl4pPr>
            <a:lvl5pPr marL="2286000" lvl="4" indent="-228600" algn="l">
              <a:lnSpc>
                <a:spcPct val="120000"/>
              </a:lnSpc>
              <a:spcBef>
                <a:spcPts val="1800"/>
              </a:spcBef>
              <a:spcAft>
                <a:spcPts val="0"/>
              </a:spcAft>
              <a:buSzPts val="6336"/>
              <a:buNone/>
              <a:defRPr sz="5760">
                <a:solidFill>
                  <a:srgbClr val="888888"/>
                </a:solidFill>
              </a:defRPr>
            </a:lvl5pPr>
            <a:lvl6pPr marL="2743200" lvl="5" indent="-228600" algn="l">
              <a:lnSpc>
                <a:spcPct val="120000"/>
              </a:lnSpc>
              <a:spcBef>
                <a:spcPts val="1800"/>
              </a:spcBef>
              <a:spcAft>
                <a:spcPts val="0"/>
              </a:spcAft>
              <a:buSzPts val="6336"/>
              <a:buNone/>
              <a:defRPr sz="5760">
                <a:solidFill>
                  <a:srgbClr val="888888"/>
                </a:solidFill>
              </a:defRPr>
            </a:lvl6pPr>
            <a:lvl7pPr marL="3200400" lvl="6" indent="-228600" algn="l">
              <a:lnSpc>
                <a:spcPct val="120000"/>
              </a:lnSpc>
              <a:spcBef>
                <a:spcPts val="1800"/>
              </a:spcBef>
              <a:spcAft>
                <a:spcPts val="0"/>
              </a:spcAft>
              <a:buSzPts val="6336"/>
              <a:buNone/>
              <a:defRPr sz="5760">
                <a:solidFill>
                  <a:srgbClr val="888888"/>
                </a:solidFill>
              </a:defRPr>
            </a:lvl7pPr>
            <a:lvl8pPr marL="3657600" lvl="7" indent="-228600" algn="l">
              <a:lnSpc>
                <a:spcPct val="120000"/>
              </a:lnSpc>
              <a:spcBef>
                <a:spcPts val="1800"/>
              </a:spcBef>
              <a:spcAft>
                <a:spcPts val="0"/>
              </a:spcAft>
              <a:buSzPts val="6336"/>
              <a:buNone/>
              <a:defRPr sz="5760">
                <a:solidFill>
                  <a:srgbClr val="888888"/>
                </a:solidFill>
              </a:defRPr>
            </a:lvl8pPr>
            <a:lvl9pPr marL="4114800" lvl="8" indent="-228600" algn="l">
              <a:lnSpc>
                <a:spcPct val="120000"/>
              </a:lnSpc>
              <a:spcBef>
                <a:spcPts val="1800"/>
              </a:spcBef>
              <a:spcAft>
                <a:spcPts val="0"/>
              </a:spcAft>
              <a:buSzPts val="6336"/>
              <a:buNone/>
              <a:defRPr sz="5760">
                <a:solidFill>
                  <a:srgbClr val="888888"/>
                </a:solidFill>
              </a:defRPr>
            </a:lvl9pPr>
          </a:lstStyle>
          <a:p>
            <a:endParaRPr/>
          </a:p>
        </p:txBody>
      </p:sp>
      <p:sp>
        <p:nvSpPr>
          <p:cNvPr id="102" name="Google Shape;102;p6"/>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6"/>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6"/>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5"/>
        <p:cNvGrpSpPr/>
        <p:nvPr/>
      </p:nvGrpSpPr>
      <p:grpSpPr>
        <a:xfrm>
          <a:off x="0" y="0"/>
          <a:ext cx="0" cy="0"/>
          <a:chOff x="0" y="0"/>
          <a:chExt cx="0" cy="0"/>
        </a:xfrm>
      </p:grpSpPr>
      <p:grpSp>
        <p:nvGrpSpPr>
          <p:cNvPr id="106" name="Google Shape;106;p7"/>
          <p:cNvGrpSpPr/>
          <p:nvPr/>
        </p:nvGrpSpPr>
        <p:grpSpPr>
          <a:xfrm>
            <a:off x="-1373882" y="2"/>
            <a:ext cx="45224443" cy="32918405"/>
            <a:chOff x="1243013" y="0"/>
            <a:chExt cx="9402763" cy="6858001"/>
          </a:xfrm>
        </p:grpSpPr>
        <p:sp>
          <p:nvSpPr>
            <p:cNvPr id="107" name="Google Shape;107;p7"/>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7"/>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7"/>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7"/>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7"/>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7"/>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7"/>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7"/>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7"/>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7"/>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7"/>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7"/>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7"/>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7"/>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7"/>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7"/>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7"/>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7" name="Google Shape;127;p7"/>
          <p:cNvGrpSpPr/>
          <p:nvPr/>
        </p:nvGrpSpPr>
        <p:grpSpPr>
          <a:xfrm>
            <a:off x="3072384" y="8158029"/>
            <a:ext cx="15775450" cy="16658021"/>
            <a:chOff x="640080" y="1699589"/>
            <a:chExt cx="3286552" cy="3470421"/>
          </a:xfrm>
        </p:grpSpPr>
        <p:sp>
          <p:nvSpPr>
            <p:cNvPr id="128" name="Google Shape;128;p7"/>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7"/>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7"/>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1" name="Google Shape;131;p7"/>
          <p:cNvSpPr txBox="1">
            <a:spLocks noGrp="1"/>
          </p:cNvSpPr>
          <p:nvPr>
            <p:ph type="title"/>
          </p:nvPr>
        </p:nvSpPr>
        <p:spPr>
          <a:xfrm>
            <a:off x="3455772" y="11304327"/>
            <a:ext cx="14986382" cy="11807078"/>
          </a:xfrm>
          <a:prstGeom prst="rect">
            <a:avLst/>
          </a:prstGeom>
          <a:noFill/>
          <a:ln>
            <a:noFill/>
          </a:ln>
        </p:spPr>
        <p:txBody>
          <a:bodyPr spcFirstLastPara="1" wrap="square" lIns="91425" tIns="91425" rIns="91425" bIns="91425"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7"/>
          <p:cNvSpPr txBox="1">
            <a:spLocks noGrp="1"/>
          </p:cNvSpPr>
          <p:nvPr>
            <p:ph type="body" idx="1"/>
          </p:nvPr>
        </p:nvSpPr>
        <p:spPr>
          <a:xfrm>
            <a:off x="21230467" y="3859339"/>
            <a:ext cx="19640035" cy="11804842"/>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33" name="Google Shape;133;p7"/>
          <p:cNvSpPr txBox="1">
            <a:spLocks noGrp="1"/>
          </p:cNvSpPr>
          <p:nvPr>
            <p:ph type="body" idx="2"/>
          </p:nvPr>
        </p:nvSpPr>
        <p:spPr>
          <a:xfrm>
            <a:off x="21217359" y="17208499"/>
            <a:ext cx="19653139" cy="11859101"/>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34" name="Google Shape;134;p7"/>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7"/>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7"/>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7"/>
        <p:cNvGrpSpPr/>
        <p:nvPr/>
      </p:nvGrpSpPr>
      <p:grpSpPr>
        <a:xfrm>
          <a:off x="0" y="0"/>
          <a:ext cx="0" cy="0"/>
          <a:chOff x="0" y="0"/>
          <a:chExt cx="0" cy="0"/>
        </a:xfrm>
      </p:grpSpPr>
      <p:grpSp>
        <p:nvGrpSpPr>
          <p:cNvPr id="138" name="Google Shape;138;p8"/>
          <p:cNvGrpSpPr/>
          <p:nvPr/>
        </p:nvGrpSpPr>
        <p:grpSpPr>
          <a:xfrm>
            <a:off x="-1373882" y="2"/>
            <a:ext cx="45224443" cy="32918405"/>
            <a:chOff x="1243013" y="0"/>
            <a:chExt cx="9402763" cy="6858001"/>
          </a:xfrm>
        </p:grpSpPr>
        <p:sp>
          <p:nvSpPr>
            <p:cNvPr id="139" name="Google Shape;139;p8"/>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8"/>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8"/>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8"/>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8"/>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8"/>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8"/>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8"/>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8"/>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8"/>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8"/>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8"/>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8"/>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8"/>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8"/>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8"/>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8"/>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8"/>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8"/>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8"/>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9" name="Google Shape;159;p8"/>
          <p:cNvGrpSpPr/>
          <p:nvPr/>
        </p:nvGrpSpPr>
        <p:grpSpPr>
          <a:xfrm>
            <a:off x="3072384" y="8158029"/>
            <a:ext cx="15775450" cy="16658021"/>
            <a:chOff x="640080" y="1699589"/>
            <a:chExt cx="3286552" cy="3470421"/>
          </a:xfrm>
        </p:grpSpPr>
        <p:sp>
          <p:nvSpPr>
            <p:cNvPr id="160" name="Google Shape;160;p8"/>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8"/>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8"/>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3" name="Google Shape;163;p8"/>
          <p:cNvSpPr txBox="1">
            <a:spLocks noGrp="1"/>
          </p:cNvSpPr>
          <p:nvPr>
            <p:ph type="title"/>
          </p:nvPr>
        </p:nvSpPr>
        <p:spPr>
          <a:xfrm>
            <a:off x="3455772" y="11308071"/>
            <a:ext cx="14986382" cy="11803334"/>
          </a:xfrm>
          <a:prstGeom prst="rect">
            <a:avLst/>
          </a:prstGeom>
          <a:noFill/>
          <a:ln>
            <a:noFill/>
          </a:ln>
        </p:spPr>
        <p:txBody>
          <a:bodyPr spcFirstLastPara="1" wrap="square" lIns="91425" tIns="91425" rIns="91425" bIns="91425"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8"/>
          <p:cNvSpPr txBox="1">
            <a:spLocks noGrp="1"/>
          </p:cNvSpPr>
          <p:nvPr>
            <p:ph type="body" idx="1"/>
          </p:nvPr>
        </p:nvSpPr>
        <p:spPr>
          <a:xfrm>
            <a:off x="22591740" y="3850560"/>
            <a:ext cx="18264590" cy="329184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3600"/>
              </a:spcBef>
              <a:spcAft>
                <a:spcPts val="0"/>
              </a:spcAft>
              <a:buSzPts val="9504"/>
              <a:buNone/>
              <a:defRPr sz="8640" b="0" cap="none">
                <a:solidFill>
                  <a:schemeClr val="accent1"/>
                </a:solidFill>
              </a:defRPr>
            </a:lvl1pPr>
            <a:lvl2pPr marL="914400" lvl="1" indent="-228600" algn="l">
              <a:lnSpc>
                <a:spcPct val="120000"/>
              </a:lnSpc>
              <a:spcBef>
                <a:spcPts val="1800"/>
              </a:spcBef>
              <a:spcAft>
                <a:spcPts val="0"/>
              </a:spcAft>
              <a:buSzPts val="7920"/>
              <a:buNone/>
              <a:defRPr sz="7200" b="1"/>
            </a:lvl2pPr>
            <a:lvl3pPr marL="1371600" lvl="2" indent="-228600" algn="l">
              <a:lnSpc>
                <a:spcPct val="120000"/>
              </a:lnSpc>
              <a:spcBef>
                <a:spcPts val="1800"/>
              </a:spcBef>
              <a:spcAft>
                <a:spcPts val="0"/>
              </a:spcAft>
              <a:buSzPts val="7128"/>
              <a:buNone/>
              <a:defRPr sz="6480" b="1"/>
            </a:lvl3pPr>
            <a:lvl4pPr marL="1828800" lvl="3" indent="-228600" algn="l">
              <a:lnSpc>
                <a:spcPct val="120000"/>
              </a:lnSpc>
              <a:spcBef>
                <a:spcPts val="1800"/>
              </a:spcBef>
              <a:spcAft>
                <a:spcPts val="0"/>
              </a:spcAft>
              <a:buSzPts val="6336"/>
              <a:buNone/>
              <a:defRPr sz="5760" b="1"/>
            </a:lvl4pPr>
            <a:lvl5pPr marL="2286000" lvl="4" indent="-228600" algn="l">
              <a:lnSpc>
                <a:spcPct val="120000"/>
              </a:lnSpc>
              <a:spcBef>
                <a:spcPts val="1800"/>
              </a:spcBef>
              <a:spcAft>
                <a:spcPts val="0"/>
              </a:spcAft>
              <a:buSzPts val="6336"/>
              <a:buNone/>
              <a:defRPr sz="5760" b="1"/>
            </a:lvl5pPr>
            <a:lvl6pPr marL="2743200" lvl="5" indent="-228600" algn="l">
              <a:lnSpc>
                <a:spcPct val="120000"/>
              </a:lnSpc>
              <a:spcBef>
                <a:spcPts val="1800"/>
              </a:spcBef>
              <a:spcAft>
                <a:spcPts val="0"/>
              </a:spcAft>
              <a:buSzPts val="6336"/>
              <a:buNone/>
              <a:defRPr sz="5760" b="1"/>
            </a:lvl6pPr>
            <a:lvl7pPr marL="3200400" lvl="6" indent="-228600" algn="l">
              <a:lnSpc>
                <a:spcPct val="120000"/>
              </a:lnSpc>
              <a:spcBef>
                <a:spcPts val="1800"/>
              </a:spcBef>
              <a:spcAft>
                <a:spcPts val="0"/>
              </a:spcAft>
              <a:buSzPts val="6336"/>
              <a:buNone/>
              <a:defRPr sz="5760" b="1"/>
            </a:lvl7pPr>
            <a:lvl8pPr marL="3657600" lvl="7" indent="-228600" algn="l">
              <a:lnSpc>
                <a:spcPct val="120000"/>
              </a:lnSpc>
              <a:spcBef>
                <a:spcPts val="1800"/>
              </a:spcBef>
              <a:spcAft>
                <a:spcPts val="0"/>
              </a:spcAft>
              <a:buSzPts val="6336"/>
              <a:buNone/>
              <a:defRPr sz="5760" b="1"/>
            </a:lvl8pPr>
            <a:lvl9pPr marL="4114800" lvl="8" indent="-228600" algn="l">
              <a:lnSpc>
                <a:spcPct val="120000"/>
              </a:lnSpc>
              <a:spcBef>
                <a:spcPts val="1800"/>
              </a:spcBef>
              <a:spcAft>
                <a:spcPts val="0"/>
              </a:spcAft>
              <a:buSzPts val="6336"/>
              <a:buNone/>
              <a:defRPr sz="5760" b="1"/>
            </a:lvl9pPr>
          </a:lstStyle>
          <a:p>
            <a:endParaRPr/>
          </a:p>
        </p:txBody>
      </p:sp>
      <p:sp>
        <p:nvSpPr>
          <p:cNvPr id="165" name="Google Shape;165;p8"/>
          <p:cNvSpPr txBox="1">
            <a:spLocks noGrp="1"/>
          </p:cNvSpPr>
          <p:nvPr>
            <p:ph type="body" idx="2"/>
          </p:nvPr>
        </p:nvSpPr>
        <p:spPr>
          <a:xfrm>
            <a:off x="22591853" y="7142395"/>
            <a:ext cx="18262435" cy="8521786"/>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66" name="Google Shape;166;p8"/>
          <p:cNvSpPr txBox="1">
            <a:spLocks noGrp="1"/>
          </p:cNvSpPr>
          <p:nvPr>
            <p:ph type="body" idx="3"/>
          </p:nvPr>
        </p:nvSpPr>
        <p:spPr>
          <a:xfrm>
            <a:off x="22536050" y="17210486"/>
            <a:ext cx="18334440" cy="329184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3600"/>
              </a:spcBef>
              <a:spcAft>
                <a:spcPts val="0"/>
              </a:spcAft>
              <a:buSzPts val="9504"/>
              <a:buNone/>
              <a:defRPr sz="8640" b="0" cap="none">
                <a:solidFill>
                  <a:schemeClr val="accent1"/>
                </a:solidFill>
              </a:defRPr>
            </a:lvl1pPr>
            <a:lvl2pPr marL="914400" lvl="1" indent="-228600" algn="l">
              <a:lnSpc>
                <a:spcPct val="120000"/>
              </a:lnSpc>
              <a:spcBef>
                <a:spcPts val="1800"/>
              </a:spcBef>
              <a:spcAft>
                <a:spcPts val="0"/>
              </a:spcAft>
              <a:buSzPts val="7920"/>
              <a:buNone/>
              <a:defRPr sz="7200" b="1"/>
            </a:lvl2pPr>
            <a:lvl3pPr marL="1371600" lvl="2" indent="-228600" algn="l">
              <a:lnSpc>
                <a:spcPct val="120000"/>
              </a:lnSpc>
              <a:spcBef>
                <a:spcPts val="1800"/>
              </a:spcBef>
              <a:spcAft>
                <a:spcPts val="0"/>
              </a:spcAft>
              <a:buSzPts val="7128"/>
              <a:buNone/>
              <a:defRPr sz="6480" b="1"/>
            </a:lvl3pPr>
            <a:lvl4pPr marL="1828800" lvl="3" indent="-228600" algn="l">
              <a:lnSpc>
                <a:spcPct val="120000"/>
              </a:lnSpc>
              <a:spcBef>
                <a:spcPts val="1800"/>
              </a:spcBef>
              <a:spcAft>
                <a:spcPts val="0"/>
              </a:spcAft>
              <a:buSzPts val="6336"/>
              <a:buNone/>
              <a:defRPr sz="5760" b="1"/>
            </a:lvl4pPr>
            <a:lvl5pPr marL="2286000" lvl="4" indent="-228600" algn="l">
              <a:lnSpc>
                <a:spcPct val="120000"/>
              </a:lnSpc>
              <a:spcBef>
                <a:spcPts val="1800"/>
              </a:spcBef>
              <a:spcAft>
                <a:spcPts val="0"/>
              </a:spcAft>
              <a:buSzPts val="6336"/>
              <a:buNone/>
              <a:defRPr sz="5760" b="1"/>
            </a:lvl5pPr>
            <a:lvl6pPr marL="2743200" lvl="5" indent="-228600" algn="l">
              <a:lnSpc>
                <a:spcPct val="120000"/>
              </a:lnSpc>
              <a:spcBef>
                <a:spcPts val="1800"/>
              </a:spcBef>
              <a:spcAft>
                <a:spcPts val="0"/>
              </a:spcAft>
              <a:buSzPts val="6336"/>
              <a:buNone/>
              <a:defRPr sz="5760" b="1"/>
            </a:lvl6pPr>
            <a:lvl7pPr marL="3200400" lvl="6" indent="-228600" algn="l">
              <a:lnSpc>
                <a:spcPct val="120000"/>
              </a:lnSpc>
              <a:spcBef>
                <a:spcPts val="1800"/>
              </a:spcBef>
              <a:spcAft>
                <a:spcPts val="0"/>
              </a:spcAft>
              <a:buSzPts val="6336"/>
              <a:buNone/>
              <a:defRPr sz="5760" b="1"/>
            </a:lvl7pPr>
            <a:lvl8pPr marL="3657600" lvl="7" indent="-228600" algn="l">
              <a:lnSpc>
                <a:spcPct val="120000"/>
              </a:lnSpc>
              <a:spcBef>
                <a:spcPts val="1800"/>
              </a:spcBef>
              <a:spcAft>
                <a:spcPts val="0"/>
              </a:spcAft>
              <a:buSzPts val="6336"/>
              <a:buNone/>
              <a:defRPr sz="5760" b="1"/>
            </a:lvl8pPr>
            <a:lvl9pPr marL="4114800" lvl="8" indent="-228600" algn="l">
              <a:lnSpc>
                <a:spcPct val="120000"/>
              </a:lnSpc>
              <a:spcBef>
                <a:spcPts val="1800"/>
              </a:spcBef>
              <a:spcAft>
                <a:spcPts val="0"/>
              </a:spcAft>
              <a:buSzPts val="6336"/>
              <a:buNone/>
              <a:defRPr sz="5760" b="1"/>
            </a:lvl9pPr>
          </a:lstStyle>
          <a:p>
            <a:endParaRPr/>
          </a:p>
        </p:txBody>
      </p:sp>
      <p:sp>
        <p:nvSpPr>
          <p:cNvPr id="167" name="Google Shape;167;p8"/>
          <p:cNvSpPr txBox="1">
            <a:spLocks noGrp="1"/>
          </p:cNvSpPr>
          <p:nvPr>
            <p:ph type="body" idx="4"/>
          </p:nvPr>
        </p:nvSpPr>
        <p:spPr>
          <a:xfrm>
            <a:off x="22536050" y="20497594"/>
            <a:ext cx="18334440" cy="8569997"/>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168" name="Google Shape;168;p8"/>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8"/>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8"/>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1"/>
        <p:cNvGrpSpPr/>
        <p:nvPr/>
      </p:nvGrpSpPr>
      <p:grpSpPr>
        <a:xfrm>
          <a:off x="0" y="0"/>
          <a:ext cx="0" cy="0"/>
          <a:chOff x="0" y="0"/>
          <a:chExt cx="0" cy="0"/>
        </a:xfrm>
      </p:grpSpPr>
      <p:grpSp>
        <p:nvGrpSpPr>
          <p:cNvPr id="172" name="Google Shape;172;p9"/>
          <p:cNvGrpSpPr/>
          <p:nvPr/>
        </p:nvGrpSpPr>
        <p:grpSpPr>
          <a:xfrm>
            <a:off x="-1373882" y="2"/>
            <a:ext cx="45224443" cy="32918405"/>
            <a:chOff x="1243013" y="0"/>
            <a:chExt cx="9402763" cy="6858001"/>
          </a:xfrm>
        </p:grpSpPr>
        <p:sp>
          <p:nvSpPr>
            <p:cNvPr id="173" name="Google Shape;173;p9"/>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9"/>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9"/>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9"/>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9"/>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9"/>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9"/>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9"/>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9"/>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9"/>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9"/>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9"/>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9"/>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9"/>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9"/>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9"/>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9"/>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9"/>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9"/>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9"/>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3" name="Google Shape;193;p9"/>
          <p:cNvGrpSpPr/>
          <p:nvPr/>
        </p:nvGrpSpPr>
        <p:grpSpPr>
          <a:xfrm>
            <a:off x="3072384" y="8158029"/>
            <a:ext cx="15775450" cy="16658021"/>
            <a:chOff x="640080" y="1699589"/>
            <a:chExt cx="3286552" cy="3470421"/>
          </a:xfrm>
        </p:grpSpPr>
        <p:sp>
          <p:nvSpPr>
            <p:cNvPr id="194" name="Google Shape;194;p9"/>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9"/>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9"/>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7" name="Google Shape;197;p9"/>
          <p:cNvSpPr txBox="1">
            <a:spLocks noGrp="1"/>
          </p:cNvSpPr>
          <p:nvPr>
            <p:ph type="title"/>
          </p:nvPr>
        </p:nvSpPr>
        <p:spPr>
          <a:xfrm>
            <a:off x="3482661" y="11279635"/>
            <a:ext cx="14937826" cy="1183177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9"/>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9"/>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9"/>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1"/>
        <p:cNvGrpSpPr/>
        <p:nvPr/>
      </p:nvGrpSpPr>
      <p:grpSpPr>
        <a:xfrm>
          <a:off x="0" y="0"/>
          <a:ext cx="0" cy="0"/>
          <a:chOff x="0" y="0"/>
          <a:chExt cx="0" cy="0"/>
        </a:xfrm>
      </p:grpSpPr>
      <p:grpSp>
        <p:nvGrpSpPr>
          <p:cNvPr id="202" name="Google Shape;202;p10"/>
          <p:cNvGrpSpPr/>
          <p:nvPr/>
        </p:nvGrpSpPr>
        <p:grpSpPr>
          <a:xfrm>
            <a:off x="-1373882" y="2"/>
            <a:ext cx="45224443" cy="32918405"/>
            <a:chOff x="1243013" y="0"/>
            <a:chExt cx="9402763" cy="6858001"/>
          </a:xfrm>
        </p:grpSpPr>
        <p:sp>
          <p:nvSpPr>
            <p:cNvPr id="203" name="Google Shape;203;p10"/>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10"/>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0"/>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0"/>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0"/>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10"/>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10"/>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10"/>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10"/>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0"/>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0"/>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10"/>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10"/>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0"/>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0"/>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0"/>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0"/>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0"/>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0"/>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0"/>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3" name="Google Shape;223;p10"/>
          <p:cNvGrpSpPr/>
          <p:nvPr/>
        </p:nvGrpSpPr>
        <p:grpSpPr>
          <a:xfrm>
            <a:off x="3072384" y="8158029"/>
            <a:ext cx="15775450" cy="16658021"/>
            <a:chOff x="640080" y="1699589"/>
            <a:chExt cx="3286552" cy="3470421"/>
          </a:xfrm>
        </p:grpSpPr>
        <p:sp>
          <p:nvSpPr>
            <p:cNvPr id="224" name="Google Shape;224;p10"/>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0"/>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0"/>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7" name="Google Shape;227;p10"/>
          <p:cNvSpPr txBox="1">
            <a:spLocks noGrp="1"/>
          </p:cNvSpPr>
          <p:nvPr>
            <p:ph type="title"/>
          </p:nvPr>
        </p:nvSpPr>
        <p:spPr>
          <a:xfrm>
            <a:off x="3482661" y="11279638"/>
            <a:ext cx="14937826" cy="5881915"/>
          </a:xfrm>
          <a:prstGeom prst="rect">
            <a:avLst/>
          </a:prstGeom>
          <a:noFill/>
          <a:ln>
            <a:noFill/>
          </a:ln>
        </p:spPr>
        <p:txBody>
          <a:bodyPr spcFirstLastPara="1" wrap="square" lIns="228600" tIns="228600" rIns="228600" bIns="0" anchor="b" anchorCtr="0">
            <a:noAutofit/>
          </a:bodyPr>
          <a:lstStyle>
            <a:lvl1pPr lvl="0" algn="ctr">
              <a:lnSpc>
                <a:spcPct val="85000"/>
              </a:lnSpc>
              <a:spcBef>
                <a:spcPts val="0"/>
              </a:spcBef>
              <a:spcAft>
                <a:spcPts val="0"/>
              </a:spcAft>
              <a:buClr>
                <a:srgbClr val="FFFEFF"/>
              </a:buClr>
              <a:buSzPts val="13440"/>
              <a:buFont typeface="Calibri"/>
              <a:buNone/>
              <a:defRPr sz="13439">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10"/>
          <p:cNvSpPr txBox="1">
            <a:spLocks noGrp="1"/>
          </p:cNvSpPr>
          <p:nvPr>
            <p:ph type="body" idx="1"/>
          </p:nvPr>
        </p:nvSpPr>
        <p:spPr>
          <a:xfrm>
            <a:off x="21195295" y="3846674"/>
            <a:ext cx="19659086" cy="25197576"/>
          </a:xfrm>
          <a:prstGeom prst="rect">
            <a:avLst/>
          </a:prstGeom>
          <a:noFill/>
          <a:ln>
            <a:noFill/>
          </a:ln>
        </p:spPr>
        <p:txBody>
          <a:bodyPr spcFirstLastPara="1" wrap="square" lIns="91425" tIns="45700" rIns="91425" bIns="45700" anchor="ctr"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229" name="Google Shape;229;p10"/>
          <p:cNvSpPr txBox="1">
            <a:spLocks noGrp="1"/>
          </p:cNvSpPr>
          <p:nvPr>
            <p:ph type="body" idx="2"/>
          </p:nvPr>
        </p:nvSpPr>
        <p:spPr>
          <a:xfrm>
            <a:off x="3482661" y="17161555"/>
            <a:ext cx="14937826" cy="5949850"/>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600"/>
              </a:spcBef>
              <a:spcAft>
                <a:spcPts val="0"/>
              </a:spcAft>
              <a:buSzPts val="7392"/>
              <a:buNone/>
              <a:defRPr sz="6719">
                <a:solidFill>
                  <a:srgbClr val="FFFEFF"/>
                </a:solidFill>
              </a:defRPr>
            </a:lvl1pPr>
            <a:lvl2pPr marL="914400" lvl="1" indent="-228600" algn="l">
              <a:lnSpc>
                <a:spcPct val="120000"/>
              </a:lnSpc>
              <a:spcBef>
                <a:spcPts val="1800"/>
              </a:spcBef>
              <a:spcAft>
                <a:spcPts val="0"/>
              </a:spcAft>
              <a:buSzPts val="5544"/>
              <a:buNone/>
              <a:defRPr sz="5040"/>
            </a:lvl2pPr>
            <a:lvl3pPr marL="1371600" lvl="2" indent="-228600" algn="l">
              <a:lnSpc>
                <a:spcPct val="120000"/>
              </a:lnSpc>
              <a:spcBef>
                <a:spcPts val="1800"/>
              </a:spcBef>
              <a:spcAft>
                <a:spcPts val="0"/>
              </a:spcAft>
              <a:buSzPts val="4752"/>
              <a:buNone/>
              <a:defRPr sz="4320"/>
            </a:lvl3pPr>
            <a:lvl4pPr marL="1828800" lvl="3" indent="-228600" algn="l">
              <a:lnSpc>
                <a:spcPct val="120000"/>
              </a:lnSpc>
              <a:spcBef>
                <a:spcPts val="1800"/>
              </a:spcBef>
              <a:spcAft>
                <a:spcPts val="0"/>
              </a:spcAft>
              <a:buSzPts val="3960"/>
              <a:buNone/>
              <a:defRPr sz="3600"/>
            </a:lvl4pPr>
            <a:lvl5pPr marL="2286000" lvl="4" indent="-228600" algn="l">
              <a:lnSpc>
                <a:spcPct val="120000"/>
              </a:lnSpc>
              <a:spcBef>
                <a:spcPts val="1800"/>
              </a:spcBef>
              <a:spcAft>
                <a:spcPts val="0"/>
              </a:spcAft>
              <a:buSzPts val="3960"/>
              <a:buNone/>
              <a:defRPr sz="3600"/>
            </a:lvl5pPr>
            <a:lvl6pPr marL="2743200" lvl="5" indent="-228600" algn="l">
              <a:lnSpc>
                <a:spcPct val="120000"/>
              </a:lnSpc>
              <a:spcBef>
                <a:spcPts val="1800"/>
              </a:spcBef>
              <a:spcAft>
                <a:spcPts val="0"/>
              </a:spcAft>
              <a:buSzPts val="3960"/>
              <a:buNone/>
              <a:defRPr sz="3600"/>
            </a:lvl6pPr>
            <a:lvl7pPr marL="3200400" lvl="6" indent="-228600" algn="l">
              <a:lnSpc>
                <a:spcPct val="120000"/>
              </a:lnSpc>
              <a:spcBef>
                <a:spcPts val="1800"/>
              </a:spcBef>
              <a:spcAft>
                <a:spcPts val="0"/>
              </a:spcAft>
              <a:buSzPts val="3960"/>
              <a:buNone/>
              <a:defRPr sz="3600"/>
            </a:lvl7pPr>
            <a:lvl8pPr marL="3657600" lvl="7" indent="-228600" algn="l">
              <a:lnSpc>
                <a:spcPct val="120000"/>
              </a:lnSpc>
              <a:spcBef>
                <a:spcPts val="1800"/>
              </a:spcBef>
              <a:spcAft>
                <a:spcPts val="0"/>
              </a:spcAft>
              <a:buSzPts val="3960"/>
              <a:buNone/>
              <a:defRPr sz="3600"/>
            </a:lvl8pPr>
            <a:lvl9pPr marL="4114800" lvl="8" indent="-228600" algn="l">
              <a:lnSpc>
                <a:spcPct val="120000"/>
              </a:lnSpc>
              <a:spcBef>
                <a:spcPts val="1800"/>
              </a:spcBef>
              <a:spcAft>
                <a:spcPts val="0"/>
              </a:spcAft>
              <a:buSzPts val="3960"/>
              <a:buNone/>
              <a:defRPr sz="3600"/>
            </a:lvl9pPr>
          </a:lstStyle>
          <a:p>
            <a:endParaRPr/>
          </a:p>
        </p:txBody>
      </p:sp>
      <p:sp>
        <p:nvSpPr>
          <p:cNvPr id="230" name="Google Shape;230;p10"/>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10"/>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10"/>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3"/>
        <p:cNvGrpSpPr/>
        <p:nvPr/>
      </p:nvGrpSpPr>
      <p:grpSpPr>
        <a:xfrm>
          <a:off x="0" y="0"/>
          <a:ext cx="0" cy="0"/>
          <a:chOff x="0" y="0"/>
          <a:chExt cx="0" cy="0"/>
        </a:xfrm>
      </p:grpSpPr>
      <p:grpSp>
        <p:nvGrpSpPr>
          <p:cNvPr id="234" name="Google Shape;234;p11"/>
          <p:cNvGrpSpPr/>
          <p:nvPr/>
        </p:nvGrpSpPr>
        <p:grpSpPr>
          <a:xfrm>
            <a:off x="3" y="0"/>
            <a:ext cx="45864782" cy="32895542"/>
            <a:chOff x="1524000" y="0"/>
            <a:chExt cx="9555163" cy="6853238"/>
          </a:xfrm>
        </p:grpSpPr>
        <p:sp>
          <p:nvSpPr>
            <p:cNvPr id="235" name="Google Shape;235;p11"/>
            <p:cNvSpPr/>
            <p:nvPr/>
          </p:nvSpPr>
          <p:spPr>
            <a:xfrm>
              <a:off x="1524000" y="1331913"/>
              <a:ext cx="7837488" cy="5521325"/>
            </a:xfrm>
            <a:custGeom>
              <a:avLst/>
              <a:gdLst/>
              <a:ahLst/>
              <a:cxnLst/>
              <a:rect l="l" t="t" r="r" b="b"/>
              <a:pathLst>
                <a:path w="1648" h="1161" extrusionOk="0">
                  <a:moveTo>
                    <a:pt x="1362" y="1161"/>
                  </a:moveTo>
                  <a:cubicBezTo>
                    <a:pt x="1648" y="920"/>
                    <a:pt x="1283" y="505"/>
                    <a:pt x="1097" y="326"/>
                  </a:cubicBezTo>
                  <a:cubicBezTo>
                    <a:pt x="926" y="162"/>
                    <a:pt x="709" y="35"/>
                    <a:pt x="470" y="14"/>
                  </a:cubicBezTo>
                  <a:cubicBezTo>
                    <a:pt x="315" y="0"/>
                    <a:pt x="142" y="49"/>
                    <a:pt x="0" y="138"/>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1"/>
            <p:cNvSpPr/>
            <p:nvPr/>
          </p:nvSpPr>
          <p:spPr>
            <a:xfrm>
              <a:off x="1524000" y="5564188"/>
              <a:ext cx="1412875" cy="1284288"/>
            </a:xfrm>
            <a:custGeom>
              <a:avLst/>
              <a:gdLst/>
              <a:ahLst/>
              <a:cxnLst/>
              <a:rect l="l" t="t" r="r" b="b"/>
              <a:pathLst>
                <a:path w="297" h="270" extrusionOk="0">
                  <a:moveTo>
                    <a:pt x="0" y="0"/>
                  </a:moveTo>
                  <a:cubicBezTo>
                    <a:pt x="73" y="119"/>
                    <a:pt x="186" y="220"/>
                    <a:pt x="297" y="27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1"/>
            <p:cNvSpPr/>
            <p:nvPr/>
          </p:nvSpPr>
          <p:spPr>
            <a:xfrm>
              <a:off x="1524000" y="2030413"/>
              <a:ext cx="6510338" cy="4813300"/>
            </a:xfrm>
            <a:custGeom>
              <a:avLst/>
              <a:gdLst/>
              <a:ahLst/>
              <a:cxnLst/>
              <a:rect l="l" t="t" r="r" b="b"/>
              <a:pathLst>
                <a:path w="1369" h="1012" extrusionOk="0">
                  <a:moveTo>
                    <a:pt x="845" y="1012"/>
                  </a:moveTo>
                  <a:cubicBezTo>
                    <a:pt x="1043" y="967"/>
                    <a:pt x="1369" y="853"/>
                    <a:pt x="1263" y="588"/>
                  </a:cubicBezTo>
                  <a:cubicBezTo>
                    <a:pt x="1164" y="340"/>
                    <a:pt x="861" y="107"/>
                    <a:pt x="602" y="49"/>
                  </a:cubicBezTo>
                  <a:cubicBezTo>
                    <a:pt x="383" y="0"/>
                    <a:pt x="135" y="97"/>
                    <a:pt x="0" y="28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1"/>
            <p:cNvSpPr/>
            <p:nvPr/>
          </p:nvSpPr>
          <p:spPr>
            <a:xfrm>
              <a:off x="1528763" y="6207125"/>
              <a:ext cx="717550" cy="646113"/>
            </a:xfrm>
            <a:custGeom>
              <a:avLst/>
              <a:gdLst/>
              <a:ahLst/>
              <a:cxnLst/>
              <a:rect l="l" t="t" r="r" b="b"/>
              <a:pathLst>
                <a:path w="151" h="136" extrusionOk="0">
                  <a:moveTo>
                    <a:pt x="0" y="0"/>
                  </a:moveTo>
                  <a:cubicBezTo>
                    <a:pt x="45" y="52"/>
                    <a:pt x="97" y="99"/>
                    <a:pt x="151" y="136"/>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11"/>
            <p:cNvSpPr/>
            <p:nvPr/>
          </p:nvSpPr>
          <p:spPr>
            <a:xfrm>
              <a:off x="1524000" y="1806575"/>
              <a:ext cx="6753225" cy="5046663"/>
            </a:xfrm>
            <a:custGeom>
              <a:avLst/>
              <a:gdLst/>
              <a:ahLst/>
              <a:cxnLst/>
              <a:rect l="l" t="t" r="r" b="b"/>
              <a:pathLst>
                <a:path w="1420" h="1061" extrusionOk="0">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11"/>
            <p:cNvSpPr/>
            <p:nvPr/>
          </p:nvSpPr>
          <p:spPr>
            <a:xfrm>
              <a:off x="1524000" y="669925"/>
              <a:ext cx="8797925" cy="6183313"/>
            </a:xfrm>
            <a:custGeom>
              <a:avLst/>
              <a:gdLst/>
              <a:ahLst/>
              <a:cxnLst/>
              <a:rect l="l" t="t" r="r" b="b"/>
              <a:pathLst>
                <a:path w="1850" h="1300" extrusionOk="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11"/>
            <p:cNvSpPr/>
            <p:nvPr/>
          </p:nvSpPr>
          <p:spPr>
            <a:xfrm>
              <a:off x="1524000" y="119063"/>
              <a:ext cx="9555163" cy="6734175"/>
            </a:xfrm>
            <a:custGeom>
              <a:avLst/>
              <a:gdLst/>
              <a:ahLst/>
              <a:cxnLst/>
              <a:rect l="l" t="t" r="r" b="b"/>
              <a:pathLst>
                <a:path w="2009" h="1416" extrusionOk="0">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11"/>
            <p:cNvSpPr/>
            <p:nvPr/>
          </p:nvSpPr>
          <p:spPr>
            <a:xfrm>
              <a:off x="5419725" y="4763"/>
              <a:ext cx="5216525" cy="5368925"/>
            </a:xfrm>
            <a:custGeom>
              <a:avLst/>
              <a:gdLst/>
              <a:ahLst/>
              <a:cxnLst/>
              <a:rect l="l" t="t" r="r" b="b"/>
              <a:pathLst>
                <a:path w="1097" h="1129" extrusionOk="0">
                  <a:moveTo>
                    <a:pt x="1097" y="1129"/>
                  </a:moveTo>
                  <a:cubicBezTo>
                    <a:pt x="1031" y="909"/>
                    <a:pt x="843" y="701"/>
                    <a:pt x="709" y="551"/>
                  </a:cubicBezTo>
                  <a:cubicBezTo>
                    <a:pt x="509" y="327"/>
                    <a:pt x="274" y="127"/>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11"/>
            <p:cNvSpPr/>
            <p:nvPr/>
          </p:nvSpPr>
          <p:spPr>
            <a:xfrm>
              <a:off x="5813425" y="4763"/>
              <a:ext cx="4832350" cy="4822825"/>
            </a:xfrm>
            <a:custGeom>
              <a:avLst/>
              <a:gdLst/>
              <a:ahLst/>
              <a:cxnLst/>
              <a:rect l="l" t="t" r="r" b="b"/>
              <a:pathLst>
                <a:path w="1016" h="1014" extrusionOk="0">
                  <a:moveTo>
                    <a:pt x="1016" y="1014"/>
                  </a:moveTo>
                  <a:cubicBezTo>
                    <a:pt x="934" y="849"/>
                    <a:pt x="802" y="697"/>
                    <a:pt x="698" y="577"/>
                  </a:cubicBezTo>
                  <a:cubicBezTo>
                    <a:pt x="500" y="348"/>
                    <a:pt x="270" y="141"/>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11"/>
            <p:cNvSpPr/>
            <p:nvPr/>
          </p:nvSpPr>
          <p:spPr>
            <a:xfrm>
              <a:off x="6003925" y="4763"/>
              <a:ext cx="4641850" cy="4598988"/>
            </a:xfrm>
            <a:custGeom>
              <a:avLst/>
              <a:gdLst/>
              <a:ahLst/>
              <a:cxnLst/>
              <a:rect l="l" t="t" r="r" b="b"/>
              <a:pathLst>
                <a:path w="976" h="967" extrusionOk="0">
                  <a:moveTo>
                    <a:pt x="976" y="967"/>
                  </a:moveTo>
                  <a:cubicBezTo>
                    <a:pt x="894" y="822"/>
                    <a:pt x="779" y="689"/>
                    <a:pt x="686" y="580"/>
                  </a:cubicBezTo>
                  <a:cubicBezTo>
                    <a:pt x="491" y="352"/>
                    <a:pt x="264" y="145"/>
                    <a:pt x="0" y="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1"/>
            <p:cNvSpPr/>
            <p:nvPr/>
          </p:nvSpPr>
          <p:spPr>
            <a:xfrm>
              <a:off x="6203950" y="0"/>
              <a:ext cx="4441825" cy="4237038"/>
            </a:xfrm>
            <a:custGeom>
              <a:avLst/>
              <a:gdLst/>
              <a:ahLst/>
              <a:cxnLst/>
              <a:rect l="l" t="t" r="r" b="b"/>
              <a:pathLst>
                <a:path w="934" h="891" extrusionOk="0">
                  <a:moveTo>
                    <a:pt x="934" y="891"/>
                  </a:moveTo>
                  <a:cubicBezTo>
                    <a:pt x="863" y="783"/>
                    <a:pt x="778" y="684"/>
                    <a:pt x="705" y="599"/>
                  </a:cubicBezTo>
                  <a:cubicBezTo>
                    <a:pt x="503" y="365"/>
                    <a:pt x="270" y="152"/>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1"/>
            <p:cNvSpPr/>
            <p:nvPr/>
          </p:nvSpPr>
          <p:spPr>
            <a:xfrm>
              <a:off x="6456363" y="4763"/>
              <a:ext cx="4179888" cy="3986213"/>
            </a:xfrm>
            <a:custGeom>
              <a:avLst/>
              <a:gdLst/>
              <a:ahLst/>
              <a:cxnLst/>
              <a:rect l="l" t="t" r="r" b="b"/>
              <a:pathLst>
                <a:path w="879" h="838" extrusionOk="0">
                  <a:moveTo>
                    <a:pt x="879" y="838"/>
                  </a:moveTo>
                  <a:cubicBezTo>
                    <a:pt x="821" y="755"/>
                    <a:pt x="756" y="679"/>
                    <a:pt x="698" y="611"/>
                  </a:cubicBezTo>
                  <a:cubicBezTo>
                    <a:pt x="498" y="375"/>
                    <a:pt x="268" y="15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1"/>
            <p:cNvSpPr/>
            <p:nvPr/>
          </p:nvSpPr>
          <p:spPr>
            <a:xfrm>
              <a:off x="6869113" y="4763"/>
              <a:ext cx="3776663" cy="3838575"/>
            </a:xfrm>
            <a:custGeom>
              <a:avLst/>
              <a:gdLst/>
              <a:ahLst/>
              <a:cxnLst/>
              <a:rect l="l" t="t" r="r" b="b"/>
              <a:pathLst>
                <a:path w="794" h="807" extrusionOk="0">
                  <a:moveTo>
                    <a:pt x="794" y="807"/>
                  </a:moveTo>
                  <a:cubicBezTo>
                    <a:pt x="745" y="739"/>
                    <a:pt x="695" y="676"/>
                    <a:pt x="648" y="617"/>
                  </a:cubicBezTo>
                  <a:cubicBezTo>
                    <a:pt x="462" y="383"/>
                    <a:pt x="248" y="1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1"/>
            <p:cNvSpPr/>
            <p:nvPr/>
          </p:nvSpPr>
          <p:spPr>
            <a:xfrm>
              <a:off x="8758238" y="4763"/>
              <a:ext cx="1887538" cy="1355725"/>
            </a:xfrm>
            <a:custGeom>
              <a:avLst/>
              <a:gdLst/>
              <a:ahLst/>
              <a:cxnLst/>
              <a:rect l="l" t="t" r="r" b="b"/>
              <a:pathLst>
                <a:path w="397" h="285" extrusionOk="0">
                  <a:moveTo>
                    <a:pt x="397" y="285"/>
                  </a:moveTo>
                  <a:cubicBezTo>
                    <a:pt x="270" y="182"/>
                    <a:pt x="138" y="86"/>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1"/>
            <p:cNvSpPr/>
            <p:nvPr/>
          </p:nvSpPr>
          <p:spPr>
            <a:xfrm>
              <a:off x="9223375" y="9525"/>
              <a:ext cx="1422400" cy="1108075"/>
            </a:xfrm>
            <a:custGeom>
              <a:avLst/>
              <a:gdLst/>
              <a:ahLst/>
              <a:cxnLst/>
              <a:rect l="l" t="t" r="r" b="b"/>
              <a:pathLst>
                <a:path w="299" h="233" extrusionOk="0">
                  <a:moveTo>
                    <a:pt x="299" y="233"/>
                  </a:moveTo>
                  <a:cubicBezTo>
                    <a:pt x="197" y="145"/>
                    <a:pt x="97" y="68"/>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1"/>
            <p:cNvSpPr/>
            <p:nvPr/>
          </p:nvSpPr>
          <p:spPr>
            <a:xfrm>
              <a:off x="10009188" y="4763"/>
              <a:ext cx="636588" cy="361950"/>
            </a:xfrm>
            <a:custGeom>
              <a:avLst/>
              <a:gdLst/>
              <a:ahLst/>
              <a:cxnLst/>
              <a:rect l="l" t="t" r="r" b="b"/>
              <a:pathLst>
                <a:path w="134" h="76" extrusionOk="0">
                  <a:moveTo>
                    <a:pt x="0" y="0"/>
                  </a:moveTo>
                  <a:cubicBezTo>
                    <a:pt x="45" y="25"/>
                    <a:pt x="89" y="50"/>
                    <a:pt x="134" y="76"/>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1" name="Google Shape;251;p11"/>
          <p:cNvGrpSpPr/>
          <p:nvPr/>
        </p:nvGrpSpPr>
        <p:grpSpPr>
          <a:xfrm>
            <a:off x="3093422" y="8151994"/>
            <a:ext cx="20917210" cy="16658016"/>
            <a:chOff x="644463" y="1698332"/>
            <a:chExt cx="4357752" cy="3470420"/>
          </a:xfrm>
        </p:grpSpPr>
        <p:sp>
          <p:nvSpPr>
            <p:cNvPr id="252" name="Google Shape;252;p11"/>
            <p:cNvSpPr/>
            <p:nvPr/>
          </p:nvSpPr>
          <p:spPr>
            <a:xfrm>
              <a:off x="644463" y="1698332"/>
              <a:ext cx="4357752"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1"/>
            <p:cNvSpPr/>
            <p:nvPr/>
          </p:nvSpPr>
          <p:spPr>
            <a:xfrm>
              <a:off x="644463" y="2274404"/>
              <a:ext cx="43577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11"/>
            <p:cNvSpPr/>
            <p:nvPr/>
          </p:nvSpPr>
          <p:spPr>
            <a:xfrm rot="10800000">
              <a:off x="2665346" y="4896349"/>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5" name="Google Shape;255;p11"/>
          <p:cNvSpPr>
            <a:spLocks noGrp="1"/>
          </p:cNvSpPr>
          <p:nvPr>
            <p:ph type="pic" idx="2"/>
          </p:nvPr>
        </p:nvSpPr>
        <p:spPr>
          <a:xfrm>
            <a:off x="27142445" y="0"/>
            <a:ext cx="16748755" cy="32918400"/>
          </a:xfrm>
          <a:prstGeom prst="rect">
            <a:avLst/>
          </a:prstGeom>
          <a:solidFill>
            <a:srgbClr val="FEFEFE"/>
          </a:solidFill>
          <a:ln>
            <a:noFill/>
          </a:ln>
        </p:spPr>
      </p:sp>
      <p:sp>
        <p:nvSpPr>
          <p:cNvPr id="256" name="Google Shape;256;p11"/>
          <p:cNvSpPr txBox="1">
            <a:spLocks noGrp="1"/>
          </p:cNvSpPr>
          <p:nvPr>
            <p:ph type="title"/>
          </p:nvPr>
        </p:nvSpPr>
        <p:spPr>
          <a:xfrm>
            <a:off x="3473208" y="11214732"/>
            <a:ext cx="20148797" cy="6074587"/>
          </a:xfrm>
          <a:prstGeom prst="rect">
            <a:avLst/>
          </a:prstGeom>
          <a:noFill/>
          <a:ln>
            <a:noFill/>
          </a:ln>
        </p:spPr>
        <p:txBody>
          <a:bodyPr spcFirstLastPara="1" wrap="square" lIns="228600" tIns="228600" rIns="228600" bIns="0" anchor="b" anchorCtr="0">
            <a:normAutofit/>
          </a:bodyPr>
          <a:lstStyle>
            <a:lvl1pPr lvl="0" algn="ctr">
              <a:lnSpc>
                <a:spcPct val="85000"/>
              </a:lnSpc>
              <a:spcBef>
                <a:spcPts val="0"/>
              </a:spcBef>
              <a:spcAft>
                <a:spcPts val="0"/>
              </a:spcAft>
              <a:buClr>
                <a:srgbClr val="FFFEFF"/>
              </a:buClr>
              <a:buSzPts val="15360"/>
              <a:buFont typeface="Calibri"/>
              <a:buNone/>
              <a:defRPr sz="15360">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7" name="Google Shape;257;p11"/>
          <p:cNvSpPr txBox="1">
            <a:spLocks noGrp="1"/>
          </p:cNvSpPr>
          <p:nvPr>
            <p:ph type="body" idx="1"/>
          </p:nvPr>
        </p:nvSpPr>
        <p:spPr>
          <a:xfrm>
            <a:off x="3467107" y="17289319"/>
            <a:ext cx="20156419" cy="582976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600"/>
              </a:spcBef>
              <a:spcAft>
                <a:spcPts val="0"/>
              </a:spcAft>
              <a:buSzPts val="7392"/>
              <a:buNone/>
              <a:defRPr sz="6719">
                <a:solidFill>
                  <a:srgbClr val="FFFEFF"/>
                </a:solidFill>
              </a:defRPr>
            </a:lvl1pPr>
            <a:lvl2pPr marL="914400" lvl="1" indent="-228600" algn="l">
              <a:lnSpc>
                <a:spcPct val="120000"/>
              </a:lnSpc>
              <a:spcBef>
                <a:spcPts val="1800"/>
              </a:spcBef>
              <a:spcAft>
                <a:spcPts val="0"/>
              </a:spcAft>
              <a:buSzPts val="5544"/>
              <a:buNone/>
              <a:defRPr sz="5040"/>
            </a:lvl2pPr>
            <a:lvl3pPr marL="1371600" lvl="2" indent="-228600" algn="l">
              <a:lnSpc>
                <a:spcPct val="120000"/>
              </a:lnSpc>
              <a:spcBef>
                <a:spcPts val="1800"/>
              </a:spcBef>
              <a:spcAft>
                <a:spcPts val="0"/>
              </a:spcAft>
              <a:buSzPts val="4752"/>
              <a:buNone/>
              <a:defRPr sz="4320"/>
            </a:lvl3pPr>
            <a:lvl4pPr marL="1828800" lvl="3" indent="-228600" algn="l">
              <a:lnSpc>
                <a:spcPct val="120000"/>
              </a:lnSpc>
              <a:spcBef>
                <a:spcPts val="1800"/>
              </a:spcBef>
              <a:spcAft>
                <a:spcPts val="0"/>
              </a:spcAft>
              <a:buSzPts val="3960"/>
              <a:buNone/>
              <a:defRPr sz="3600"/>
            </a:lvl4pPr>
            <a:lvl5pPr marL="2286000" lvl="4" indent="-228600" algn="l">
              <a:lnSpc>
                <a:spcPct val="120000"/>
              </a:lnSpc>
              <a:spcBef>
                <a:spcPts val="1800"/>
              </a:spcBef>
              <a:spcAft>
                <a:spcPts val="0"/>
              </a:spcAft>
              <a:buSzPts val="3960"/>
              <a:buNone/>
              <a:defRPr sz="3600"/>
            </a:lvl5pPr>
            <a:lvl6pPr marL="2743200" lvl="5" indent="-228600" algn="l">
              <a:lnSpc>
                <a:spcPct val="120000"/>
              </a:lnSpc>
              <a:spcBef>
                <a:spcPts val="1800"/>
              </a:spcBef>
              <a:spcAft>
                <a:spcPts val="0"/>
              </a:spcAft>
              <a:buSzPts val="3960"/>
              <a:buNone/>
              <a:defRPr sz="3600"/>
            </a:lvl6pPr>
            <a:lvl7pPr marL="3200400" lvl="6" indent="-228600" algn="l">
              <a:lnSpc>
                <a:spcPct val="120000"/>
              </a:lnSpc>
              <a:spcBef>
                <a:spcPts val="1800"/>
              </a:spcBef>
              <a:spcAft>
                <a:spcPts val="0"/>
              </a:spcAft>
              <a:buSzPts val="3960"/>
              <a:buNone/>
              <a:defRPr sz="3600"/>
            </a:lvl7pPr>
            <a:lvl8pPr marL="3657600" lvl="7" indent="-228600" algn="l">
              <a:lnSpc>
                <a:spcPct val="120000"/>
              </a:lnSpc>
              <a:spcBef>
                <a:spcPts val="1800"/>
              </a:spcBef>
              <a:spcAft>
                <a:spcPts val="0"/>
              </a:spcAft>
              <a:buSzPts val="3960"/>
              <a:buNone/>
              <a:defRPr sz="3600"/>
            </a:lvl8pPr>
            <a:lvl9pPr marL="4114800" lvl="8" indent="-228600" algn="l">
              <a:lnSpc>
                <a:spcPct val="120000"/>
              </a:lnSpc>
              <a:spcBef>
                <a:spcPts val="1800"/>
              </a:spcBef>
              <a:spcAft>
                <a:spcPts val="0"/>
              </a:spcAft>
              <a:buSzPts val="3960"/>
              <a:buNone/>
              <a:defRPr sz="3600"/>
            </a:lvl9pPr>
          </a:lstStyle>
          <a:p>
            <a:endParaRPr/>
          </a:p>
        </p:txBody>
      </p:sp>
      <p:sp>
        <p:nvSpPr>
          <p:cNvPr id="258" name="Google Shape;258;p11"/>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11"/>
          <p:cNvSpPr txBox="1">
            <a:spLocks noGrp="1"/>
          </p:cNvSpPr>
          <p:nvPr>
            <p:ph type="ftr" idx="11"/>
          </p:nvPr>
        </p:nvSpPr>
        <p:spPr>
          <a:xfrm>
            <a:off x="3072386" y="29889907"/>
            <a:ext cx="20921477"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0" name="Google Shape;260;p11"/>
          <p:cNvSpPr txBox="1">
            <a:spLocks noGrp="1"/>
          </p:cNvSpPr>
          <p:nvPr>
            <p:ph type="sldNum" idx="12"/>
          </p:nvPr>
        </p:nvSpPr>
        <p:spPr>
          <a:xfrm>
            <a:off x="20714222"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61"/>
        <p:cNvGrpSpPr/>
        <p:nvPr/>
      </p:nvGrpSpPr>
      <p:grpSpPr>
        <a:xfrm>
          <a:off x="0" y="0"/>
          <a:ext cx="0" cy="0"/>
          <a:chOff x="0" y="0"/>
          <a:chExt cx="0" cy="0"/>
        </a:xfrm>
      </p:grpSpPr>
      <p:grpSp>
        <p:nvGrpSpPr>
          <p:cNvPr id="262" name="Google Shape;262;p12"/>
          <p:cNvGrpSpPr/>
          <p:nvPr/>
        </p:nvGrpSpPr>
        <p:grpSpPr>
          <a:xfrm>
            <a:off x="-1373882" y="2"/>
            <a:ext cx="45224443" cy="32918405"/>
            <a:chOff x="1243013" y="0"/>
            <a:chExt cx="9402763" cy="6858001"/>
          </a:xfrm>
        </p:grpSpPr>
        <p:sp>
          <p:nvSpPr>
            <p:cNvPr id="263" name="Google Shape;263;p12"/>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12"/>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2"/>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12"/>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12"/>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2"/>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2"/>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2"/>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2"/>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2"/>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2"/>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2"/>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12"/>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12"/>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12"/>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12"/>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12"/>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12"/>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12"/>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12"/>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3" name="Google Shape;283;p12"/>
          <p:cNvGrpSpPr/>
          <p:nvPr/>
        </p:nvGrpSpPr>
        <p:grpSpPr>
          <a:xfrm>
            <a:off x="3072384" y="8158029"/>
            <a:ext cx="15775450" cy="16658021"/>
            <a:chOff x="640080" y="1699589"/>
            <a:chExt cx="3286552" cy="3470421"/>
          </a:xfrm>
        </p:grpSpPr>
        <p:sp>
          <p:nvSpPr>
            <p:cNvPr id="284" name="Google Shape;284;p12"/>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12"/>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12"/>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7" name="Google Shape;287;p12"/>
          <p:cNvSpPr txBox="1">
            <a:spLocks noGrp="1"/>
          </p:cNvSpPr>
          <p:nvPr>
            <p:ph type="title"/>
          </p:nvPr>
        </p:nvSpPr>
        <p:spPr>
          <a:xfrm>
            <a:off x="3474175" y="11279645"/>
            <a:ext cx="14946312" cy="11869315"/>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8" name="Google Shape;288;p12"/>
          <p:cNvSpPr txBox="1">
            <a:spLocks noGrp="1"/>
          </p:cNvSpPr>
          <p:nvPr>
            <p:ph type="body" idx="1"/>
          </p:nvPr>
        </p:nvSpPr>
        <p:spPr>
          <a:xfrm rot="5400000">
            <a:off x="18407822" y="6602124"/>
            <a:ext cx="25234032" cy="19659086"/>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289" name="Google Shape;289;p12"/>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12"/>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12"/>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2"/>
        <p:cNvGrpSpPr/>
        <p:nvPr/>
      </p:nvGrpSpPr>
      <p:grpSpPr>
        <a:xfrm>
          <a:off x="0" y="0"/>
          <a:ext cx="0" cy="0"/>
          <a:chOff x="0" y="0"/>
          <a:chExt cx="0" cy="0"/>
        </a:xfrm>
      </p:grpSpPr>
      <p:grpSp>
        <p:nvGrpSpPr>
          <p:cNvPr id="293" name="Google Shape;293;p13"/>
          <p:cNvGrpSpPr/>
          <p:nvPr/>
        </p:nvGrpSpPr>
        <p:grpSpPr>
          <a:xfrm flipH="1">
            <a:off x="3" y="2"/>
            <a:ext cx="45224443" cy="32918405"/>
            <a:chOff x="1243013" y="0"/>
            <a:chExt cx="9402763" cy="6858001"/>
          </a:xfrm>
        </p:grpSpPr>
        <p:sp>
          <p:nvSpPr>
            <p:cNvPr id="294" name="Google Shape;294;p13"/>
            <p:cNvSpPr/>
            <p:nvPr/>
          </p:nvSpPr>
          <p:spPr>
            <a:xfrm>
              <a:off x="2289175" y="0"/>
              <a:ext cx="3867150" cy="6848475"/>
            </a:xfrm>
            <a:custGeom>
              <a:avLst/>
              <a:gdLst/>
              <a:ahLst/>
              <a:cxnLst/>
              <a:rect l="l" t="t" r="r" b="b"/>
              <a:pathLst>
                <a:path w="813" h="1440" extrusionOk="0">
                  <a:moveTo>
                    <a:pt x="813" y="0"/>
                  </a:moveTo>
                  <a:cubicBezTo>
                    <a:pt x="331" y="221"/>
                    <a:pt x="0" y="1039"/>
                    <a:pt x="43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3"/>
            <p:cNvSpPr/>
            <p:nvPr/>
          </p:nvSpPr>
          <p:spPr>
            <a:xfrm>
              <a:off x="9604375" y="9525"/>
              <a:ext cx="1041400" cy="328613"/>
            </a:xfrm>
            <a:custGeom>
              <a:avLst/>
              <a:gdLst/>
              <a:ahLst/>
              <a:cxnLst/>
              <a:rect l="l" t="t" r="r" b="b"/>
              <a:pathLst>
                <a:path w="219" h="69" extrusionOk="0">
                  <a:moveTo>
                    <a:pt x="219" y="69"/>
                  </a:moveTo>
                  <a:cubicBezTo>
                    <a:pt x="147" y="41"/>
                    <a:pt x="71" y="19"/>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3"/>
            <p:cNvSpPr/>
            <p:nvPr/>
          </p:nvSpPr>
          <p:spPr>
            <a:xfrm>
              <a:off x="9223375" y="5578475"/>
              <a:ext cx="1422400" cy="1270000"/>
            </a:xfrm>
            <a:custGeom>
              <a:avLst/>
              <a:gdLst/>
              <a:ahLst/>
              <a:cxnLst/>
              <a:rect l="l" t="t" r="r" b="b"/>
              <a:pathLst>
                <a:path w="299" h="267" extrusionOk="0">
                  <a:moveTo>
                    <a:pt x="0" y="267"/>
                  </a:moveTo>
                  <a:cubicBezTo>
                    <a:pt x="105" y="186"/>
                    <a:pt x="206" y="96"/>
                    <a:pt x="299"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13"/>
            <p:cNvSpPr/>
            <p:nvPr/>
          </p:nvSpPr>
          <p:spPr>
            <a:xfrm>
              <a:off x="2103438" y="0"/>
              <a:ext cx="3681413" cy="6848475"/>
            </a:xfrm>
            <a:custGeom>
              <a:avLst/>
              <a:gdLst/>
              <a:ahLst/>
              <a:cxnLst/>
              <a:rect l="l" t="t" r="r" b="b"/>
              <a:pathLst>
                <a:path w="774" h="1440" extrusionOk="0">
                  <a:moveTo>
                    <a:pt x="774" y="0"/>
                  </a:moveTo>
                  <a:cubicBezTo>
                    <a:pt x="312" y="240"/>
                    <a:pt x="0" y="1034"/>
                    <a:pt x="411" y="144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13"/>
            <p:cNvSpPr/>
            <p:nvPr/>
          </p:nvSpPr>
          <p:spPr>
            <a:xfrm>
              <a:off x="10179050" y="9525"/>
              <a:ext cx="466725" cy="157163"/>
            </a:xfrm>
            <a:custGeom>
              <a:avLst/>
              <a:gdLst/>
              <a:ahLst/>
              <a:cxnLst/>
              <a:rect l="l" t="t" r="r" b="b"/>
              <a:pathLst>
                <a:path w="98" h="33" extrusionOk="0">
                  <a:moveTo>
                    <a:pt x="98" y="33"/>
                  </a:moveTo>
                  <a:cubicBezTo>
                    <a:pt x="65" y="21"/>
                    <a:pt x="33" y="10"/>
                    <a:pt x="0"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3"/>
            <p:cNvSpPr/>
            <p:nvPr/>
          </p:nvSpPr>
          <p:spPr>
            <a:xfrm>
              <a:off x="9471025" y="5811838"/>
              <a:ext cx="1174750" cy="1046163"/>
            </a:xfrm>
            <a:custGeom>
              <a:avLst/>
              <a:gdLst/>
              <a:ahLst/>
              <a:cxnLst/>
              <a:rect l="l" t="t" r="r" b="b"/>
              <a:pathLst>
                <a:path w="247" h="220" extrusionOk="0">
                  <a:moveTo>
                    <a:pt x="0" y="220"/>
                  </a:moveTo>
                  <a:cubicBezTo>
                    <a:pt x="86" y="152"/>
                    <a:pt x="169" y="78"/>
                    <a:pt x="247" y="0"/>
                  </a:cubicBezTo>
                </a:path>
              </a:pathLst>
            </a:custGeom>
            <a:noFill/>
            <a:ln w="9525" cap="flat" cmpd="sng">
              <a:solidFill>
                <a:schemeClr val="dk1">
                  <a:alpha val="20000"/>
                </a:schemeClr>
              </a:solidFill>
              <a:prstDash val="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3"/>
            <p:cNvSpPr/>
            <p:nvPr/>
          </p:nvSpPr>
          <p:spPr>
            <a:xfrm>
              <a:off x="1985963" y="0"/>
              <a:ext cx="3622675" cy="6848475"/>
            </a:xfrm>
            <a:custGeom>
              <a:avLst/>
              <a:gdLst/>
              <a:ahLst/>
              <a:cxnLst/>
              <a:rect l="l" t="t" r="r" b="b"/>
              <a:pathLst>
                <a:path w="762" h="1440" extrusionOk="0">
                  <a:moveTo>
                    <a:pt x="762" y="0"/>
                  </a:moveTo>
                  <a:cubicBezTo>
                    <a:pt x="308" y="245"/>
                    <a:pt x="0" y="1033"/>
                    <a:pt x="403"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3"/>
            <p:cNvSpPr/>
            <p:nvPr/>
          </p:nvSpPr>
          <p:spPr>
            <a:xfrm>
              <a:off x="10479088" y="9525"/>
              <a:ext cx="166688" cy="57150"/>
            </a:xfrm>
            <a:custGeom>
              <a:avLst/>
              <a:gdLst/>
              <a:ahLst/>
              <a:cxnLst/>
              <a:rect l="l" t="t" r="r" b="b"/>
              <a:pathLst>
                <a:path w="35" h="12" extrusionOk="0">
                  <a:moveTo>
                    <a:pt x="35" y="12"/>
                  </a:moveTo>
                  <a:cubicBezTo>
                    <a:pt x="23" y="8"/>
                    <a:pt x="12" y="4"/>
                    <a:pt x="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3"/>
            <p:cNvSpPr/>
            <p:nvPr/>
          </p:nvSpPr>
          <p:spPr>
            <a:xfrm>
              <a:off x="9618663" y="5940425"/>
              <a:ext cx="1027113" cy="908050"/>
            </a:xfrm>
            <a:custGeom>
              <a:avLst/>
              <a:gdLst/>
              <a:ahLst/>
              <a:cxnLst/>
              <a:rect l="l" t="t" r="r" b="b"/>
              <a:pathLst>
                <a:path w="216" h="191" extrusionOk="0">
                  <a:moveTo>
                    <a:pt x="0" y="191"/>
                  </a:moveTo>
                  <a:cubicBezTo>
                    <a:pt x="75" y="131"/>
                    <a:pt x="147" y="67"/>
                    <a:pt x="216"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3"/>
            <p:cNvSpPr/>
            <p:nvPr/>
          </p:nvSpPr>
          <p:spPr>
            <a:xfrm>
              <a:off x="1985963" y="0"/>
              <a:ext cx="3248025" cy="6848475"/>
            </a:xfrm>
            <a:custGeom>
              <a:avLst/>
              <a:gdLst/>
              <a:ahLst/>
              <a:cxnLst/>
              <a:rect l="l" t="t" r="r" b="b"/>
              <a:pathLst>
                <a:path w="683" h="1440" extrusionOk="0">
                  <a:moveTo>
                    <a:pt x="683" y="0"/>
                  </a:moveTo>
                  <a:cubicBezTo>
                    <a:pt x="258" y="256"/>
                    <a:pt x="0" y="1041"/>
                    <a:pt x="355"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3"/>
            <p:cNvSpPr/>
            <p:nvPr/>
          </p:nvSpPr>
          <p:spPr>
            <a:xfrm>
              <a:off x="9780588" y="6054725"/>
              <a:ext cx="865188" cy="793750"/>
            </a:xfrm>
            <a:custGeom>
              <a:avLst/>
              <a:gdLst/>
              <a:ahLst/>
              <a:cxnLst/>
              <a:rect l="l" t="t" r="r" b="b"/>
              <a:pathLst>
                <a:path w="182" h="167" extrusionOk="0">
                  <a:moveTo>
                    <a:pt x="0" y="167"/>
                  </a:moveTo>
                  <a:cubicBezTo>
                    <a:pt x="63" y="114"/>
                    <a:pt x="123" y="58"/>
                    <a:pt x="182"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13"/>
            <p:cNvSpPr/>
            <p:nvPr/>
          </p:nvSpPr>
          <p:spPr>
            <a:xfrm>
              <a:off x="1871663" y="0"/>
              <a:ext cx="3233738" cy="6848475"/>
            </a:xfrm>
            <a:custGeom>
              <a:avLst/>
              <a:gdLst/>
              <a:ahLst/>
              <a:cxnLst/>
              <a:rect l="l" t="t" r="r" b="b"/>
              <a:pathLst>
                <a:path w="680" h="1440" extrusionOk="0">
                  <a:moveTo>
                    <a:pt x="680" y="0"/>
                  </a:moveTo>
                  <a:cubicBezTo>
                    <a:pt x="257" y="265"/>
                    <a:pt x="0" y="1026"/>
                    <a:pt x="337"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13"/>
            <p:cNvSpPr/>
            <p:nvPr/>
          </p:nvSpPr>
          <p:spPr>
            <a:xfrm>
              <a:off x="9956800" y="6216650"/>
              <a:ext cx="688975" cy="631825"/>
            </a:xfrm>
            <a:custGeom>
              <a:avLst/>
              <a:gdLst/>
              <a:ahLst/>
              <a:cxnLst/>
              <a:rect l="l" t="t" r="r" b="b"/>
              <a:pathLst>
                <a:path w="145" h="133" extrusionOk="0">
                  <a:moveTo>
                    <a:pt x="0" y="133"/>
                  </a:moveTo>
                  <a:cubicBezTo>
                    <a:pt x="50" y="90"/>
                    <a:pt x="98" y="46"/>
                    <a:pt x="145"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13"/>
            <p:cNvSpPr/>
            <p:nvPr/>
          </p:nvSpPr>
          <p:spPr>
            <a:xfrm>
              <a:off x="1466850" y="0"/>
              <a:ext cx="3424238" cy="6848475"/>
            </a:xfrm>
            <a:custGeom>
              <a:avLst/>
              <a:gdLst/>
              <a:ahLst/>
              <a:cxnLst/>
              <a:rect l="l" t="t" r="r" b="b"/>
              <a:pathLst>
                <a:path w="720" h="1440" extrusionOk="0">
                  <a:moveTo>
                    <a:pt x="720" y="0"/>
                  </a:moveTo>
                  <a:cubicBezTo>
                    <a:pt x="316" y="282"/>
                    <a:pt x="0" y="1018"/>
                    <a:pt x="362" y="144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13"/>
            <p:cNvSpPr/>
            <p:nvPr/>
          </p:nvSpPr>
          <p:spPr>
            <a:xfrm>
              <a:off x="10264775" y="6519863"/>
              <a:ext cx="381000" cy="328613"/>
            </a:xfrm>
            <a:custGeom>
              <a:avLst/>
              <a:gdLst/>
              <a:ahLst/>
              <a:cxnLst/>
              <a:rect l="l" t="t" r="r" b="b"/>
              <a:pathLst>
                <a:path w="80" h="69" extrusionOk="0">
                  <a:moveTo>
                    <a:pt x="0" y="69"/>
                  </a:moveTo>
                  <a:cubicBezTo>
                    <a:pt x="27" y="47"/>
                    <a:pt x="53" y="24"/>
                    <a:pt x="80" y="0"/>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13"/>
            <p:cNvSpPr/>
            <p:nvPr/>
          </p:nvSpPr>
          <p:spPr>
            <a:xfrm>
              <a:off x="1581150" y="0"/>
              <a:ext cx="2720975" cy="6848475"/>
            </a:xfrm>
            <a:custGeom>
              <a:avLst/>
              <a:gdLst/>
              <a:ahLst/>
              <a:cxnLst/>
              <a:rect l="l" t="t" r="r" b="b"/>
              <a:pathLst>
                <a:path w="572" h="1440" extrusionOk="0">
                  <a:moveTo>
                    <a:pt x="572" y="0"/>
                  </a:moveTo>
                  <a:cubicBezTo>
                    <a:pt x="213" y="320"/>
                    <a:pt x="0" y="979"/>
                    <a:pt x="164" y="1440"/>
                  </a:cubicBezTo>
                </a:path>
              </a:pathLst>
            </a:custGeom>
            <a:noFill/>
            <a:ln w="12700" cap="flat" cmpd="sng">
              <a:solidFill>
                <a:schemeClr val="dk1">
                  <a:alpha val="20000"/>
                </a:schemeClr>
              </a:solidFill>
              <a:prstDash val="dashDot"/>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13"/>
            <p:cNvSpPr/>
            <p:nvPr/>
          </p:nvSpPr>
          <p:spPr>
            <a:xfrm>
              <a:off x="1243013" y="0"/>
              <a:ext cx="2949575" cy="6848475"/>
            </a:xfrm>
            <a:custGeom>
              <a:avLst/>
              <a:gdLst/>
              <a:ahLst/>
              <a:cxnLst/>
              <a:rect l="l" t="t" r="r" b="b"/>
              <a:pathLst>
                <a:path w="620" h="1440" extrusionOk="0">
                  <a:moveTo>
                    <a:pt x="620" y="0"/>
                  </a:moveTo>
                  <a:cubicBezTo>
                    <a:pt x="248" y="325"/>
                    <a:pt x="0" y="960"/>
                    <a:pt x="186" y="1440"/>
                  </a:cubicBezTo>
                </a:path>
              </a:pathLst>
            </a:custGeom>
            <a:noFill/>
            <a:ln w="9525" cap="flat" cmpd="sng">
              <a:solidFill>
                <a:schemeClr val="dk1">
                  <a:alpha val="20000"/>
                </a:schemeClr>
              </a:solidFill>
              <a:prstDash val="lgDash"/>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13"/>
            <p:cNvSpPr/>
            <p:nvPr/>
          </p:nvSpPr>
          <p:spPr>
            <a:xfrm>
              <a:off x="1524000" y="0"/>
              <a:ext cx="1446213" cy="2030413"/>
            </a:xfrm>
            <a:custGeom>
              <a:avLst/>
              <a:gdLst/>
              <a:ahLst/>
              <a:cxnLst/>
              <a:rect l="l" t="t" r="r" b="b"/>
              <a:pathLst>
                <a:path w="304" h="427" extrusionOk="0">
                  <a:moveTo>
                    <a:pt x="304" y="0"/>
                  </a:moveTo>
                  <a:cubicBezTo>
                    <a:pt x="170" y="120"/>
                    <a:pt x="69" y="267"/>
                    <a:pt x="0" y="427"/>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13"/>
            <p:cNvSpPr/>
            <p:nvPr/>
          </p:nvSpPr>
          <p:spPr>
            <a:xfrm>
              <a:off x="1524000" y="9525"/>
              <a:ext cx="1246188" cy="1641475"/>
            </a:xfrm>
            <a:custGeom>
              <a:avLst/>
              <a:gdLst/>
              <a:ahLst/>
              <a:cxnLst/>
              <a:rect l="l" t="t" r="r" b="b"/>
              <a:pathLst>
                <a:path w="262" h="345" extrusionOk="0">
                  <a:moveTo>
                    <a:pt x="262" y="0"/>
                  </a:moveTo>
                  <a:cubicBezTo>
                    <a:pt x="152" y="102"/>
                    <a:pt x="65" y="217"/>
                    <a:pt x="0" y="34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13"/>
            <p:cNvSpPr/>
            <p:nvPr/>
          </p:nvSpPr>
          <p:spPr>
            <a:xfrm>
              <a:off x="1524000" y="0"/>
              <a:ext cx="1036638" cy="1212850"/>
            </a:xfrm>
            <a:custGeom>
              <a:avLst/>
              <a:gdLst/>
              <a:ahLst/>
              <a:cxnLst/>
              <a:rect l="l" t="t" r="r" b="b"/>
              <a:pathLst>
                <a:path w="218" h="255" extrusionOk="0">
                  <a:moveTo>
                    <a:pt x="218" y="0"/>
                  </a:moveTo>
                  <a:cubicBezTo>
                    <a:pt x="137" y="77"/>
                    <a:pt x="62" y="162"/>
                    <a:pt x="0" y="255"/>
                  </a:cubicBezTo>
                </a:path>
              </a:pathLst>
            </a:custGeom>
            <a:noFill/>
            <a:ln w="9525" cap="flat" cmpd="sng">
              <a:solidFill>
                <a:schemeClr val="dk1">
                  <a:alpha val="2000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4" name="Google Shape;314;p13"/>
          <p:cNvGrpSpPr/>
          <p:nvPr/>
        </p:nvGrpSpPr>
        <p:grpSpPr>
          <a:xfrm>
            <a:off x="25095043" y="8158029"/>
            <a:ext cx="15775450" cy="16658021"/>
            <a:chOff x="640080" y="1699589"/>
            <a:chExt cx="3286552" cy="3470421"/>
          </a:xfrm>
        </p:grpSpPr>
        <p:sp>
          <p:nvSpPr>
            <p:cNvPr id="315" name="Google Shape;315;p13"/>
            <p:cNvSpPr/>
            <p:nvPr/>
          </p:nvSpPr>
          <p:spPr>
            <a:xfrm>
              <a:off x="644453" y="1699589"/>
              <a:ext cx="3277806" cy="5029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13"/>
            <p:cNvSpPr/>
            <p:nvPr/>
          </p:nvSpPr>
          <p:spPr>
            <a:xfrm rot="10800000">
              <a:off x="2125363" y="4897607"/>
              <a:ext cx="315988" cy="272403"/>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3"/>
            <p:cNvSpPr/>
            <p:nvPr/>
          </p:nvSpPr>
          <p:spPr>
            <a:xfrm>
              <a:off x="640080" y="2275661"/>
              <a:ext cx="3286552" cy="26243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8" name="Google Shape;318;p13"/>
          <p:cNvSpPr txBox="1">
            <a:spLocks noGrp="1"/>
          </p:cNvSpPr>
          <p:nvPr>
            <p:ph type="title"/>
          </p:nvPr>
        </p:nvSpPr>
        <p:spPr>
          <a:xfrm rot="5400000">
            <a:off x="27058356" y="9726608"/>
            <a:ext cx="11831765" cy="14937826"/>
          </a:xfrm>
          <a:prstGeom prst="rect">
            <a:avLst/>
          </a:prstGeom>
          <a:noFill/>
          <a:ln>
            <a:noFill/>
          </a:ln>
        </p:spPr>
        <p:txBody>
          <a:bodyPr spcFirstLastPara="1" wrap="square" lIns="228600" tIns="228600" rIns="228600" bIns="228600" anchor="ctr" anchorCtr="0">
            <a:normAutofit/>
          </a:bodyPr>
          <a:lstStyle>
            <a:lvl1pPr lvl="0" algn="l">
              <a:lnSpc>
                <a:spcPct val="80000"/>
              </a:lnSpc>
              <a:spcBef>
                <a:spcPts val="0"/>
              </a:spcBef>
              <a:spcAft>
                <a:spcPts val="0"/>
              </a:spcAft>
              <a:buClr>
                <a:srgbClr val="FFFEFF"/>
              </a:buClr>
              <a:buSzPts val="15360"/>
              <a:buFont typeface="Calibri"/>
              <a:buNone/>
              <a:defRPr>
                <a:solidFill>
                  <a:srgbClr val="FFFE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p13"/>
          <p:cNvSpPr txBox="1">
            <a:spLocks noGrp="1"/>
          </p:cNvSpPr>
          <p:nvPr>
            <p:ph type="body" idx="1"/>
          </p:nvPr>
        </p:nvSpPr>
        <p:spPr>
          <a:xfrm rot="5400000">
            <a:off x="360014" y="6581105"/>
            <a:ext cx="25223050" cy="19767797"/>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320" name="Google Shape;320;p13"/>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1" name="Google Shape;321;p13"/>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13"/>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3"/>
        <p:cNvGrpSpPr/>
        <p:nvPr/>
      </p:nvGrpSpPr>
      <p:grpSpPr>
        <a:xfrm>
          <a:off x="0" y="0"/>
          <a:ext cx="0" cy="0"/>
          <a:chOff x="0" y="0"/>
          <a:chExt cx="0" cy="0"/>
        </a:xfrm>
      </p:grpSpPr>
      <p:sp>
        <p:nvSpPr>
          <p:cNvPr id="324" name="Google Shape;324;p14"/>
          <p:cNvSpPr txBox="1">
            <a:spLocks noGrp="1"/>
          </p:cNvSpPr>
          <p:nvPr>
            <p:ph type="title"/>
          </p:nvPr>
        </p:nvSpPr>
        <p:spPr>
          <a:xfrm>
            <a:off x="2193925" y="1317625"/>
            <a:ext cx="39503350" cy="5486400"/>
          </a:xfrm>
          <a:prstGeom prst="rect">
            <a:avLst/>
          </a:prstGeom>
          <a:noFill/>
          <a:ln>
            <a:noFill/>
          </a:ln>
        </p:spPr>
        <p:txBody>
          <a:bodyPr spcFirstLastPara="1" wrap="square" lIns="228600" tIns="228600" rIns="228600" bIns="228600" anchor="ctr" anchorCtr="0">
            <a:normAutofit/>
          </a:bodyPr>
          <a:lstStyle>
            <a:lvl1pPr lvl="0" algn="ctr">
              <a:lnSpc>
                <a:spcPct val="85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5" name="Google Shape;325;p14"/>
          <p:cNvSpPr txBox="1">
            <a:spLocks noGrp="1"/>
          </p:cNvSpPr>
          <p:nvPr>
            <p:ph type="body" idx="1"/>
          </p:nvPr>
        </p:nvSpPr>
        <p:spPr>
          <a:xfrm>
            <a:off x="0" y="0"/>
            <a:ext cx="43891200" cy="32918400"/>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
        <p:nvSpPr>
          <p:cNvPr id="326" name="Google Shape;326;p14"/>
          <p:cNvSpPr txBox="1">
            <a:spLocks noGrp="1"/>
          </p:cNvSpPr>
          <p:nvPr>
            <p:ph type="body" idx="2"/>
          </p:nvPr>
        </p:nvSpPr>
        <p:spPr>
          <a:xfrm>
            <a:off x="0" y="2"/>
            <a:ext cx="43891200" cy="33299400"/>
          </a:xfrm>
          <a:prstGeom prst="rect">
            <a:avLst/>
          </a:prstGeom>
          <a:noFill/>
          <a:ln>
            <a:noFill/>
          </a:ln>
        </p:spPr>
        <p:txBody>
          <a:bodyPr spcFirstLastPara="1" wrap="square" lIns="91425" tIns="45700" rIns="91425" bIns="45700" anchor="t" anchorCtr="0">
            <a:normAutofit/>
          </a:bodyPr>
          <a:lstStyle>
            <a:lvl1pPr marL="457200" lvl="0" indent="-354330" algn="l">
              <a:lnSpc>
                <a:spcPct val="120000"/>
              </a:lnSpc>
              <a:spcBef>
                <a:spcPts val="3600"/>
              </a:spcBef>
              <a:spcAft>
                <a:spcPts val="0"/>
              </a:spcAft>
              <a:buSzPts val="1980"/>
              <a:buChar char="▪"/>
              <a:defRPr/>
            </a:lvl1pPr>
            <a:lvl2pPr marL="914400" lvl="1" indent="-354330" algn="l">
              <a:lnSpc>
                <a:spcPct val="120000"/>
              </a:lnSpc>
              <a:spcBef>
                <a:spcPts val="1800"/>
              </a:spcBef>
              <a:spcAft>
                <a:spcPts val="0"/>
              </a:spcAft>
              <a:buSzPts val="1980"/>
              <a:buChar char="▪"/>
              <a:defRPr/>
            </a:lvl2pPr>
            <a:lvl3pPr marL="1371600" lvl="2" indent="-354330" algn="l">
              <a:lnSpc>
                <a:spcPct val="120000"/>
              </a:lnSpc>
              <a:spcBef>
                <a:spcPts val="1800"/>
              </a:spcBef>
              <a:spcAft>
                <a:spcPts val="0"/>
              </a:spcAft>
              <a:buSzPts val="1980"/>
              <a:buChar char="▪"/>
              <a:defRPr/>
            </a:lvl3pPr>
            <a:lvl4pPr marL="1828800" lvl="3" indent="-354330" algn="l">
              <a:lnSpc>
                <a:spcPct val="120000"/>
              </a:lnSpc>
              <a:spcBef>
                <a:spcPts val="1800"/>
              </a:spcBef>
              <a:spcAft>
                <a:spcPts val="0"/>
              </a:spcAft>
              <a:buSzPts val="1980"/>
              <a:buChar char="▪"/>
              <a:defRPr/>
            </a:lvl4pPr>
            <a:lvl5pPr marL="2286000" lvl="4" indent="-354329" algn="l">
              <a:lnSpc>
                <a:spcPct val="120000"/>
              </a:lnSpc>
              <a:spcBef>
                <a:spcPts val="1800"/>
              </a:spcBef>
              <a:spcAft>
                <a:spcPts val="0"/>
              </a:spcAft>
              <a:buSzPts val="1980"/>
              <a:buChar char="▪"/>
              <a:defRPr/>
            </a:lvl5pPr>
            <a:lvl6pPr marL="2743200" lvl="5" indent="-354329" algn="l">
              <a:lnSpc>
                <a:spcPct val="120000"/>
              </a:lnSpc>
              <a:spcBef>
                <a:spcPts val="1800"/>
              </a:spcBef>
              <a:spcAft>
                <a:spcPts val="0"/>
              </a:spcAft>
              <a:buSzPts val="1980"/>
              <a:buChar char="▪"/>
              <a:defRPr/>
            </a:lvl6pPr>
            <a:lvl7pPr marL="3200400" lvl="6" indent="-354329" algn="l">
              <a:lnSpc>
                <a:spcPct val="120000"/>
              </a:lnSpc>
              <a:spcBef>
                <a:spcPts val="1800"/>
              </a:spcBef>
              <a:spcAft>
                <a:spcPts val="0"/>
              </a:spcAft>
              <a:buSzPts val="1980"/>
              <a:buChar char="▪"/>
              <a:defRPr/>
            </a:lvl7pPr>
            <a:lvl8pPr marL="3657600" lvl="7" indent="-354329" algn="l">
              <a:lnSpc>
                <a:spcPct val="120000"/>
              </a:lnSpc>
              <a:spcBef>
                <a:spcPts val="1800"/>
              </a:spcBef>
              <a:spcAft>
                <a:spcPts val="0"/>
              </a:spcAft>
              <a:buSzPts val="1980"/>
              <a:buChar char="▪"/>
              <a:defRPr/>
            </a:lvl8pPr>
            <a:lvl9pPr marL="4114800" lvl="8" indent="-354329" algn="l">
              <a:lnSpc>
                <a:spcPct val="120000"/>
              </a:lnSpc>
              <a:spcBef>
                <a:spcPts val="1800"/>
              </a:spcBef>
              <a:spcAft>
                <a:spcPts val="0"/>
              </a:spcAft>
              <a:buSzPts val="198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482661" y="11279640"/>
            <a:ext cx="14937826" cy="11831770"/>
          </a:xfrm>
          <a:prstGeom prst="rect">
            <a:avLst/>
          </a:prstGeom>
          <a:noFill/>
          <a:ln>
            <a:noFill/>
          </a:ln>
        </p:spPr>
        <p:txBody>
          <a:bodyPr spcFirstLastPara="1" wrap="square" lIns="228600" tIns="228600" rIns="228600" bIns="228600" anchor="ctr" anchorCtr="0">
            <a:normAutofit/>
          </a:bodyPr>
          <a:lstStyle>
            <a:lvl1pPr marR="0" lvl="0" algn="ctr" rtl="0">
              <a:lnSpc>
                <a:spcPct val="85000"/>
              </a:lnSpc>
              <a:spcBef>
                <a:spcPts val="0"/>
              </a:spcBef>
              <a:spcAft>
                <a:spcPts val="0"/>
              </a:spcAft>
              <a:buClr>
                <a:schemeClr val="dk1"/>
              </a:buClr>
              <a:buSzPts val="15360"/>
              <a:buFont typeface="Calibri"/>
              <a:buNone/>
              <a:defRPr sz="1536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1195300" y="3814651"/>
            <a:ext cx="19579627" cy="25234032"/>
          </a:xfrm>
          <a:prstGeom prst="rect">
            <a:avLst/>
          </a:prstGeom>
          <a:noFill/>
          <a:ln>
            <a:noFill/>
          </a:ln>
        </p:spPr>
        <p:txBody>
          <a:bodyPr spcFirstLastPara="1" wrap="square" lIns="91425" tIns="45700" rIns="91425" bIns="45700" anchor="t" anchorCtr="0">
            <a:normAutofit/>
          </a:bodyPr>
          <a:lstStyle>
            <a:lvl1pPr marL="457200" marR="0" lvl="0" indent="-765048" algn="l" rtl="0">
              <a:lnSpc>
                <a:spcPct val="120000"/>
              </a:lnSpc>
              <a:spcBef>
                <a:spcPts val="3600"/>
              </a:spcBef>
              <a:spcAft>
                <a:spcPts val="0"/>
              </a:spcAft>
              <a:buClr>
                <a:schemeClr val="accent1"/>
              </a:buClr>
              <a:buSzPts val="8448"/>
              <a:buFont typeface="Noto Sans Symbols"/>
              <a:buChar char="▪"/>
              <a:defRPr sz="7680" b="0" i="0" u="none" strike="noStrike" cap="none">
                <a:solidFill>
                  <a:schemeClr val="dk1"/>
                </a:solidFill>
                <a:latin typeface="Rockwell"/>
                <a:ea typeface="Rockwell"/>
                <a:cs typeface="Rockwell"/>
                <a:sym typeface="Rockwell"/>
              </a:defRPr>
            </a:lvl1pPr>
            <a:lvl2pPr marL="914400" marR="0" lvl="1" indent="-697992" algn="l" rtl="0">
              <a:lnSpc>
                <a:spcPct val="120000"/>
              </a:lnSpc>
              <a:spcBef>
                <a:spcPts val="1800"/>
              </a:spcBef>
              <a:spcAft>
                <a:spcPts val="0"/>
              </a:spcAft>
              <a:buClr>
                <a:schemeClr val="accent1"/>
              </a:buClr>
              <a:buSzPts val="7392"/>
              <a:buFont typeface="Noto Sans Symbols"/>
              <a:buChar char="▪"/>
              <a:defRPr sz="6719" b="0" i="0" u="none" strike="noStrike" cap="none">
                <a:solidFill>
                  <a:schemeClr val="dk1"/>
                </a:solidFill>
                <a:latin typeface="Rockwell"/>
                <a:ea typeface="Rockwell"/>
                <a:cs typeface="Rockwell"/>
                <a:sym typeface="Rockwell"/>
              </a:defRPr>
            </a:lvl2pPr>
            <a:lvl3pPr marL="1371600" marR="0" lvl="2" indent="-630936"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3pPr>
            <a:lvl4pPr marL="1828800" marR="0" lvl="3" indent="-630936"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4pPr>
            <a:lvl5pPr marL="2286000" marR="0" lvl="4" indent="-630935" algn="l" rtl="0">
              <a:lnSpc>
                <a:spcPct val="120000"/>
              </a:lnSpc>
              <a:spcBef>
                <a:spcPts val="1800"/>
              </a:spcBef>
              <a:spcAft>
                <a:spcPts val="0"/>
              </a:spcAft>
              <a:buClr>
                <a:schemeClr val="accent1"/>
              </a:buClr>
              <a:buSzPts val="6336"/>
              <a:buFont typeface="Noto Sans Symbols"/>
              <a:buChar char="▪"/>
              <a:defRPr sz="5760" b="0" i="0" u="none" strike="noStrike" cap="none">
                <a:solidFill>
                  <a:schemeClr val="dk1"/>
                </a:solidFill>
                <a:latin typeface="Rockwell"/>
                <a:ea typeface="Rockwell"/>
                <a:cs typeface="Rockwell"/>
                <a:sym typeface="Rockwell"/>
              </a:defRPr>
            </a:lvl5pPr>
            <a:lvl6pPr marL="2743200" marR="0" lvl="5"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6pPr>
            <a:lvl7pPr marL="3200400" marR="0" lvl="6"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7pPr>
            <a:lvl8pPr marL="3657600" marR="0" lvl="7" indent="-530351"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8pPr>
            <a:lvl9pPr marL="4114800" marR="0" lvl="8" indent="-530352" algn="l" rtl="0">
              <a:lnSpc>
                <a:spcPct val="120000"/>
              </a:lnSpc>
              <a:spcBef>
                <a:spcPts val="1800"/>
              </a:spcBef>
              <a:spcAft>
                <a:spcPts val="0"/>
              </a:spcAft>
              <a:buClr>
                <a:schemeClr val="accent1"/>
              </a:buClr>
              <a:buSzPts val="4752"/>
              <a:buFont typeface="Noto Sans Symbols"/>
              <a:buChar char="▪"/>
              <a:defRPr sz="4320" b="0" i="0" u="none" strike="noStrike" cap="none">
                <a:solidFill>
                  <a:schemeClr val="dk1"/>
                </a:solidFill>
                <a:latin typeface="Rockwell"/>
                <a:ea typeface="Rockwell"/>
                <a:cs typeface="Rockwell"/>
                <a:sym typeface="Rockwell"/>
              </a:defRPr>
            </a:lvl9pPr>
          </a:lstStyle>
          <a:p>
            <a:endParaRPr/>
          </a:p>
        </p:txBody>
      </p:sp>
      <p:sp>
        <p:nvSpPr>
          <p:cNvPr id="12" name="Google Shape;12;p2"/>
          <p:cNvSpPr txBox="1">
            <a:spLocks noGrp="1"/>
          </p:cNvSpPr>
          <p:nvPr>
            <p:ph type="dt" idx="10"/>
          </p:nvPr>
        </p:nvSpPr>
        <p:spPr>
          <a:xfrm>
            <a:off x="3072384" y="1536192"/>
            <a:ext cx="13167360" cy="153619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800" b="0" i="0" u="none" strike="noStrike" cap="none">
                <a:solidFill>
                  <a:srgbClr val="888888"/>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9pPr>
          </a:lstStyle>
          <a:p>
            <a:endParaRPr/>
          </a:p>
        </p:txBody>
      </p:sp>
      <p:sp>
        <p:nvSpPr>
          <p:cNvPr id="13" name="Google Shape;13;p2"/>
          <p:cNvSpPr txBox="1">
            <a:spLocks noGrp="1"/>
          </p:cNvSpPr>
          <p:nvPr>
            <p:ph type="ftr" idx="11"/>
          </p:nvPr>
        </p:nvSpPr>
        <p:spPr>
          <a:xfrm>
            <a:off x="3072384" y="29889907"/>
            <a:ext cx="37702541" cy="153619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4800" b="0" i="0" u="none" strike="noStrike" cap="none">
                <a:solidFill>
                  <a:srgbClr val="888888"/>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ckwell"/>
                <a:ea typeface="Rockwell"/>
                <a:cs typeface="Rockwell"/>
                <a:sym typeface="Rockwell"/>
              </a:defRPr>
            </a:lvl9pPr>
          </a:lstStyle>
          <a:p>
            <a:endParaRPr/>
          </a:p>
        </p:txBody>
      </p:sp>
      <p:sp>
        <p:nvSpPr>
          <p:cNvPr id="14" name="Google Shape;14;p2"/>
          <p:cNvSpPr txBox="1">
            <a:spLocks noGrp="1"/>
          </p:cNvSpPr>
          <p:nvPr>
            <p:ph type="sldNum" idx="12"/>
          </p:nvPr>
        </p:nvSpPr>
        <p:spPr>
          <a:xfrm>
            <a:off x="37483085" y="1536192"/>
            <a:ext cx="3291840" cy="1536192"/>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1pPr>
            <a:lvl2pPr marL="0" marR="0" lvl="1"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2pPr>
            <a:lvl3pPr marL="0" marR="0" lvl="2"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3pPr>
            <a:lvl4pPr marL="0" marR="0" lvl="3"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4pPr>
            <a:lvl5pPr marL="0" marR="0" lvl="4"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5pPr>
            <a:lvl6pPr marL="0" marR="0" lvl="5"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6pPr>
            <a:lvl7pPr marL="0" marR="0" lvl="6"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7pPr>
            <a:lvl8pPr marL="0" marR="0" lvl="7"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8pPr>
            <a:lvl9pPr marL="0" marR="0" lvl="8" indent="0" algn="r" rtl="0">
              <a:lnSpc>
                <a:spcPct val="100000"/>
              </a:lnSpc>
              <a:spcBef>
                <a:spcPts val="0"/>
              </a:spcBef>
              <a:spcAft>
                <a:spcPts val="0"/>
              </a:spcAft>
              <a:buClr>
                <a:srgbClr val="000000"/>
              </a:buClr>
              <a:buSzPts val="4800"/>
              <a:buFont typeface="Arial"/>
              <a:buNone/>
              <a:defRPr sz="4800" b="0" i="0" u="none" strike="noStrike" cap="none">
                <a:solidFill>
                  <a:srgbClr val="888888"/>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
          <p:cNvSpPr/>
          <p:nvPr/>
        </p:nvSpPr>
        <p:spPr>
          <a:xfrm>
            <a:off x="0" y="0"/>
            <a:ext cx="44043600" cy="3307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8A100B"/>
        </a:solidFill>
        <a:effectLst/>
      </p:bgPr>
    </p:bg>
    <p:spTree>
      <p:nvGrpSpPr>
        <p:cNvPr id="1" name="Shape 331"/>
        <p:cNvGrpSpPr/>
        <p:nvPr/>
      </p:nvGrpSpPr>
      <p:grpSpPr>
        <a:xfrm>
          <a:off x="0" y="0"/>
          <a:ext cx="0" cy="0"/>
          <a:chOff x="0" y="0"/>
          <a:chExt cx="0" cy="0"/>
        </a:xfrm>
      </p:grpSpPr>
      <p:sp>
        <p:nvSpPr>
          <p:cNvPr id="337" name="Google Shape;337;p1"/>
          <p:cNvSpPr/>
          <p:nvPr/>
        </p:nvSpPr>
        <p:spPr>
          <a:xfrm>
            <a:off x="12521957" y="3733750"/>
            <a:ext cx="19774062" cy="271113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Results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lang="en-US" sz="2100" b="0" i="0" u="none" strike="noStrike" cap="none" dirty="0">
              <a:solidFill>
                <a:schemeClr val="dk1"/>
              </a:solidFill>
              <a:latin typeface="Arial"/>
              <a:ea typeface="Arial"/>
              <a:cs typeface="Arial"/>
              <a:sym typeface="Arial"/>
            </a:endParaRPr>
          </a:p>
          <a:p>
            <a:pPr>
              <a:buSzPts val="2100"/>
            </a:pPr>
            <a:r>
              <a:rPr lang="en-US" sz="2100" dirty="0">
                <a:solidFill>
                  <a:schemeClr val="dk1"/>
                </a:solidFill>
                <a:latin typeface="Open Sans"/>
                <a:ea typeface="Open Sans"/>
                <a:cs typeface="Open Sans"/>
                <a:sym typeface="Open Sans"/>
              </a:rPr>
              <a:t>Safe asset performance varied across different crisis regimes. The same asset can act as either a reliable protector or a source of additional losses depending on the nature of the shock</a:t>
            </a:r>
            <a:endParaRPr sz="2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lang="en-US" sz="2100" b="0" i="0" u="none" strike="noStrike" cap="none" dirty="0">
              <a:solidFill>
                <a:schemeClr val="dk1"/>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ExtraBold"/>
                <a:ea typeface="Open Sans ExtraBold"/>
                <a:cs typeface="Open Sans ExtraBold"/>
                <a:sym typeface="Open Sans ExtraBold"/>
              </a:rPr>
              <a:t>Stress-Day Performance </a:t>
            </a:r>
            <a:r>
              <a:rPr lang="en-US" sz="2100" b="0" i="1" u="none" strike="noStrike" cap="none" dirty="0">
                <a:solidFill>
                  <a:schemeClr val="dk1"/>
                </a:solidFill>
                <a:latin typeface="Open Sans ExtraBold"/>
                <a:ea typeface="Open Sans ExtraBold"/>
                <a:cs typeface="Open Sans ExtraBold"/>
                <a:sym typeface="Open Sans ExtraBold"/>
              </a:rPr>
              <a:t>(Days when S&amp;P 500 fell more than 1%)</a:t>
            </a:r>
          </a:p>
          <a:p>
            <a:pPr marL="0" marR="0" lvl="0" indent="0" algn="l" rtl="0">
              <a:lnSpc>
                <a:spcPct val="100000"/>
              </a:lnSpc>
              <a:spcBef>
                <a:spcPts val="0"/>
              </a:spcBef>
              <a:spcAft>
                <a:spcPts val="0"/>
              </a:spcAft>
              <a:buClr>
                <a:srgbClr val="000000"/>
              </a:buClr>
              <a:buSzPts val="2100"/>
              <a:buFont typeface="Arial"/>
              <a:buNone/>
            </a:pPr>
            <a:endParaRPr lang="en-US" sz="2100" b="0" i="0" u="none" strike="noStrike" cap="none" dirty="0">
              <a:solidFill>
                <a:schemeClr val="dk1"/>
              </a:solidFill>
              <a:latin typeface="Open Sans ExtraBold"/>
              <a:ea typeface="Open Sans ExtraBold"/>
              <a:cs typeface="Open Sans ExtraBold"/>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During COVID, Treasuries (+0.589%, p&lt;0.001) and the US Dollar (+0.340%, p&lt;0.01) were the only statistically significant hedges. </a:t>
            </a: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During the Rate hike cycle, the hedge relationship inverted. Treasuries turned negative and JPY became a significantly negative hedge (-0.132%, p&lt;0.05), driven by carry trade unwinding. </a:t>
            </a: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The US Dollar was the only asset to remain a statistically significant hedge across both COVID and the hike cycle (+0.211%, p&lt;0.001). </a:t>
            </a: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During trade volatility, no asset reaches statistical significance. Though, the small sample (n=31) limits inference and Gold’s descriptive performance (+0.345%) hints an emerging role. </a:t>
            </a: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endParaRPr lang="en-US" sz="2100" dirty="0">
              <a:solidFill>
                <a:schemeClr val="dk1"/>
              </a:solidFill>
              <a:latin typeface="Open Sans"/>
              <a:ea typeface="Open Sans"/>
              <a:cs typeface="Open Sans"/>
              <a:sym typeface="Open Sans ExtraBold"/>
            </a:endParaRPr>
          </a:p>
          <a:p>
            <a:pPr marR="0" lvl="0" algn="l" rtl="0">
              <a:lnSpc>
                <a:spcPct val="100000"/>
              </a:lnSpc>
              <a:spcBef>
                <a:spcPts val="0"/>
              </a:spcBef>
              <a:spcAft>
                <a:spcPts val="0"/>
              </a:spcAft>
              <a:buClr>
                <a:srgbClr val="000000"/>
              </a:buClr>
              <a:buSzPts val="2100"/>
            </a:pPr>
            <a:endParaRPr lang="en-US" sz="2100" i="1" dirty="0">
              <a:solidFill>
                <a:schemeClr val="dk1"/>
              </a:solidFill>
              <a:latin typeface="Open Sans"/>
              <a:ea typeface="Open Sans"/>
              <a:cs typeface="Open Sans"/>
              <a:sym typeface="Open Sans ExtraBold"/>
            </a:endParaRPr>
          </a:p>
        </p:txBody>
      </p:sp>
      <p:sp>
        <p:nvSpPr>
          <p:cNvPr id="5" name="Google Shape;351;p1">
            <a:extLst>
              <a:ext uri="{FF2B5EF4-FFF2-40B4-BE49-F238E27FC236}">
                <a16:creationId xmlns:a16="http://schemas.microsoft.com/office/drawing/2014/main" id="{EC20B3F0-2EEA-3C27-AAA7-E9E83A10499D}"/>
              </a:ext>
            </a:extLst>
          </p:cNvPr>
          <p:cNvSpPr txBox="1"/>
          <p:nvPr/>
        </p:nvSpPr>
        <p:spPr>
          <a:xfrm>
            <a:off x="12971810" y="12436874"/>
            <a:ext cx="6414508" cy="488080"/>
          </a:xfrm>
          <a:prstGeom prst="rect">
            <a:avLst/>
          </a:prstGeom>
          <a:noFill/>
          <a:ln>
            <a:noFill/>
          </a:ln>
        </p:spPr>
        <p:txBody>
          <a:bodyPr spcFirstLastPara="1" wrap="square" lIns="135000" tIns="135000" rIns="135000" bIns="135000" anchor="t" anchorCtr="0">
            <a:spAutoFit/>
          </a:bodyPr>
          <a:lstStyle/>
          <a:p>
            <a:r>
              <a:rPr lang="en-US" dirty="0"/>
              <a:t>(* p&lt;0.05 ** p&lt;0.01 *** p&lt;0.001)</a:t>
            </a:r>
          </a:p>
        </p:txBody>
      </p:sp>
      <p:pic>
        <p:nvPicPr>
          <p:cNvPr id="18" name="Picture 17">
            <a:extLst>
              <a:ext uri="{FF2B5EF4-FFF2-40B4-BE49-F238E27FC236}">
                <a16:creationId xmlns:a16="http://schemas.microsoft.com/office/drawing/2014/main" id="{B9FC892A-9799-81F1-03ED-E3B07BE341CD}"/>
              </a:ext>
            </a:extLst>
          </p:cNvPr>
          <p:cNvPicPr>
            <a:picLocks noChangeAspect="1"/>
          </p:cNvPicPr>
          <p:nvPr/>
        </p:nvPicPr>
        <p:blipFill>
          <a:blip r:embed="rId3"/>
          <a:stretch>
            <a:fillRect/>
          </a:stretch>
        </p:blipFill>
        <p:spPr>
          <a:xfrm>
            <a:off x="19714888" y="8249647"/>
            <a:ext cx="12091179" cy="4826467"/>
          </a:xfrm>
          <a:prstGeom prst="rect">
            <a:avLst/>
          </a:prstGeom>
          <a:ln>
            <a:solidFill>
              <a:schemeClr val="tx1"/>
            </a:solidFill>
          </a:ln>
        </p:spPr>
      </p:pic>
      <p:graphicFrame>
        <p:nvGraphicFramePr>
          <p:cNvPr id="22" name="Table 21">
            <a:extLst>
              <a:ext uri="{FF2B5EF4-FFF2-40B4-BE49-F238E27FC236}">
                <a16:creationId xmlns:a16="http://schemas.microsoft.com/office/drawing/2014/main" id="{0AD73885-C449-5B36-8C26-FB81917BFF8F}"/>
              </a:ext>
            </a:extLst>
          </p:cNvPr>
          <p:cNvGraphicFramePr>
            <a:graphicFrameLocks noGrp="1"/>
          </p:cNvGraphicFramePr>
          <p:nvPr>
            <p:extLst>
              <p:ext uri="{D42A27DB-BD31-4B8C-83A1-F6EECF244321}">
                <p14:modId xmlns:p14="http://schemas.microsoft.com/office/powerpoint/2010/main" val="2613723580"/>
              </p:ext>
            </p:extLst>
          </p:nvPr>
        </p:nvGraphicFramePr>
        <p:xfrm>
          <a:off x="12971810" y="8877384"/>
          <a:ext cx="6414508" cy="3522765"/>
        </p:xfrm>
        <a:graphic>
          <a:graphicData uri="http://schemas.openxmlformats.org/drawingml/2006/table">
            <a:tbl>
              <a:tblPr firstRow="1" bandRow="1">
                <a:tableStyleId>{BDBED569-4797-4DF1-A0F4-6AAB3CD982D8}</a:tableStyleId>
              </a:tblPr>
              <a:tblGrid>
                <a:gridCol w="1605473">
                  <a:extLst>
                    <a:ext uri="{9D8B030D-6E8A-4147-A177-3AD203B41FA5}">
                      <a16:colId xmlns:a16="http://schemas.microsoft.com/office/drawing/2014/main" val="3843680346"/>
                    </a:ext>
                  </a:extLst>
                </a:gridCol>
                <a:gridCol w="1605473">
                  <a:extLst>
                    <a:ext uri="{9D8B030D-6E8A-4147-A177-3AD203B41FA5}">
                      <a16:colId xmlns:a16="http://schemas.microsoft.com/office/drawing/2014/main" val="2889725483"/>
                    </a:ext>
                  </a:extLst>
                </a:gridCol>
                <a:gridCol w="1601781">
                  <a:extLst>
                    <a:ext uri="{9D8B030D-6E8A-4147-A177-3AD203B41FA5}">
                      <a16:colId xmlns:a16="http://schemas.microsoft.com/office/drawing/2014/main" val="1741638256"/>
                    </a:ext>
                  </a:extLst>
                </a:gridCol>
                <a:gridCol w="1601781">
                  <a:extLst>
                    <a:ext uri="{9D8B030D-6E8A-4147-A177-3AD203B41FA5}">
                      <a16:colId xmlns:a16="http://schemas.microsoft.com/office/drawing/2014/main" val="1902120613"/>
                    </a:ext>
                  </a:extLst>
                </a:gridCol>
              </a:tblGrid>
              <a:tr h="628438">
                <a:tc>
                  <a:txBody>
                    <a:bodyPr/>
                    <a:lstStyle/>
                    <a:p>
                      <a:pPr algn="ct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Asset </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(n=stress days)</a:t>
                      </a: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COVID </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(n=29)</a:t>
                      </a: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Rate Hike Cycle</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(n=91)</a:t>
                      </a: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Trade Volatility </a:t>
                      </a:r>
                    </a:p>
                    <a:p>
                      <a:pPr algn="ctr"/>
                      <a:r>
                        <a:rPr lang="en-US" sz="1500" b="1" i="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(n=31)</a:t>
                      </a:r>
                    </a:p>
                  </a:txBody>
                  <a:tcPr anchor="ctr"/>
                </a:tc>
                <a:extLst>
                  <a:ext uri="{0D108BD9-81ED-4DB2-BD59-A6C34878D82A}">
                    <a16:rowId xmlns:a16="http://schemas.microsoft.com/office/drawing/2014/main" val="417674496"/>
                  </a:ext>
                </a:extLst>
              </a:tr>
              <a:tr h="549105">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Treasuries</a:t>
                      </a:r>
                    </a:p>
                  </a:txBody>
                  <a:tcPr anchor="ctr"/>
                </a:tc>
                <a:tc>
                  <a:txBody>
                    <a:bodyPr/>
                    <a:lstStyle/>
                    <a:p>
                      <a:pPr marR="0" algn="ctr" rtl="0">
                        <a:lnSpc>
                          <a:spcPct val="100000"/>
                        </a:lnSpc>
                        <a:spcBef>
                          <a:spcPts val="0"/>
                        </a:spcBef>
                        <a:spcAft>
                          <a:spcPts val="0"/>
                        </a:spcAft>
                        <a:buClr>
                          <a:srgbClr val="000000"/>
                        </a:buClr>
                        <a:buFont typeface="Arial"/>
                      </a:pP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+0.589%***</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-0.108%</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+0.171%</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795317941"/>
                  </a:ext>
                </a:extLst>
              </a:tr>
              <a:tr h="549105">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Gold</a:t>
                      </a: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+0.046%</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-0.122%</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+0.354%</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2314666865"/>
                  </a:ext>
                </a:extLst>
              </a:tr>
              <a:tr h="549105">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CHF</a:t>
                      </a: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+0.063%</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+0.036%</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+0.124%</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1192617148"/>
                  </a:ext>
                </a:extLst>
              </a:tr>
              <a:tr h="549105">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JPY</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-0.071%</a:t>
                      </a: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-0.132%*</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+0.018%</a:t>
                      </a:r>
                    </a:p>
                  </a:txBody>
                  <a:tcPr anchor="ctr"/>
                </a:tc>
                <a:extLst>
                  <a:ext uri="{0D108BD9-81ED-4DB2-BD59-A6C34878D82A}">
                    <a16:rowId xmlns:a16="http://schemas.microsoft.com/office/drawing/2014/main" val="3073811850"/>
                  </a:ext>
                </a:extLst>
              </a:tr>
              <a:tr h="549105">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USD</a:t>
                      </a: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+0.340%**</a:t>
                      </a:r>
                    </a:p>
                  </a:txBody>
                  <a:tcPr anchor="ctr"/>
                </a:tc>
                <a:tc>
                  <a:txBody>
                    <a:bodyPr/>
                    <a:lstStyle/>
                    <a:p>
                      <a:pPr marR="0" algn="ctr" rtl="0">
                        <a:lnSpc>
                          <a:spcPct val="100000"/>
                        </a:lnSpc>
                        <a:spcBef>
                          <a:spcPts val="0"/>
                        </a:spcBef>
                        <a:spcAft>
                          <a:spcPts val="0"/>
                        </a:spcAft>
                        <a:buClr>
                          <a:srgbClr val="000000"/>
                        </a:buClr>
                        <a:buFont typeface="Arial"/>
                      </a:pPr>
                      <a:r>
                        <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+0.211%***</a:t>
                      </a:r>
                    </a:p>
                  </a:txBody>
                  <a:tcPr anchor="ctr"/>
                </a:tc>
                <a:tc>
                  <a:txBody>
                    <a:bodyPr/>
                    <a:lstStyle/>
                    <a:p>
                      <a:pPr marR="0" algn="ctr" rtl="0">
                        <a:lnSpc>
                          <a:spcPct val="100000"/>
                        </a:lnSpc>
                        <a:spcBef>
                          <a:spcPts val="0"/>
                        </a:spcBef>
                        <a:spcAft>
                          <a:spcPts val="0"/>
                        </a:spcAft>
                        <a:buClr>
                          <a:srgbClr val="000000"/>
                        </a:buClr>
                        <a:buFont typeface="Arial"/>
                      </a:pPr>
                      <a:r>
                        <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-0.030%</a:t>
                      </a:r>
                    </a:p>
                  </a:txBody>
                  <a:tcPr anchor="ctr"/>
                </a:tc>
                <a:extLst>
                  <a:ext uri="{0D108BD9-81ED-4DB2-BD59-A6C34878D82A}">
                    <a16:rowId xmlns:a16="http://schemas.microsoft.com/office/drawing/2014/main" val="2998372838"/>
                  </a:ext>
                </a:extLst>
              </a:tr>
            </a:tbl>
          </a:graphicData>
        </a:graphic>
      </p:graphicFrame>
      <p:sp>
        <p:nvSpPr>
          <p:cNvPr id="332" name="Google Shape;332;p1"/>
          <p:cNvSpPr/>
          <p:nvPr/>
        </p:nvSpPr>
        <p:spPr>
          <a:xfrm>
            <a:off x="2612571" y="2054258"/>
            <a:ext cx="31203900" cy="969335"/>
          </a:xfrm>
          <a:prstGeom prst="rect">
            <a:avLst/>
          </a:prstGeom>
          <a:noFill/>
          <a:ln>
            <a:noFill/>
          </a:ln>
        </p:spPr>
        <p:txBody>
          <a:bodyPr spcFirstLastPara="1" wrap="square" lIns="68425" tIns="34200" rIns="68425" bIns="34200" anchor="t" anchorCtr="0">
            <a:spAutoFit/>
          </a:bodyPr>
          <a:lstStyle/>
          <a:p>
            <a:pPr marL="0" marR="0" lvl="0" indent="0" algn="l" rtl="0">
              <a:lnSpc>
                <a:spcPct val="100000"/>
              </a:lnSpc>
              <a:spcBef>
                <a:spcPts val="0"/>
              </a:spcBef>
              <a:spcAft>
                <a:spcPts val="0"/>
              </a:spcAft>
              <a:buClr>
                <a:srgbClr val="000000"/>
              </a:buClr>
              <a:buSzPts val="3750"/>
              <a:buFont typeface="Arial"/>
              <a:buNone/>
            </a:pPr>
            <a:r>
              <a:rPr lang="en-US" sz="3750" b="0" i="0" u="none" strike="noStrike" cap="none" dirty="0">
                <a:solidFill>
                  <a:srgbClr val="FFFFFF"/>
                </a:solidFill>
                <a:latin typeface="Open Sans Light"/>
                <a:ea typeface="Open Sans Light"/>
                <a:cs typeface="Open Sans Light"/>
                <a:sym typeface="Open Sans Light"/>
              </a:rPr>
              <a:t>Yousra Belgaid</a:t>
            </a:r>
            <a:br>
              <a:rPr lang="en-US" sz="3600" b="0" i="0" u="none" strike="noStrike" cap="none" dirty="0">
                <a:solidFill>
                  <a:srgbClr val="FFFFFF"/>
                </a:solidFill>
                <a:latin typeface="Open Sans Light"/>
                <a:ea typeface="Open Sans Light"/>
                <a:cs typeface="Open Sans Light"/>
                <a:sym typeface="Open Sans Light"/>
              </a:rPr>
            </a:br>
            <a:r>
              <a:rPr lang="en-US" sz="2100" b="0" i="0" u="none" strike="noStrike" cap="none" dirty="0">
                <a:solidFill>
                  <a:srgbClr val="FFFFFF"/>
                </a:solidFill>
                <a:latin typeface="Open Sans Light"/>
                <a:ea typeface="Open Sans Light"/>
                <a:cs typeface="Open Sans Light"/>
                <a:sym typeface="Open Sans Light"/>
              </a:rPr>
              <a:t>Woods College of Advancing Studies, Boston College</a:t>
            </a:r>
            <a:endParaRPr sz="1400" b="0" i="0" u="none" strike="noStrike" cap="none" dirty="0">
              <a:solidFill>
                <a:srgbClr val="000000"/>
              </a:solidFill>
              <a:latin typeface="Arial"/>
              <a:ea typeface="Arial"/>
              <a:cs typeface="Arial"/>
              <a:sym typeface="Arial"/>
            </a:endParaRPr>
          </a:p>
        </p:txBody>
      </p:sp>
      <p:sp>
        <p:nvSpPr>
          <p:cNvPr id="29" name="Rounded Rectangle 28">
            <a:extLst>
              <a:ext uri="{FF2B5EF4-FFF2-40B4-BE49-F238E27FC236}">
                <a16:creationId xmlns:a16="http://schemas.microsoft.com/office/drawing/2014/main" id="{D068D411-F703-F458-F6AC-E21854FF984F}"/>
              </a:ext>
            </a:extLst>
          </p:cNvPr>
          <p:cNvSpPr/>
          <p:nvPr/>
        </p:nvSpPr>
        <p:spPr>
          <a:xfrm>
            <a:off x="13027906" y="13609463"/>
            <a:ext cx="7721895" cy="6620965"/>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A5F7328-1245-B0B5-42DF-47AA1E56A16F}"/>
              </a:ext>
            </a:extLst>
          </p:cNvPr>
          <p:cNvSpPr txBox="1"/>
          <p:nvPr/>
        </p:nvSpPr>
        <p:spPr>
          <a:xfrm>
            <a:off x="13380600" y="14656521"/>
            <a:ext cx="5486605" cy="5155257"/>
          </a:xfrm>
          <a:prstGeom prst="rect">
            <a:avLst/>
          </a:prstGeom>
          <a:noFill/>
        </p:spPr>
        <p:txBody>
          <a:bodyPr wrap="square" rtlCol="0">
            <a:spAutoFit/>
          </a:bodyPr>
          <a:lstStyle/>
          <a:p>
            <a:pPr>
              <a:buSzPts val="2100"/>
            </a:pPr>
            <a:r>
              <a:rPr lang="en-US" sz="2100" b="1" dirty="0">
                <a:solidFill>
                  <a:schemeClr val="dk1"/>
                </a:solidFill>
                <a:latin typeface="Open Sans"/>
                <a:ea typeface="Open Sans"/>
                <a:cs typeface="Open Sans"/>
                <a:sym typeface="Open Sans ExtraBold"/>
              </a:rPr>
              <a:t>A fundamentally different story can be seen ---</a:t>
            </a:r>
          </a:p>
          <a:p>
            <a:pPr>
              <a:buSzPts val="2100"/>
            </a:pPr>
            <a:endParaRPr lang="en-US" sz="2100" dirty="0">
              <a:solidFill>
                <a:schemeClr val="dk1"/>
              </a:solidFill>
              <a:latin typeface="Open Sans"/>
              <a:ea typeface="Open Sans"/>
              <a:cs typeface="Open Sans"/>
              <a:sym typeface="Open Sans ExtraBold"/>
            </a:endParaRP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During COVID, Gold and Treasuries were </a:t>
            </a:r>
            <a:r>
              <a:rPr lang="en-US" sz="2100" b="1" dirty="0">
                <a:solidFill>
                  <a:schemeClr val="dk1"/>
                </a:solidFill>
                <a:latin typeface="Open Sans"/>
                <a:ea typeface="Open Sans"/>
                <a:cs typeface="Open Sans"/>
                <a:sym typeface="Open Sans ExtraBold"/>
              </a:rPr>
              <a:t>top performers</a:t>
            </a:r>
            <a:r>
              <a:rPr lang="en-US" sz="2100" dirty="0">
                <a:solidFill>
                  <a:schemeClr val="dk1"/>
                </a:solidFill>
                <a:latin typeface="Open Sans"/>
                <a:ea typeface="Open Sans"/>
                <a:cs typeface="Open Sans"/>
                <a:sym typeface="Open Sans ExtraBold"/>
              </a:rPr>
              <a:t>, both </a:t>
            </a:r>
            <a:r>
              <a:rPr lang="en-US" sz="2100" b="1" dirty="0">
                <a:solidFill>
                  <a:schemeClr val="dk1"/>
                </a:solidFill>
                <a:latin typeface="Open Sans"/>
                <a:ea typeface="Open Sans"/>
                <a:cs typeface="Open Sans"/>
                <a:sym typeface="Open Sans ExtraBold"/>
              </a:rPr>
              <a:t>appreciating roughly 10% </a:t>
            </a:r>
            <a:r>
              <a:rPr lang="en-US" sz="2100" dirty="0">
                <a:solidFill>
                  <a:schemeClr val="dk1"/>
                </a:solidFill>
                <a:latin typeface="Open Sans"/>
                <a:ea typeface="Open Sans"/>
                <a:cs typeface="Open Sans"/>
                <a:sym typeface="Open Sans ExtraBold"/>
              </a:rPr>
              <a:t>as equities fell to 35% at their worst point. </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The rate hike cycle saw Treasuries and JPY </a:t>
            </a:r>
            <a:r>
              <a:rPr lang="en-US" sz="2100" b="1" dirty="0">
                <a:solidFill>
                  <a:schemeClr val="dk1"/>
                </a:solidFill>
                <a:latin typeface="Open Sans"/>
                <a:ea typeface="Open Sans"/>
                <a:cs typeface="Open Sans"/>
                <a:sym typeface="Open Sans ExtraBold"/>
              </a:rPr>
              <a:t>fall in almost identical trajectories</a:t>
            </a:r>
            <a:r>
              <a:rPr lang="en-US" sz="2100" dirty="0">
                <a:solidFill>
                  <a:schemeClr val="dk1"/>
                </a:solidFill>
                <a:latin typeface="Open Sans"/>
                <a:ea typeface="Open Sans"/>
                <a:cs typeface="Open Sans"/>
                <a:sym typeface="Open Sans ExtraBold"/>
              </a:rPr>
              <a:t>, both losing </a:t>
            </a:r>
            <a:r>
              <a:rPr lang="en-US" sz="2100" b="1" dirty="0">
                <a:solidFill>
                  <a:schemeClr val="dk1"/>
                </a:solidFill>
                <a:latin typeface="Open Sans"/>
                <a:ea typeface="Open Sans"/>
                <a:cs typeface="Open Sans"/>
                <a:sym typeface="Open Sans ExtraBold"/>
              </a:rPr>
              <a:t>approximately 25-30%. </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sym typeface="Open Sans ExtraBold"/>
              </a:rPr>
              <a:t>In trade volatility, Gold climbed </a:t>
            </a:r>
            <a:r>
              <a:rPr lang="en-US" sz="2100" b="1" dirty="0">
                <a:solidFill>
                  <a:schemeClr val="dk1"/>
                </a:solidFill>
                <a:latin typeface="Open Sans"/>
                <a:ea typeface="Open Sans"/>
                <a:cs typeface="Open Sans"/>
                <a:sym typeface="Open Sans ExtraBold"/>
              </a:rPr>
              <a:t>approximately 85%, </a:t>
            </a:r>
            <a:r>
              <a:rPr lang="en-US" sz="2100" dirty="0">
                <a:solidFill>
                  <a:schemeClr val="dk1"/>
                </a:solidFill>
                <a:latin typeface="Open Sans"/>
                <a:ea typeface="Open Sans"/>
                <a:cs typeface="Open Sans"/>
                <a:sym typeface="Open Sans ExtraBold"/>
              </a:rPr>
              <a:t>dwarfing every other asset in every environment in this study. </a:t>
            </a:r>
          </a:p>
          <a:p>
            <a:endParaRPr lang="en-US" dirty="0"/>
          </a:p>
        </p:txBody>
      </p:sp>
      <p:sp>
        <p:nvSpPr>
          <p:cNvPr id="31" name="Round Same Side Corner Rectangle 30">
            <a:extLst>
              <a:ext uri="{FF2B5EF4-FFF2-40B4-BE49-F238E27FC236}">
                <a16:creationId xmlns:a16="http://schemas.microsoft.com/office/drawing/2014/main" id="{88169546-0C68-F74A-D8AB-91AC6C66F479}"/>
              </a:ext>
            </a:extLst>
          </p:cNvPr>
          <p:cNvSpPr/>
          <p:nvPr/>
        </p:nvSpPr>
        <p:spPr>
          <a:xfrm>
            <a:off x="13861515" y="13308038"/>
            <a:ext cx="3588597" cy="863329"/>
          </a:xfrm>
          <a:prstGeom prst="round2Same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735E58B-C9A8-8E1B-FD6C-83848A3AFFA5}"/>
              </a:ext>
            </a:extLst>
          </p:cNvPr>
          <p:cNvSpPr txBox="1"/>
          <p:nvPr/>
        </p:nvSpPr>
        <p:spPr>
          <a:xfrm>
            <a:off x="14130893" y="13541351"/>
            <a:ext cx="4096342" cy="738664"/>
          </a:xfrm>
          <a:prstGeom prst="rect">
            <a:avLst/>
          </a:prstGeom>
          <a:noFill/>
        </p:spPr>
        <p:txBody>
          <a:bodyPr wrap="square" rtlCol="0">
            <a:spAutoFit/>
          </a:bodyPr>
          <a:lstStyle/>
          <a:p>
            <a:r>
              <a:rPr lang="en-US" sz="2100" dirty="0">
                <a:solidFill>
                  <a:schemeClr val="dk1"/>
                </a:solidFill>
                <a:latin typeface="Open Sans ExtraBold"/>
                <a:ea typeface="Open Sans ExtraBold"/>
                <a:cs typeface="Open Sans ExtraBold"/>
                <a:sym typeface="Open Sans ExtraBold"/>
              </a:rPr>
              <a:t>Cumulative Returns</a:t>
            </a:r>
          </a:p>
          <a:p>
            <a:endParaRPr lang="en-US" sz="2100" dirty="0"/>
          </a:p>
        </p:txBody>
      </p:sp>
      <p:sp>
        <p:nvSpPr>
          <p:cNvPr id="34" name="Rounded Rectangle 33">
            <a:extLst>
              <a:ext uri="{FF2B5EF4-FFF2-40B4-BE49-F238E27FC236}">
                <a16:creationId xmlns:a16="http://schemas.microsoft.com/office/drawing/2014/main" id="{22E8E341-2A46-0F55-9267-DDEE11A5D250}"/>
              </a:ext>
            </a:extLst>
          </p:cNvPr>
          <p:cNvSpPr/>
          <p:nvPr/>
        </p:nvSpPr>
        <p:spPr>
          <a:xfrm>
            <a:off x="23844836" y="20338321"/>
            <a:ext cx="7961231" cy="7421078"/>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3" name="Google Shape;333;p1"/>
          <p:cNvCxnSpPr/>
          <p:nvPr/>
        </p:nvCxnSpPr>
        <p:spPr>
          <a:xfrm>
            <a:off x="2543176" y="3200400"/>
            <a:ext cx="39323283" cy="0"/>
          </a:xfrm>
          <a:prstGeom prst="straightConnector1">
            <a:avLst/>
          </a:prstGeom>
          <a:noFill/>
          <a:ln w="76200" cap="flat" cmpd="sng">
            <a:solidFill>
              <a:schemeClr val="lt1"/>
            </a:solidFill>
            <a:prstDash val="solid"/>
            <a:round/>
            <a:headEnd type="none" w="sm" len="sm"/>
            <a:tailEnd type="none" w="sm" len="sm"/>
          </a:ln>
          <a:effectLst>
            <a:outerShdw blurRad="40000" dist="23000" dir="5400000" rotWithShape="0">
              <a:srgbClr val="808080">
                <a:alpha val="34509"/>
              </a:srgbClr>
            </a:outerShdw>
          </a:effectLst>
        </p:spPr>
      </p:cxnSp>
      <p:sp>
        <p:nvSpPr>
          <p:cNvPr id="334" name="Google Shape;334;p1"/>
          <p:cNvSpPr txBox="1"/>
          <p:nvPr/>
        </p:nvSpPr>
        <p:spPr>
          <a:xfrm>
            <a:off x="2612570" y="1019964"/>
            <a:ext cx="39277229" cy="1107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0" i="0" u="none" strike="noStrike" cap="none" dirty="0">
                <a:solidFill>
                  <a:srgbClr val="B4985A"/>
                </a:solidFill>
                <a:latin typeface="Open Sans ExtraBold"/>
                <a:ea typeface="Open Sans ExtraBold"/>
                <a:cs typeface="Open Sans ExtraBold"/>
                <a:sym typeface="Open Sans ExtraBold"/>
              </a:rPr>
              <a:t>Safe Asset Performance: Hedging Behavior across COVID, Rate Hikes, and Trade Volatility</a:t>
            </a:r>
            <a:endParaRPr sz="6600" b="0" i="0" u="none" strike="noStrike" cap="none" dirty="0">
              <a:solidFill>
                <a:srgbClr val="B4985A"/>
              </a:solidFill>
              <a:latin typeface="Open Sans ExtraBold"/>
              <a:ea typeface="Open Sans ExtraBold"/>
              <a:cs typeface="Open Sans ExtraBold"/>
              <a:sym typeface="Open Sans ExtraBold"/>
            </a:endParaRPr>
          </a:p>
        </p:txBody>
      </p:sp>
      <p:sp>
        <p:nvSpPr>
          <p:cNvPr id="335" name="Google Shape;335;p1"/>
          <p:cNvSpPr/>
          <p:nvPr/>
        </p:nvSpPr>
        <p:spPr>
          <a:xfrm>
            <a:off x="2543175" y="3733750"/>
            <a:ext cx="9650326" cy="6542358"/>
          </a:xfrm>
          <a:prstGeom prst="rect">
            <a:avLst/>
          </a:prstGeom>
          <a:solidFill>
            <a:schemeClr val="lt1"/>
          </a:solidFill>
          <a:ln>
            <a:noFill/>
          </a:ln>
        </p:spPr>
        <p:txBody>
          <a:bodyPr spcFirstLastPara="1" wrap="square" lIns="270000" tIns="270000" rIns="270000" bIns="270000" anchor="t" anchorCtr="0">
            <a:noAutofit/>
          </a:bodyPr>
          <a:lstStyle/>
          <a:p>
            <a:pPr marL="0" marR="0" lvl="0" indent="0"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Abstract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a:ea typeface="Open Sans"/>
                <a:cs typeface="Open Sans"/>
                <a:sym typeface="Open Sans"/>
              </a:rPr>
              <a:t> </a:t>
            </a:r>
            <a:endParaRPr sz="1400" b="0" i="0" u="none" strike="noStrike" cap="none" dirty="0">
              <a:solidFill>
                <a:srgbClr val="000000"/>
              </a:solidFill>
              <a:latin typeface="Arial"/>
              <a:ea typeface="Arial"/>
              <a:cs typeface="Arial"/>
              <a:sym typeface="Arial"/>
            </a:endParaRPr>
          </a:p>
          <a:p>
            <a:pPr>
              <a:buSzPts val="2100"/>
            </a:pPr>
            <a:r>
              <a:rPr lang="en-US" sz="2100" i="0" u="none" strike="noStrike" cap="none" dirty="0">
                <a:solidFill>
                  <a:schemeClr val="dk1"/>
                </a:solidFill>
                <a:latin typeface="Open Sans"/>
                <a:ea typeface="Open Sans"/>
                <a:cs typeface="Open Sans"/>
                <a:sym typeface="Open Sans"/>
              </a:rPr>
              <a:t>Which safe assets protect investors when equities fall? Does that answer depend on what is driving the crisis? Using daily data from 2019 to 2026, </a:t>
            </a:r>
            <a:r>
              <a:rPr lang="en-US" sz="2100" dirty="0">
                <a:solidFill>
                  <a:schemeClr val="dk1"/>
                </a:solidFill>
                <a:latin typeface="Open Sans"/>
                <a:ea typeface="Open Sans"/>
                <a:cs typeface="Open Sans"/>
                <a:sym typeface="Open Sans"/>
              </a:rPr>
              <a:t>this study evaluates </a:t>
            </a:r>
            <a:r>
              <a:rPr lang="en-US" sz="2100" i="0" u="none" strike="noStrike" cap="none" dirty="0">
                <a:solidFill>
                  <a:schemeClr val="dk1"/>
                </a:solidFill>
                <a:latin typeface="Open Sans"/>
                <a:ea typeface="Open Sans"/>
                <a:cs typeface="Open Sans"/>
                <a:sym typeface="Open Sans"/>
              </a:rPr>
              <a:t>the hedging performance of Treasuries, Gold, the Swiss Franc (USD/CHF), the Japanese Yen (USD/JPY), and the US Dollar (DXY) across three environments: the COVID market shock, the Federal Reserve rate hike, and the ongoing and recent trade volatility period. </a:t>
            </a:r>
          </a:p>
          <a:p>
            <a:pPr>
              <a:buSzPts val="2100"/>
            </a:pPr>
            <a:endParaRPr lang="en-US" sz="2100" dirty="0">
              <a:solidFill>
                <a:schemeClr val="dk1"/>
              </a:solidFill>
              <a:latin typeface="Open Sans"/>
              <a:ea typeface="Open Sans"/>
              <a:cs typeface="Open Sans"/>
              <a:sym typeface="Open Sans"/>
            </a:endParaRPr>
          </a:p>
          <a:p>
            <a:pPr>
              <a:buSzPts val="2100"/>
            </a:pPr>
            <a:r>
              <a:rPr lang="en-US" sz="2100" dirty="0">
                <a:solidFill>
                  <a:schemeClr val="dk1"/>
                </a:solidFill>
                <a:latin typeface="Open Sans"/>
                <a:ea typeface="Open Sans"/>
                <a:cs typeface="Open Sans"/>
                <a:sym typeface="Open Sans"/>
              </a:rPr>
              <a:t>Results show that no single asset consistently hedge equities across all three stress environments. Treasuries provided strong protection during the COVID shock but failed during the rate hike cycle, as rising yields caused bonds and equities to fall together. Gold delivered strong cumulative returns but did not reliably hedge acute equity stress. Across all stress environments, the DXY emerges as the most consistent hedge. These results suggest that safe asset performance is conditional on the interest rate environment, not the crisis type itself. </a:t>
            </a:r>
          </a:p>
          <a:p>
            <a:pPr>
              <a:buSzPts val="2100"/>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1400" b="0" i="0" u="none" strike="noStrike" cap="none" dirty="0">
              <a:solidFill>
                <a:srgbClr val="000000"/>
              </a:solidFill>
              <a:latin typeface="Arial"/>
              <a:ea typeface="Arial"/>
              <a:cs typeface="Arial"/>
              <a:sym typeface="Arial"/>
            </a:endParaRPr>
          </a:p>
        </p:txBody>
      </p:sp>
      <p:sp>
        <p:nvSpPr>
          <p:cNvPr id="346" name="Google Shape;346;p1"/>
          <p:cNvSpPr/>
          <p:nvPr/>
        </p:nvSpPr>
        <p:spPr>
          <a:xfrm>
            <a:off x="32601134" y="25462660"/>
            <a:ext cx="9265325" cy="3589500"/>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References</a:t>
            </a:r>
            <a:endParaRPr sz="1400" b="0" i="0" u="none" strike="noStrike" cap="none" dirty="0">
              <a:solidFill>
                <a:srgbClr val="000000"/>
              </a:solidFill>
              <a:latin typeface="Arial"/>
              <a:ea typeface="Arial"/>
              <a:cs typeface="Arial"/>
              <a:sym typeface="Arial"/>
            </a:endParaRPr>
          </a:p>
        </p:txBody>
      </p:sp>
      <p:sp>
        <p:nvSpPr>
          <p:cNvPr id="347" name="Google Shape;347;p1"/>
          <p:cNvSpPr/>
          <p:nvPr/>
        </p:nvSpPr>
        <p:spPr>
          <a:xfrm>
            <a:off x="32624474" y="19753453"/>
            <a:ext cx="9201300" cy="5319443"/>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Conclusion</a:t>
            </a:r>
          </a:p>
          <a:p>
            <a:pPr marL="0" marR="0" lvl="0" indent="0" algn="l" rtl="0">
              <a:lnSpc>
                <a:spcPct val="100000"/>
              </a:lnSpc>
              <a:spcBef>
                <a:spcPts val="0"/>
              </a:spcBef>
              <a:spcAft>
                <a:spcPts val="0"/>
              </a:spcAft>
              <a:buClr>
                <a:srgbClr val="000000"/>
              </a:buClr>
              <a:buSzPts val="3000"/>
              <a:buFont typeface="Arial"/>
              <a:buNone/>
            </a:pP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000"/>
              <a:buFont typeface="Arial"/>
              <a:buNone/>
            </a:pPr>
            <a:r>
              <a:rPr lang="en-US" sz="2100" dirty="0">
                <a:latin typeface="Open Sans" panose="020B0606030504020204" pitchFamily="34" charset="0"/>
                <a:ea typeface="Open Sans" panose="020B0606030504020204" pitchFamily="34" charset="0"/>
                <a:cs typeface="Open Sans" panose="020B0606030504020204" pitchFamily="34" charset="0"/>
              </a:rPr>
              <a:t>No single asset consistently hedges equities across all stress environments. Safe asset performance is conditional on the interest rate environment, and not the crisis type itself. Treasuries protected investors during COVID but failed during the rate hike cycle, as rising yields caused bonds and equities to fall together. Gold delivered strong cumulative returns across environments, touching nearly $5,600 per ounce in early 2026, but remained unreliable as an acute hedge. The DXY emerged as the most consistent stress-day protector across all three environments. As policy uncertainty continues to shape markets, understanding which assets protect (and under what conditions) is a question with real consequences for portfolio construction. </a:t>
            </a:r>
            <a:endParaRPr lang="en-US" sz="21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
        <p:nvSpPr>
          <p:cNvPr id="348" name="Google Shape;348;p1"/>
          <p:cNvSpPr/>
          <p:nvPr/>
        </p:nvSpPr>
        <p:spPr>
          <a:xfrm>
            <a:off x="32624475" y="3733750"/>
            <a:ext cx="9201300" cy="15689926"/>
          </a:xfrm>
          <a:prstGeom prst="rect">
            <a:avLst/>
          </a:prstGeom>
          <a:solidFill>
            <a:schemeClr val="lt1"/>
          </a:solidFill>
          <a:ln>
            <a:noFill/>
          </a:ln>
        </p:spPr>
        <p:txBody>
          <a:bodyPr spcFirstLastPara="1" wrap="square" lIns="270000" tIns="270000" rIns="270000" bIns="270000" anchor="t" anchorCtr="0">
            <a:noAutofit/>
          </a:bodyPr>
          <a:lstStyle/>
          <a:p>
            <a:pPr lvl="0">
              <a:buSzPts val="3000"/>
            </a:pPr>
            <a:r>
              <a:rPr lang="en-US" sz="3000" dirty="0">
                <a:solidFill>
                  <a:srgbClr val="501214"/>
                </a:solidFill>
                <a:latin typeface="Open Sans ExtraBold"/>
                <a:ea typeface="Open Sans ExtraBold"/>
                <a:cs typeface="Open Sans ExtraBold"/>
                <a:sym typeface="Open Sans ExtraBold"/>
              </a:rPr>
              <a:t>Discussion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050"/>
              </a:spcBef>
              <a:spcAft>
                <a:spcPts val="0"/>
              </a:spcAft>
              <a:buClr>
                <a:srgbClr val="000000"/>
              </a:buClr>
              <a:buSzPts val="2100"/>
              <a:buFont typeface="Arial"/>
              <a:buNone/>
            </a:pPr>
            <a:r>
              <a:rPr lang="en-US" sz="2100" b="0" i="0" u="none" strike="noStrike" cap="none" dirty="0">
                <a:solidFill>
                  <a:schemeClr val="dk1"/>
                </a:solidFill>
                <a:latin typeface="Open Sans ExtraBold"/>
                <a:ea typeface="Open Sans ExtraBold"/>
                <a:cs typeface="Open Sans ExtraBold"/>
                <a:sym typeface="Open Sans ExtraBold"/>
              </a:rPr>
              <a:t>The Yield Channel</a:t>
            </a:r>
            <a:endParaRPr sz="2100" b="0" i="0" u="none" strike="noStrike" cap="none" dirty="0">
              <a:solidFill>
                <a:schemeClr val="dk1"/>
              </a:solidFill>
              <a:latin typeface="Open Sans ExtraBold"/>
              <a:ea typeface="Open Sans ExtraBold"/>
              <a:cs typeface="Open Sans ExtraBold"/>
              <a:sym typeface="Open Sans ExtraBold"/>
            </a:endParaRP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dirty="0">
                <a:solidFill>
                  <a:schemeClr val="dk1"/>
                </a:solidFill>
                <a:latin typeface="Open Sans"/>
                <a:ea typeface="Open Sans"/>
                <a:cs typeface="Open Sans"/>
                <a:sym typeface="Open Sans"/>
              </a:rPr>
              <a:t>The regression completed confirms that yield environment that determines whether Treasuries protect or amplify equity drawdowns. </a:t>
            </a: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b="0" i="0" u="none" strike="noStrike" cap="none" dirty="0">
                <a:solidFill>
                  <a:schemeClr val="dk1"/>
                </a:solidFill>
                <a:latin typeface="Open Sans"/>
                <a:ea typeface="Open Sans"/>
                <a:cs typeface="Open Sans"/>
                <a:sym typeface="Open Sans"/>
              </a:rPr>
              <a:t>When yields rise, bonds and sto</a:t>
            </a:r>
            <a:r>
              <a:rPr lang="en-US" sz="2100" dirty="0">
                <a:solidFill>
                  <a:schemeClr val="dk1"/>
                </a:solidFill>
                <a:latin typeface="Open Sans"/>
                <a:ea typeface="Open Sans"/>
                <a:cs typeface="Open Sans"/>
                <a:sym typeface="Open Sans"/>
              </a:rPr>
              <a:t>cks fall together; when yields fall, the classic flight-to-safety relationship holds. </a:t>
            </a:r>
          </a:p>
          <a:p>
            <a:pPr marL="342900" marR="0" lvl="0" indent="-342900" algn="l" rtl="0">
              <a:lnSpc>
                <a:spcPct val="100000"/>
              </a:lnSpc>
              <a:spcBef>
                <a:spcPts val="0"/>
              </a:spcBef>
              <a:spcAft>
                <a:spcPts val="0"/>
              </a:spcAft>
              <a:buClr>
                <a:srgbClr val="000000"/>
              </a:buClr>
              <a:buSzPts val="2100"/>
              <a:buFont typeface="Arial" panose="020B0604020202020204" pitchFamily="34" charset="0"/>
              <a:buChar char="•"/>
            </a:pPr>
            <a:r>
              <a:rPr lang="en-US" sz="2100" b="0" i="0" u="none" strike="noStrike" cap="none" dirty="0">
                <a:solidFill>
                  <a:schemeClr val="dk1"/>
                </a:solidFill>
                <a:latin typeface="Open Sans"/>
                <a:ea typeface="Open Sans"/>
                <a:cs typeface="Open Sans"/>
                <a:sym typeface="Open Sans"/>
              </a:rPr>
              <a:t>Investors should monitor yield direction, not crisis type, when selecting safe-haven allocation.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Open Sans ExtraBold"/>
                <a:ea typeface="Open Sans ExtraBold"/>
                <a:cs typeface="Open Sans ExtraBold"/>
                <a:sym typeface="Open Sans ExtraBold"/>
              </a:rPr>
              <a:t>Gold’s Dual Role </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sym typeface="Open Sans"/>
              </a:rPr>
              <a:t>No statistically significant protection on individual stress days in any environment, yet the strongest cumulative performer in two out of the three. </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sym typeface="Open Sans"/>
              </a:rPr>
              <a:t>Daily volatility (std =1.716% during COVID) makes Gold too noisy to reliably hedge on individual bad days. It functions as a store of value over longer horizons, not a single shock day absorber. </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sym typeface="Open Sans"/>
              </a:rPr>
              <a:t>As of late January 2026, Gold touched nearly $5,600 per </a:t>
            </a:r>
            <a:r>
              <a:rPr lang="en-US" sz="2100" dirty="0" err="1">
                <a:solidFill>
                  <a:schemeClr val="dk1"/>
                </a:solidFill>
                <a:latin typeface="Open Sans"/>
                <a:ea typeface="Open Sans"/>
                <a:cs typeface="Open Sans"/>
                <a:sym typeface="Open Sans"/>
              </a:rPr>
              <a:t>ource</a:t>
            </a:r>
            <a:r>
              <a:rPr lang="en-US" sz="2100" dirty="0">
                <a:solidFill>
                  <a:schemeClr val="dk1"/>
                </a:solidFill>
                <a:latin typeface="Open Sans"/>
                <a:ea typeface="Open Sans"/>
                <a:cs typeface="Open Sans"/>
                <a:sym typeface="Open Sans"/>
              </a:rPr>
              <a:t>, which was an all-time high driven by trade volatility, a weakening dollar, and policy uncertainty. </a:t>
            </a: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sym typeface="Open Sans"/>
            </a:endParaRPr>
          </a:p>
          <a:p>
            <a:r>
              <a:rPr lang="en-US" sz="2100" dirty="0">
                <a:solidFill>
                  <a:schemeClr val="dk1"/>
                </a:solidFill>
                <a:latin typeface="Open Sans ExtraBold"/>
                <a:ea typeface="Open Sans ExtraBold"/>
                <a:cs typeface="Open Sans ExtraBold"/>
              </a:rPr>
              <a:t>Limitations</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rPr>
              <a:t>Trade Volatility has only 31 stress days and conclusions remain descriptive as stress regime is still unfolding.</a:t>
            </a:r>
          </a:p>
          <a:p>
            <a:pPr marL="342900" indent="-342900">
              <a:buSzPts val="2100"/>
              <a:buFont typeface="Arial" panose="020B0604020202020204" pitchFamily="34" charset="0"/>
              <a:buChar char="•"/>
            </a:pPr>
            <a:r>
              <a:rPr lang="en-US" sz="2100" dirty="0">
                <a:solidFill>
                  <a:schemeClr val="dk1"/>
                </a:solidFill>
                <a:latin typeface="Open Sans"/>
                <a:ea typeface="Open Sans"/>
                <a:cs typeface="Open Sans"/>
              </a:rPr>
              <a:t>High condition number (35,456) indicates multicollinearity meaning that directional findings are robust, but coefficient magnitudes should be interpreted carefully. </a:t>
            </a: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a:buSzPts val="2100"/>
            </a:pPr>
            <a:r>
              <a:rPr lang="en-US" sz="2100" dirty="0">
                <a:latin typeface="Open Sans" panose="020B0606030504020204" pitchFamily="34" charset="0"/>
                <a:ea typeface="Open Sans" panose="020B0606030504020204" pitchFamily="34" charset="0"/>
                <a:cs typeface="Open Sans" panose="020B0606030504020204" pitchFamily="34" charset="0"/>
              </a:rPr>
              <a:t>Total returns (left) show Gold as the dominant long-horizon performer in two of three environments; the Trade Volatility close-up (right) shows a regime still unfolding with no clear acute hedge emerging.</a:t>
            </a:r>
          </a:p>
          <a:p>
            <a:pPr marL="342900" indent="-342900">
              <a:buSzPts val="2100"/>
              <a:buFont typeface="Arial" panose="020B0604020202020204" pitchFamily="34" charset="0"/>
              <a:buChar char="•"/>
            </a:pPr>
            <a:endParaRPr lang="en-US" sz="2100" dirty="0">
              <a:solidFill>
                <a:schemeClr val="dk1"/>
              </a:solidFill>
              <a:latin typeface="Open Sans"/>
              <a:ea typeface="Open Sans"/>
              <a:cs typeface="Open Sans"/>
            </a:endParaRPr>
          </a:p>
          <a:p>
            <a:pPr>
              <a:buSzPts val="2100"/>
            </a:pPr>
            <a:endParaRPr lang="en-US" sz="2100" dirty="0">
              <a:solidFill>
                <a:schemeClr val="dk1"/>
              </a:solidFill>
              <a:latin typeface="Open Sans"/>
              <a:ea typeface="Open Sans"/>
              <a:cs typeface="Open Sans"/>
            </a:endParaRPr>
          </a:p>
          <a:p>
            <a:pPr marL="342900" indent="-342900">
              <a:buSzPts val="2100"/>
              <a:buFont typeface="Arial" panose="020B0604020202020204" pitchFamily="34" charset="0"/>
              <a:buChar char="•"/>
            </a:pPr>
            <a:endParaRPr sz="2100" dirty="0">
              <a:solidFill>
                <a:schemeClr val="dk1"/>
              </a:solidFill>
              <a:latin typeface="Open Sans"/>
              <a:ea typeface="Open Sans"/>
              <a:cs typeface="Open Sans"/>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dirty="0">
              <a:solidFill>
                <a:schemeClr val="dk1"/>
              </a:solidFill>
              <a:latin typeface="Arial"/>
              <a:ea typeface="Arial"/>
              <a:cs typeface="Arial"/>
              <a:sym typeface="Arial"/>
            </a:endParaRPr>
          </a:p>
        </p:txBody>
      </p:sp>
      <p:sp>
        <p:nvSpPr>
          <p:cNvPr id="350" name="Google Shape;350;p1"/>
          <p:cNvSpPr/>
          <p:nvPr/>
        </p:nvSpPr>
        <p:spPr>
          <a:xfrm>
            <a:off x="2543136" y="10798632"/>
            <a:ext cx="9650251" cy="20046418"/>
          </a:xfrm>
          <a:prstGeom prst="rect">
            <a:avLst/>
          </a:prstGeom>
          <a:solidFill>
            <a:schemeClr val="lt1"/>
          </a:solidFill>
          <a:ln>
            <a:noFill/>
          </a:ln>
        </p:spPr>
        <p:txBody>
          <a:bodyPr spcFirstLastPara="1" wrap="square" lIns="270000" tIns="270000" rIns="270000" bIns="27000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dirty="0">
                <a:solidFill>
                  <a:srgbClr val="501214"/>
                </a:solidFill>
                <a:latin typeface="Open Sans ExtraBold"/>
                <a:ea typeface="Open Sans ExtraBold"/>
                <a:cs typeface="Open Sans ExtraBold"/>
                <a:sym typeface="Open Sans ExtraBold"/>
              </a:rPr>
              <a:t>Introduction &amp; Methods</a:t>
            </a:r>
          </a:p>
          <a:p>
            <a:pPr marL="0" marR="0" lvl="0" indent="0" algn="l" rtl="0">
              <a:lnSpc>
                <a:spcPct val="100000"/>
              </a:lnSpc>
              <a:spcBef>
                <a:spcPts val="0"/>
              </a:spcBef>
              <a:spcAft>
                <a:spcPts val="0"/>
              </a:spcAft>
              <a:buClr>
                <a:srgbClr val="000000"/>
              </a:buClr>
              <a:buSzPts val="3000"/>
              <a:buFont typeface="Arial"/>
              <a:buNone/>
            </a:pPr>
            <a:endParaRPr lang="en-US" sz="3000" b="0" i="0" u="none" strike="noStrike" cap="none" dirty="0">
              <a:solidFill>
                <a:srgbClr val="501214"/>
              </a:solidFill>
              <a:latin typeface="Open Sans ExtraBold"/>
              <a:ea typeface="Open Sans ExtraBold"/>
              <a:cs typeface="Open Sans ExtraBold"/>
              <a:sym typeface="Open Sans ExtraBold"/>
            </a:endParaRPr>
          </a:p>
          <a:p>
            <a:pPr>
              <a:buSzPts val="2100"/>
            </a:pPr>
            <a:r>
              <a:rPr lang="en-US" sz="2100" dirty="0">
                <a:solidFill>
                  <a:schemeClr val="dk1"/>
                </a:solidFill>
                <a:latin typeface="Open Sans"/>
                <a:ea typeface="Open Sans"/>
                <a:cs typeface="Open Sans"/>
                <a:sym typeface="Open Sans"/>
              </a:rPr>
              <a:t>The traditional view in portfolio management holds that certain assets such as US Treasuries, Gold, and safe-haven currencies, reliably protect investors when equities fall. Yet the 2022 rate hike cycle challenged this assumption, as bonds and stocks declined together for the first time in decades. This raises an important question: </a:t>
            </a:r>
          </a:p>
          <a:p>
            <a:pPr>
              <a:buSzPts val="2100"/>
            </a:pPr>
            <a:endParaRPr lang="en-US" sz="2100" dirty="0">
              <a:solidFill>
                <a:schemeClr val="dk1"/>
              </a:solidFill>
              <a:latin typeface="Open Sans"/>
              <a:ea typeface="Open Sans"/>
              <a:cs typeface="Open Sans"/>
              <a:sym typeface="Open Sans"/>
            </a:endParaRPr>
          </a:p>
          <a:p>
            <a:pPr>
              <a:buSzPts val="2100"/>
            </a:pPr>
            <a:r>
              <a:rPr lang="en-US" sz="2100" b="1" dirty="0">
                <a:solidFill>
                  <a:schemeClr val="dk1"/>
                </a:solidFill>
                <a:latin typeface="Open Sans"/>
                <a:ea typeface="Open Sans"/>
                <a:cs typeface="Open Sans"/>
                <a:sym typeface="Open Sans"/>
              </a:rPr>
              <a:t>Does the type of crisis determine what safe assets protect investors? </a:t>
            </a: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r>
              <a:rPr lang="en-US" sz="2100" dirty="0">
                <a:solidFill>
                  <a:schemeClr val="dk1"/>
                </a:solidFill>
                <a:latin typeface="Open Sans"/>
                <a:ea typeface="Open Sans"/>
                <a:cs typeface="Open Sans"/>
                <a:sym typeface="Open Sans"/>
              </a:rPr>
              <a:t>This study examines five assets: 10-year Treasuries, Gold, the Swiss Franc (CHF), the Japanese Yen (JPY), and the US Dollar (DXY), using daily trade data from January 2019 through February 2026. Three stress environments are studied, each representing fundamentally different economic shocks. </a:t>
            </a: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r>
              <a:rPr lang="en-US" sz="2100" dirty="0">
                <a:solidFill>
                  <a:schemeClr val="dk1"/>
                </a:solidFill>
                <a:latin typeface="Open Sans"/>
                <a:ea typeface="Open Sans"/>
                <a:cs typeface="Open Sans"/>
                <a:sym typeface="Open Sans"/>
              </a:rPr>
              <a:t>The chart below illustrates the core motivation, which is the rolling 60-day correlation between Treasuries and the S&amp;P 500 flips signs across environments, confirming that the hedging relationship is not stable and depends heavily on what is driving the crisis. </a:t>
            </a:r>
          </a:p>
          <a:p>
            <a:pPr>
              <a:buSzPts val="2100"/>
            </a:pPr>
            <a:endParaRPr lang="en-US" sz="2100" dirty="0">
              <a:solidFill>
                <a:schemeClr val="dk1"/>
              </a:solidFill>
              <a:latin typeface="Open Sans"/>
              <a:ea typeface="Open Sans"/>
              <a:cs typeface="Open Sans"/>
              <a:sym typeface="Open Sans"/>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r>
              <a:rPr lang="en-US" sz="2400" dirty="0">
                <a:solidFill>
                  <a:srgbClr val="501214"/>
                </a:solidFill>
                <a:latin typeface="Open Sans ExtraBold"/>
                <a:ea typeface="Open Sans ExtraBold"/>
                <a:cs typeface="Open Sans ExtraBold"/>
                <a:sym typeface="Open Sans ExtraBold"/>
              </a:rPr>
              <a:t>Approach</a:t>
            </a:r>
          </a:p>
          <a:p>
            <a:pPr>
              <a:buSzPts val="2100"/>
            </a:pPr>
            <a:endParaRPr lang="en-US" sz="2400" dirty="0">
              <a:solidFill>
                <a:srgbClr val="501214"/>
              </a:solidFill>
              <a:latin typeface="Open Sans ExtraBold"/>
              <a:ea typeface="Open Sans ExtraBold"/>
              <a:cs typeface="Open Sans ExtraBold"/>
              <a:sym typeface="Open Sans ExtraBold"/>
            </a:endParaRPr>
          </a:p>
          <a:p>
            <a:pPr>
              <a:buSzPts val="2100"/>
            </a:pPr>
            <a:r>
              <a:rPr lang="en-US" sz="2100" dirty="0">
                <a:solidFill>
                  <a:schemeClr val="dk1"/>
                </a:solidFill>
                <a:latin typeface="Open Sans"/>
                <a:ea typeface="Open Sans"/>
                <a:cs typeface="Open Sans"/>
                <a:sym typeface="Open Sans"/>
              </a:rPr>
              <a:t>In this study, we begin to identify the worst days for equities (when the S&amp;P 500 fell more than 1%) and measured how each of these safe assets performed on those specific days. This tells us directly whether an asset protected investors. We then track how the relationship between each asset and equites evolved over time using rolling 60-day correlations, capturing how hedge effectiveness shifted across different stress environments. Finally, we run a regression to test whether is is rising yields, rather than the crisis itself, that cause US Treasuries to breakdown. </a:t>
            </a:r>
            <a:endParaRPr lang="en-US" sz="2100" dirty="0">
              <a:solidFill>
                <a:schemeClr val="dk1"/>
              </a:solidFill>
              <a:latin typeface="Open Sans"/>
              <a:ea typeface="Open Sans"/>
              <a:cs typeface="Open Sans"/>
              <a:sym typeface="Open Sans ExtraBold"/>
            </a:endParaRPr>
          </a:p>
          <a:p>
            <a:pPr>
              <a:buSzPts val="2100"/>
            </a:pPr>
            <a:endParaRPr lang="en-US" sz="2100" dirty="0">
              <a:solidFill>
                <a:schemeClr val="dk1"/>
              </a:solidFill>
              <a:latin typeface="Open Sans"/>
              <a:ea typeface="Open Sans"/>
              <a:cs typeface="Open Sans"/>
              <a:sym typeface="Open Sans"/>
            </a:endParaRPr>
          </a:p>
          <a:p>
            <a:pPr>
              <a:buSzPts val="2100"/>
            </a:pPr>
            <a:endParaRPr lang="en-US" sz="3000" dirty="0">
              <a:solidFill>
                <a:srgbClr val="501214"/>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000000"/>
              </a:buClr>
              <a:buSzPts val="30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pic>
        <p:nvPicPr>
          <p:cNvPr id="354" name="Google Shape;354;p1"/>
          <p:cNvPicPr preferRelativeResize="0"/>
          <p:nvPr/>
        </p:nvPicPr>
        <p:blipFill rotWithShape="1">
          <a:blip r:embed="rId4">
            <a:alphaModFix/>
          </a:blip>
          <a:srcRect/>
          <a:stretch/>
        </p:blipFill>
        <p:spPr>
          <a:xfrm>
            <a:off x="33983738" y="29441918"/>
            <a:ext cx="7092248" cy="1119537"/>
          </a:xfrm>
          <a:prstGeom prst="rect">
            <a:avLst/>
          </a:prstGeom>
          <a:noFill/>
          <a:ln>
            <a:noFill/>
          </a:ln>
        </p:spPr>
      </p:pic>
      <p:graphicFrame>
        <p:nvGraphicFramePr>
          <p:cNvPr id="13" name="Table 12">
            <a:extLst>
              <a:ext uri="{FF2B5EF4-FFF2-40B4-BE49-F238E27FC236}">
                <a16:creationId xmlns:a16="http://schemas.microsoft.com/office/drawing/2014/main" id="{C57F4D51-E0A2-9AB0-E46E-719532B312C2}"/>
              </a:ext>
            </a:extLst>
          </p:cNvPr>
          <p:cNvGraphicFramePr>
            <a:graphicFrameLocks noGrp="1"/>
          </p:cNvGraphicFramePr>
          <p:nvPr>
            <p:extLst>
              <p:ext uri="{D42A27DB-BD31-4B8C-83A1-F6EECF244321}">
                <p14:modId xmlns:p14="http://schemas.microsoft.com/office/powerpoint/2010/main" val="165621113"/>
              </p:ext>
            </p:extLst>
          </p:nvPr>
        </p:nvGraphicFramePr>
        <p:xfrm>
          <a:off x="4129722" y="16843625"/>
          <a:ext cx="6477073" cy="2349391"/>
        </p:xfrm>
        <a:graphic>
          <a:graphicData uri="http://schemas.openxmlformats.org/drawingml/2006/table">
            <a:tbl>
              <a:tblPr firstRow="1" bandRow="1">
                <a:tableStyleId>{BDBED569-4797-4DF1-A0F4-6AAB3CD982D8}</a:tableStyleId>
              </a:tblPr>
              <a:tblGrid>
                <a:gridCol w="1922733">
                  <a:extLst>
                    <a:ext uri="{9D8B030D-6E8A-4147-A177-3AD203B41FA5}">
                      <a16:colId xmlns:a16="http://schemas.microsoft.com/office/drawing/2014/main" val="2889725483"/>
                    </a:ext>
                  </a:extLst>
                </a:gridCol>
                <a:gridCol w="2396973">
                  <a:extLst>
                    <a:ext uri="{9D8B030D-6E8A-4147-A177-3AD203B41FA5}">
                      <a16:colId xmlns:a16="http://schemas.microsoft.com/office/drawing/2014/main" val="1741638256"/>
                    </a:ext>
                  </a:extLst>
                </a:gridCol>
                <a:gridCol w="2157367">
                  <a:extLst>
                    <a:ext uri="{9D8B030D-6E8A-4147-A177-3AD203B41FA5}">
                      <a16:colId xmlns:a16="http://schemas.microsoft.com/office/drawing/2014/main" val="1902120613"/>
                    </a:ext>
                  </a:extLst>
                </a:gridCol>
              </a:tblGrid>
              <a:tr h="511765">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Environment </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Period</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algn="ctr"/>
                      <a:r>
                        <a:rPr lang="en-US" sz="1500" b="1"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Driver</a:t>
                      </a:r>
                      <a:endParaRPr lang="en-US" sz="1500" b="1"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417674496"/>
                  </a:ext>
                </a:extLst>
              </a:tr>
              <a:tr h="612542">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COVID Shock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Feb– Jun 2020</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Panic, deflation, flight to cash</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795317941"/>
                  </a:ext>
                </a:extLst>
              </a:tr>
              <a:tr h="612542">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Rate Hike Cycle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June 2022 – Dec 2023</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Inflation, rapidly rising rates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2314666865"/>
                  </a:ext>
                </a:extLst>
              </a:tr>
              <a:tr h="612542">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Trade Volatility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June 2025 – Present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tc>
                  <a:txBody>
                    <a:bodyPr/>
                    <a:lstStyle/>
                    <a:p>
                      <a:pPr marR="0" algn="ctr" rtl="0">
                        <a:lnSpc>
                          <a:spcPct val="100000"/>
                        </a:lnSpc>
                        <a:spcBef>
                          <a:spcPts val="0"/>
                        </a:spcBef>
                        <a:spcAft>
                          <a:spcPts val="0"/>
                        </a:spcAft>
                        <a:buClr>
                          <a:srgbClr val="000000"/>
                        </a:buClr>
                        <a:buFont typeface="Arial"/>
                      </a:pPr>
                      <a:r>
                        <a:rPr lang="en-US" sz="1500" b="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rPr>
                        <a:t>Tariff Escalation, Policy Uncertainty </a:t>
                      </a:r>
                      <a:endParaRPr lang="en-US"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Arial"/>
                      </a:endParaRPr>
                    </a:p>
                  </a:txBody>
                  <a:tcPr anchor="ctr"/>
                </a:tc>
                <a:extLst>
                  <a:ext uri="{0D108BD9-81ED-4DB2-BD59-A6C34878D82A}">
                    <a16:rowId xmlns:a16="http://schemas.microsoft.com/office/drawing/2014/main" val="1192617148"/>
                  </a:ext>
                </a:extLst>
              </a:tr>
            </a:tbl>
          </a:graphicData>
        </a:graphic>
      </p:graphicFrame>
      <p:pic>
        <p:nvPicPr>
          <p:cNvPr id="19" name="Picture 18">
            <a:extLst>
              <a:ext uri="{FF2B5EF4-FFF2-40B4-BE49-F238E27FC236}">
                <a16:creationId xmlns:a16="http://schemas.microsoft.com/office/drawing/2014/main" id="{70981869-0093-A57F-F0E5-E4E46ADA595A}"/>
              </a:ext>
            </a:extLst>
          </p:cNvPr>
          <p:cNvPicPr>
            <a:picLocks noChangeAspect="1"/>
          </p:cNvPicPr>
          <p:nvPr/>
        </p:nvPicPr>
        <p:blipFill>
          <a:blip r:embed="rId5"/>
          <a:stretch>
            <a:fillRect/>
          </a:stretch>
        </p:blipFill>
        <p:spPr>
          <a:xfrm>
            <a:off x="2905116" y="21727450"/>
            <a:ext cx="8926287" cy="3730183"/>
          </a:xfrm>
          <a:prstGeom prst="rect">
            <a:avLst/>
          </a:prstGeom>
          <a:ln>
            <a:solidFill>
              <a:schemeClr val="tx1"/>
            </a:solidFill>
          </a:ln>
        </p:spPr>
      </p:pic>
      <p:sp>
        <p:nvSpPr>
          <p:cNvPr id="42" name="TextBox 41">
            <a:extLst>
              <a:ext uri="{FF2B5EF4-FFF2-40B4-BE49-F238E27FC236}">
                <a16:creationId xmlns:a16="http://schemas.microsoft.com/office/drawing/2014/main" id="{2F83A64C-4B70-888D-9681-D2476E77BE16}"/>
              </a:ext>
            </a:extLst>
          </p:cNvPr>
          <p:cNvSpPr txBox="1"/>
          <p:nvPr/>
        </p:nvSpPr>
        <p:spPr>
          <a:xfrm>
            <a:off x="26001726" y="20880593"/>
            <a:ext cx="5567090" cy="6878806"/>
          </a:xfrm>
          <a:prstGeom prst="rect">
            <a:avLst/>
          </a:prstGeom>
          <a:noFill/>
        </p:spPr>
        <p:txBody>
          <a:bodyPr wrap="square" rtlCol="0">
            <a:spAutoFit/>
          </a:bodyPr>
          <a:lstStyle/>
          <a:p>
            <a:r>
              <a:rPr lang="en-US" sz="2100" b="1" dirty="0">
                <a:latin typeface="Open Sans" panose="020B0606030504020204" pitchFamily="34" charset="0"/>
                <a:ea typeface="Open Sans" panose="020B0606030504020204" pitchFamily="34" charset="0"/>
                <a:cs typeface="Open Sans" panose="020B0606030504020204" pitchFamily="34" charset="0"/>
              </a:rPr>
              <a:t>Treasuries:</a:t>
            </a:r>
            <a:r>
              <a:rPr lang="en-US" sz="2100" dirty="0">
                <a:latin typeface="Open Sans" panose="020B0606030504020204" pitchFamily="34" charset="0"/>
                <a:ea typeface="Open Sans" panose="020B0606030504020204" pitchFamily="34" charset="0"/>
                <a:cs typeface="Open Sans" panose="020B0606030504020204" pitchFamily="34" charset="0"/>
              </a:rPr>
              <a:t> Mean return flips from +0.098% (COVID) to –0.044% (hike cycle) at near identical volatility (std ≈ 0.74%), the direction changed, but not the risk.</a:t>
            </a:r>
          </a:p>
          <a:p>
            <a:r>
              <a:rPr lang="en-US" sz="2100" b="1" dirty="0">
                <a:latin typeface="Open Sans" panose="020B0606030504020204" pitchFamily="34" charset="0"/>
                <a:ea typeface="Open Sans" panose="020B0606030504020204" pitchFamily="34" charset="0"/>
                <a:cs typeface="Open Sans" panose="020B0606030504020204" pitchFamily="34" charset="0"/>
              </a:rPr>
              <a:t>Gold:</a:t>
            </a:r>
            <a:r>
              <a:rPr lang="en-US" sz="2100" dirty="0">
                <a:latin typeface="Open Sans" panose="020B0606030504020204" pitchFamily="34" charset="0"/>
                <a:ea typeface="Open Sans" panose="020B0606030504020204" pitchFamily="34" charset="0"/>
                <a:cs typeface="Open Sans" panose="020B0606030504020204" pitchFamily="34" charset="0"/>
              </a:rPr>
              <a:t> </a:t>
            </a:r>
            <a:r>
              <a:rPr lang="en-US" sz="2100" b="1" dirty="0">
                <a:latin typeface="Open Sans" panose="020B0606030504020204" pitchFamily="34" charset="0"/>
                <a:ea typeface="Open Sans" panose="020B0606030504020204" pitchFamily="34" charset="0"/>
                <a:cs typeface="Open Sans" panose="020B0606030504020204" pitchFamily="34" charset="0"/>
              </a:rPr>
              <a:t>Highest volatility of all assets </a:t>
            </a:r>
            <a:r>
              <a:rPr lang="en-US" sz="2100" dirty="0">
                <a:latin typeface="Open Sans" panose="020B0606030504020204" pitchFamily="34" charset="0"/>
                <a:ea typeface="Open Sans" panose="020B0606030504020204" pitchFamily="34" charset="0"/>
                <a:cs typeface="Open Sans" panose="020B0606030504020204" pitchFamily="34" charset="0"/>
              </a:rPr>
              <a:t>(std up to 1.716%), with a single-day loss of 12.066%. However, too noisy to reliably hedge on individual stress days.</a:t>
            </a:r>
          </a:p>
          <a:p>
            <a:r>
              <a:rPr lang="en-US" sz="2100" b="1" dirty="0">
                <a:latin typeface="Open Sans" panose="020B0606030504020204" pitchFamily="34" charset="0"/>
                <a:ea typeface="Open Sans" panose="020B0606030504020204" pitchFamily="34" charset="0"/>
                <a:cs typeface="Open Sans" panose="020B0606030504020204" pitchFamily="34" charset="0"/>
              </a:rPr>
              <a:t>CHF:</a:t>
            </a:r>
            <a:r>
              <a:rPr lang="en-US" sz="2100" dirty="0">
                <a:latin typeface="Open Sans" panose="020B0606030504020204" pitchFamily="34" charset="0"/>
                <a:ea typeface="Open Sans" panose="020B0606030504020204" pitchFamily="34" charset="0"/>
                <a:cs typeface="Open Sans" panose="020B0606030504020204" pitchFamily="34" charset="0"/>
              </a:rPr>
              <a:t> </a:t>
            </a:r>
            <a:r>
              <a:rPr lang="en-US" sz="2100" b="1" dirty="0">
                <a:latin typeface="Open Sans" panose="020B0606030504020204" pitchFamily="34" charset="0"/>
                <a:ea typeface="Open Sans" panose="020B0606030504020204" pitchFamily="34" charset="0"/>
                <a:cs typeface="Open Sans" panose="020B0606030504020204" pitchFamily="34" charset="0"/>
              </a:rPr>
              <a:t>Stable volatility across all environments </a:t>
            </a:r>
            <a:r>
              <a:rPr lang="en-US" sz="2100" dirty="0">
                <a:latin typeface="Open Sans" panose="020B0606030504020204" pitchFamily="34" charset="0"/>
                <a:ea typeface="Open Sans" panose="020B0606030504020204" pitchFamily="34" charset="0"/>
                <a:cs typeface="Open Sans" panose="020B0606030504020204" pitchFamily="34" charset="0"/>
              </a:rPr>
              <a:t>(std = 0.574%, 0.535%, 0.576%) with occasional large upside days during trade volatility (skew = 1.49).</a:t>
            </a:r>
          </a:p>
          <a:p>
            <a:r>
              <a:rPr lang="en-US" sz="2100" b="1" dirty="0">
                <a:latin typeface="Open Sans" panose="020B0606030504020204" pitchFamily="34" charset="0"/>
                <a:ea typeface="Open Sans" panose="020B0606030504020204" pitchFamily="34" charset="0"/>
                <a:cs typeface="Open Sans" panose="020B0606030504020204" pitchFamily="34" charset="0"/>
              </a:rPr>
              <a:t>JPY:</a:t>
            </a:r>
            <a:r>
              <a:rPr lang="en-US" sz="2100" dirty="0">
                <a:latin typeface="Open Sans" panose="020B0606030504020204" pitchFamily="34" charset="0"/>
                <a:ea typeface="Open Sans" panose="020B0606030504020204" pitchFamily="34" charset="0"/>
                <a:cs typeface="Open Sans" panose="020B0606030504020204" pitchFamily="34" charset="0"/>
              </a:rPr>
              <a:t> Mean turns negative during the hike cycle (–0.038%), maximum daily move of 3.796% — </a:t>
            </a:r>
            <a:r>
              <a:rPr lang="en-US" sz="2100" b="1" dirty="0">
                <a:latin typeface="Open Sans" panose="020B0606030504020204" pitchFamily="34" charset="0"/>
                <a:ea typeface="Open Sans" panose="020B0606030504020204" pitchFamily="34" charset="0"/>
                <a:cs typeface="Open Sans" panose="020B0606030504020204" pitchFamily="34" charset="0"/>
              </a:rPr>
              <a:t>driven by widening US-Japan rate differentials.</a:t>
            </a:r>
          </a:p>
          <a:p>
            <a:r>
              <a:rPr lang="en-US" sz="2100" b="1" dirty="0">
                <a:latin typeface="Open Sans" panose="020B0606030504020204" pitchFamily="34" charset="0"/>
                <a:ea typeface="Open Sans" panose="020B0606030504020204" pitchFamily="34" charset="0"/>
                <a:cs typeface="Open Sans" panose="020B0606030504020204" pitchFamily="34" charset="0"/>
              </a:rPr>
              <a:t>USD:</a:t>
            </a:r>
            <a:r>
              <a:rPr lang="en-US" sz="2100" dirty="0">
                <a:latin typeface="Open Sans" panose="020B0606030504020204" pitchFamily="34" charset="0"/>
                <a:ea typeface="Open Sans" panose="020B0606030504020204" pitchFamily="34" charset="0"/>
                <a:cs typeface="Open Sans" panose="020B0606030504020204" pitchFamily="34" charset="0"/>
              </a:rPr>
              <a:t> Standard deviations shrink from 0.529% to 0.307% over time. </a:t>
            </a:r>
            <a:r>
              <a:rPr lang="en-US" sz="2100" b="1" dirty="0">
                <a:latin typeface="Open Sans" panose="020B0606030504020204" pitchFamily="34" charset="0"/>
                <a:ea typeface="Open Sans" panose="020B0606030504020204" pitchFamily="34" charset="0"/>
                <a:cs typeface="Open Sans" panose="020B0606030504020204" pitchFamily="34" charset="0"/>
              </a:rPr>
              <a:t>The most stable and predictable hedge </a:t>
            </a:r>
            <a:r>
              <a:rPr lang="en-US" sz="2100" dirty="0">
                <a:latin typeface="Open Sans" panose="020B0606030504020204" pitchFamily="34" charset="0"/>
                <a:ea typeface="Open Sans" panose="020B0606030504020204" pitchFamily="34" charset="0"/>
                <a:cs typeface="Open Sans" panose="020B0606030504020204" pitchFamily="34" charset="0"/>
              </a:rPr>
              <a:t>in the study.</a:t>
            </a:r>
          </a:p>
          <a:p>
            <a:endParaRPr lang="en-US" sz="21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7" name="Picture 46">
            <a:extLst>
              <a:ext uri="{FF2B5EF4-FFF2-40B4-BE49-F238E27FC236}">
                <a16:creationId xmlns:a16="http://schemas.microsoft.com/office/drawing/2014/main" id="{5F5DCFFA-EA50-1198-5C46-BAA0D5904EEF}"/>
              </a:ext>
            </a:extLst>
          </p:cNvPr>
          <p:cNvPicPr>
            <a:picLocks noChangeAspect="1"/>
          </p:cNvPicPr>
          <p:nvPr/>
        </p:nvPicPr>
        <p:blipFill>
          <a:blip r:embed="rId6"/>
          <a:stretch>
            <a:fillRect/>
          </a:stretch>
        </p:blipFill>
        <p:spPr>
          <a:xfrm>
            <a:off x="13810005" y="21277486"/>
            <a:ext cx="11954471" cy="5208086"/>
          </a:xfrm>
          <a:prstGeom prst="rect">
            <a:avLst/>
          </a:prstGeom>
          <a:ln>
            <a:solidFill>
              <a:schemeClr val="tx1"/>
            </a:solidFill>
          </a:ln>
        </p:spPr>
      </p:pic>
      <p:pic>
        <p:nvPicPr>
          <p:cNvPr id="49" name="Picture 48">
            <a:extLst>
              <a:ext uri="{FF2B5EF4-FFF2-40B4-BE49-F238E27FC236}">
                <a16:creationId xmlns:a16="http://schemas.microsoft.com/office/drawing/2014/main" id="{7853DCE0-B539-D784-D6B3-62BFA8A4936F}"/>
              </a:ext>
            </a:extLst>
          </p:cNvPr>
          <p:cNvPicPr>
            <a:picLocks noChangeAspect="1"/>
          </p:cNvPicPr>
          <p:nvPr/>
        </p:nvPicPr>
        <p:blipFill>
          <a:blip r:embed="rId7"/>
          <a:stretch>
            <a:fillRect/>
          </a:stretch>
        </p:blipFill>
        <p:spPr>
          <a:xfrm>
            <a:off x="19042804" y="14649253"/>
            <a:ext cx="12427800" cy="4774432"/>
          </a:xfrm>
          <a:prstGeom prst="rect">
            <a:avLst/>
          </a:prstGeom>
          <a:ln>
            <a:solidFill>
              <a:schemeClr val="tx1"/>
            </a:solidFill>
          </a:ln>
        </p:spPr>
      </p:pic>
      <p:pic>
        <p:nvPicPr>
          <p:cNvPr id="51" name="Picture 50">
            <a:extLst>
              <a:ext uri="{FF2B5EF4-FFF2-40B4-BE49-F238E27FC236}">
                <a16:creationId xmlns:a16="http://schemas.microsoft.com/office/drawing/2014/main" id="{4F66506D-D9AA-116D-0915-80AD8A83EE03}"/>
              </a:ext>
            </a:extLst>
          </p:cNvPr>
          <p:cNvPicPr>
            <a:picLocks noChangeAspect="1"/>
          </p:cNvPicPr>
          <p:nvPr/>
        </p:nvPicPr>
        <p:blipFill>
          <a:blip r:embed="rId8"/>
          <a:stretch>
            <a:fillRect/>
          </a:stretch>
        </p:blipFill>
        <p:spPr>
          <a:xfrm>
            <a:off x="32988918" y="13509352"/>
            <a:ext cx="8472413" cy="3527117"/>
          </a:xfrm>
          <a:prstGeom prst="rect">
            <a:avLst/>
          </a:prstGeom>
          <a:ln>
            <a:solidFill>
              <a:schemeClr val="tx1"/>
            </a:solidFill>
          </a:ln>
        </p:spPr>
      </p:pic>
      <p:sp>
        <p:nvSpPr>
          <p:cNvPr id="52" name="Rounded Rectangle 51">
            <a:extLst>
              <a:ext uri="{FF2B5EF4-FFF2-40B4-BE49-F238E27FC236}">
                <a16:creationId xmlns:a16="http://schemas.microsoft.com/office/drawing/2014/main" id="{F5885254-6F6A-9FC9-6856-4A0FB3AB37EB}"/>
              </a:ext>
            </a:extLst>
          </p:cNvPr>
          <p:cNvSpPr/>
          <p:nvPr/>
        </p:nvSpPr>
        <p:spPr>
          <a:xfrm>
            <a:off x="13104597" y="27689338"/>
            <a:ext cx="10435124" cy="2612861"/>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 Single Corner Rectangle 52">
            <a:extLst>
              <a:ext uri="{FF2B5EF4-FFF2-40B4-BE49-F238E27FC236}">
                <a16:creationId xmlns:a16="http://schemas.microsoft.com/office/drawing/2014/main" id="{82FAC9C7-F0C7-73B2-A5AD-46B3024323AD}"/>
              </a:ext>
            </a:extLst>
          </p:cNvPr>
          <p:cNvSpPr/>
          <p:nvPr/>
        </p:nvSpPr>
        <p:spPr>
          <a:xfrm>
            <a:off x="14079508" y="27257410"/>
            <a:ext cx="2366647" cy="687848"/>
          </a:xfrm>
          <a:prstGeom prst="round1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80B50D92-F2F1-9F43-9E7C-DC0490D2C500}"/>
              </a:ext>
            </a:extLst>
          </p:cNvPr>
          <p:cNvSpPr txBox="1"/>
          <p:nvPr/>
        </p:nvSpPr>
        <p:spPr>
          <a:xfrm>
            <a:off x="14290920" y="27390067"/>
            <a:ext cx="4064274" cy="738664"/>
          </a:xfrm>
          <a:prstGeom prst="rect">
            <a:avLst/>
          </a:prstGeom>
          <a:noFill/>
        </p:spPr>
        <p:txBody>
          <a:bodyPr wrap="square" rtlCol="0">
            <a:spAutoFit/>
          </a:bodyPr>
          <a:lstStyle/>
          <a:p>
            <a:r>
              <a:rPr lang="en-US" sz="2100" dirty="0">
                <a:solidFill>
                  <a:schemeClr val="dk1"/>
                </a:solidFill>
                <a:latin typeface="Open Sans ExtraBold"/>
                <a:ea typeface="Open Sans ExtraBold"/>
                <a:cs typeface="Open Sans ExtraBold"/>
                <a:sym typeface="Open Sans ExtraBold"/>
              </a:rPr>
              <a:t>Regression</a:t>
            </a:r>
          </a:p>
          <a:p>
            <a:endParaRPr lang="en-US" sz="2100" dirty="0"/>
          </a:p>
        </p:txBody>
      </p:sp>
      <p:sp>
        <p:nvSpPr>
          <p:cNvPr id="55" name="TextBox 54">
            <a:extLst>
              <a:ext uri="{FF2B5EF4-FFF2-40B4-BE49-F238E27FC236}">
                <a16:creationId xmlns:a16="http://schemas.microsoft.com/office/drawing/2014/main" id="{D0606F75-A332-57CD-7585-911C3A81C446}"/>
              </a:ext>
            </a:extLst>
          </p:cNvPr>
          <p:cNvSpPr txBox="1"/>
          <p:nvPr/>
        </p:nvSpPr>
        <p:spPr>
          <a:xfrm>
            <a:off x="13457301" y="28124815"/>
            <a:ext cx="10034831" cy="1938992"/>
          </a:xfrm>
          <a:prstGeom prst="rect">
            <a:avLst/>
          </a:prstGeom>
          <a:noFill/>
        </p:spPr>
        <p:txBody>
          <a:bodyPr wrap="square" rtlCol="0">
            <a:spAutoFit/>
          </a:bodyPr>
          <a:lstStyle/>
          <a:p>
            <a:r>
              <a:rPr lang="en-US" sz="2100" dirty="0">
                <a:solidFill>
                  <a:schemeClr val="dk1"/>
                </a:solidFill>
                <a:latin typeface="Open Sans"/>
                <a:ea typeface="Open Sans"/>
                <a:cs typeface="Open Sans"/>
                <a:sym typeface="Open Sans"/>
              </a:rPr>
              <a:t>Treasury hedging depends on yield movements rather than the type of crisis itself. </a:t>
            </a:r>
          </a:p>
          <a:p>
            <a:r>
              <a:rPr lang="en-US" sz="2100" dirty="0"/>
              <a:t>(OLS with Newey–West HAC errors; N = 1,709; R² = 0.990). Yield increases are highly significant (</a:t>
            </a:r>
            <a:r>
              <a:rPr lang="el-GR" sz="2100" dirty="0"/>
              <a:t>β = 89.99, </a:t>
            </a:r>
            <a:r>
              <a:rPr lang="en-US" sz="2100" dirty="0"/>
              <a:t>p &lt; 0.001), while crisis indicators are not (p = 0.068, 0.563, 0.311), indicating that rising yields push bonds and equities to fall together.</a:t>
            </a:r>
          </a:p>
          <a:p>
            <a:endParaRPr lang="en-US" sz="1500" dirty="0">
              <a:latin typeface="Open Sans" panose="020B0606030504020204" pitchFamily="34" charset="0"/>
              <a:ea typeface="Open Sans" panose="020B0606030504020204" pitchFamily="34" charset="0"/>
              <a:cs typeface="Open Sans" panose="020B0606030504020204" pitchFamily="34" charset="0"/>
            </a:endParaRPr>
          </a:p>
        </p:txBody>
      </p:sp>
      <p:sp>
        <p:nvSpPr>
          <p:cNvPr id="61" name="Round Same Side Corner Rectangle 60">
            <a:extLst>
              <a:ext uri="{FF2B5EF4-FFF2-40B4-BE49-F238E27FC236}">
                <a16:creationId xmlns:a16="http://schemas.microsoft.com/office/drawing/2014/main" id="{39D57335-5332-B1DD-730E-141A49249A4F}"/>
              </a:ext>
            </a:extLst>
          </p:cNvPr>
          <p:cNvSpPr/>
          <p:nvPr/>
        </p:nvSpPr>
        <p:spPr>
          <a:xfrm>
            <a:off x="24734722" y="19941326"/>
            <a:ext cx="3588597" cy="863329"/>
          </a:xfrm>
          <a:prstGeom prst="round2Same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2A1C566C-FA00-EBD3-16F0-3510764C33E1}"/>
              </a:ext>
            </a:extLst>
          </p:cNvPr>
          <p:cNvSpPr txBox="1"/>
          <p:nvPr/>
        </p:nvSpPr>
        <p:spPr>
          <a:xfrm>
            <a:off x="25070837" y="20115093"/>
            <a:ext cx="4096342" cy="738664"/>
          </a:xfrm>
          <a:prstGeom prst="rect">
            <a:avLst/>
          </a:prstGeom>
          <a:noFill/>
        </p:spPr>
        <p:txBody>
          <a:bodyPr wrap="square" rtlCol="0">
            <a:spAutoFit/>
          </a:bodyPr>
          <a:lstStyle/>
          <a:p>
            <a:r>
              <a:rPr lang="en-US" sz="2100" dirty="0">
                <a:solidFill>
                  <a:schemeClr val="dk1"/>
                </a:solidFill>
                <a:latin typeface="Open Sans ExtraBold"/>
                <a:ea typeface="Open Sans ExtraBold"/>
                <a:cs typeface="Open Sans ExtraBold"/>
                <a:sym typeface="Open Sans ExtraBold"/>
              </a:rPr>
              <a:t>Cumulative Returns</a:t>
            </a:r>
          </a:p>
          <a:p>
            <a:endParaRPr lang="en-US" sz="2100" dirty="0"/>
          </a:p>
        </p:txBody>
      </p:sp>
      <p:sp>
        <p:nvSpPr>
          <p:cNvPr id="63" name="Rectangle 6">
            <a:extLst>
              <a:ext uri="{FF2B5EF4-FFF2-40B4-BE49-F238E27FC236}">
                <a16:creationId xmlns:a16="http://schemas.microsoft.com/office/drawing/2014/main" id="{142C9D1A-FE5E-B0AB-D8E2-D11409A08EC0}"/>
              </a:ext>
            </a:extLst>
          </p:cNvPr>
          <p:cNvSpPr>
            <a:spLocks noChangeArrowheads="1"/>
          </p:cNvSpPr>
          <p:nvPr/>
        </p:nvSpPr>
        <p:spPr bwMode="auto">
          <a:xfrm>
            <a:off x="0" y="0"/>
            <a:ext cx="438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Brunnermeier</a:t>
            </a:r>
            <a:r>
              <a:rPr kumimoji="0" lang="en-US" altLang="en-US" sz="1800" b="0" i="0" u="none" strike="noStrike" cap="none" normalizeH="0" baseline="0" dirty="0">
                <a:ln>
                  <a:noFill/>
                </a:ln>
                <a:solidFill>
                  <a:schemeClr val="tx1"/>
                </a:solidFill>
                <a:effectLst/>
                <a:latin typeface="Arial" panose="020B0604020202020204" pitchFamily="34" charset="0"/>
              </a:rPr>
              <a:t>, Markus K. </a:t>
            </a:r>
            <a:r>
              <a:rPr kumimoji="0" lang="en-US" altLang="en-US" sz="1800" b="0" i="1" u="none" strike="noStrike" cap="none" normalizeH="0" baseline="0" dirty="0">
                <a:ln>
                  <a:noFill/>
                </a:ln>
                <a:solidFill>
                  <a:schemeClr val="tx1"/>
                </a:solidFill>
                <a:effectLst/>
                <a:latin typeface="Arial" panose="020B0604020202020204" pitchFamily="34" charset="0"/>
              </a:rPr>
              <a:t>Flight-to-Safety Capital Flows and the Global Financial Architecture.</a:t>
            </a:r>
            <a:r>
              <a:rPr kumimoji="0" lang="en-US" altLang="en-US" sz="1800" b="0" i="0" u="none" strike="noStrike" cap="none" normalizeH="0" baseline="0" dirty="0">
                <a:ln>
                  <a:noFill/>
                </a:ln>
                <a:solidFill>
                  <a:schemeClr val="tx1"/>
                </a:solidFill>
                <a:effectLst/>
                <a:latin typeface="Arial" panose="020B0604020202020204" pitchFamily="34" charset="0"/>
              </a:rPr>
              <a:t> Princeton University, presentation at the Federal Reserve Bank of New York.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Eisenbach, Thomas, and Gregory Phelan. </a:t>
            </a:r>
            <a:r>
              <a:rPr kumimoji="0" lang="en-US" altLang="en-US" sz="1800" b="0" i="1" u="none" strike="noStrike" cap="none" normalizeH="0" baseline="0" dirty="0">
                <a:ln>
                  <a:noFill/>
                </a:ln>
                <a:solidFill>
                  <a:schemeClr val="tx1"/>
                </a:solidFill>
                <a:effectLst/>
                <a:latin typeface="Arial" panose="020B0604020202020204" pitchFamily="34" charset="0"/>
              </a:rPr>
              <a:t>Fragility of Safe Asset Markets.</a:t>
            </a:r>
            <a:r>
              <a:rPr kumimoji="0" lang="en-US" altLang="en-US" sz="1800" b="0" i="0" u="none" strike="noStrike" cap="none" normalizeH="0" baseline="0" dirty="0">
                <a:ln>
                  <a:noFill/>
                </a:ln>
                <a:solidFill>
                  <a:schemeClr val="tx1"/>
                </a:solidFill>
                <a:effectLst/>
                <a:latin typeface="Arial" panose="020B0604020202020204" pitchFamily="34" charset="0"/>
              </a:rPr>
              <a:t> Federal Reserve Bank of New York, 2022.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Li, Wenhao. </a:t>
            </a:r>
            <a:r>
              <a:rPr kumimoji="0" lang="en-US" altLang="en-US" sz="1800" b="0" i="1" u="none" strike="noStrike" cap="none" normalizeH="0" baseline="0" dirty="0">
                <a:ln>
                  <a:noFill/>
                </a:ln>
                <a:solidFill>
                  <a:schemeClr val="tx1"/>
                </a:solidFill>
                <a:effectLst/>
                <a:latin typeface="Arial" panose="020B0604020202020204" pitchFamily="34" charset="0"/>
              </a:rPr>
              <a:t>A Discussion of “Fragility of Safe Asset Markets” by Thomas Eisenbach and Gregory Phelan.</a:t>
            </a:r>
            <a:r>
              <a:rPr kumimoji="0" lang="en-US" altLang="en-US" sz="1800" b="0" i="0" u="none" strike="noStrike" cap="none" normalizeH="0" baseline="0" dirty="0">
                <a:ln>
                  <a:noFill/>
                </a:ln>
                <a:solidFill>
                  <a:schemeClr val="tx1"/>
                </a:solidFill>
                <a:effectLst/>
                <a:latin typeface="Arial" panose="020B0604020202020204" pitchFamily="34" charset="0"/>
              </a:rPr>
              <a:t> University of Southern California Marshall School of Business, Oct. 2022. </a:t>
            </a:r>
          </a:p>
        </p:txBody>
      </p:sp>
      <p:sp>
        <p:nvSpPr>
          <p:cNvPr id="320" name="Rectangle 6">
            <a:extLst>
              <a:ext uri="{FF2B5EF4-FFF2-40B4-BE49-F238E27FC236}">
                <a16:creationId xmlns:a16="http://schemas.microsoft.com/office/drawing/2014/main" id="{4B340424-CFA5-9B31-1DB3-BEF7870EA860}"/>
              </a:ext>
            </a:extLst>
          </p:cNvPr>
          <p:cNvSpPr>
            <a:spLocks noChangeArrowheads="1"/>
          </p:cNvSpPr>
          <p:nvPr/>
        </p:nvSpPr>
        <p:spPr bwMode="auto">
          <a:xfrm>
            <a:off x="32817058" y="26202356"/>
            <a:ext cx="895730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Brunnermeier</a:t>
            </a:r>
            <a:r>
              <a:rPr kumimoji="0" lang="en-US" altLang="en-US" sz="20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Markus K. </a:t>
            </a:r>
            <a:r>
              <a:rPr kumimoji="0" lang="en-US" altLang="en-US" sz="2000"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Flight-to-Safety Capital Flows and the Global Financial Architecture.</a:t>
            </a:r>
            <a:r>
              <a:rPr kumimoji="0" lang="en-US" altLang="en-US" sz="20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Princeton University, presentation at the Federal Reserve Bank of New York.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Eisenbach, Thomas, and Gregory Phelan. </a:t>
            </a:r>
            <a:r>
              <a:rPr kumimoji="0" lang="en-US" altLang="en-US" sz="2000"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Fragility of Safe Asset Markets.</a:t>
            </a:r>
            <a:r>
              <a:rPr kumimoji="0" lang="en-US" altLang="en-US" sz="20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Federal Reserve Bank of New York, 2022.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 Wenhao. </a:t>
            </a:r>
            <a:r>
              <a:rPr kumimoji="0" lang="en-US" altLang="en-US" sz="2000" b="0" i="1"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 Discussion of “Fragility of Safe Asset Markets” by Thomas Eisenbach and Gregory Phelan.</a:t>
            </a:r>
            <a:r>
              <a:rPr kumimoji="0" lang="en-US" altLang="en-US" sz="20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University of Southern California Marshall School of Business, Oct. 2022. </a:t>
            </a:r>
          </a:p>
        </p:txBody>
      </p:sp>
    </p:spTree>
  </p:cSld>
  <p:clrMapOvr>
    <a:masterClrMapping/>
  </p:clrMapOvr>
</p:sld>
</file>

<file path=ppt/theme/theme1.xml><?xml version="1.0" encoding="utf-8"?>
<a:theme xmlns:a="http://schemas.openxmlformats.org/drawingml/2006/main"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8489</TotalTime>
  <Words>1609</Words>
  <Application>Microsoft Macintosh PowerPoint</Application>
  <PresentationFormat>Custom</PresentationFormat>
  <Paragraphs>166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Rockwell</vt:lpstr>
      <vt:lpstr>Open Sans ExtraBold</vt:lpstr>
      <vt:lpstr>Arial</vt:lpstr>
      <vt:lpstr>Calibri</vt:lpstr>
      <vt:lpstr>Open Sans Light</vt:lpstr>
      <vt:lpstr>Noto Sans Symbols</vt:lpstr>
      <vt:lpstr>Open Sans</vt:lpstr>
      <vt:lpstr>Atlas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Creative Services at Public Affairs</dc:creator>
  <cp:lastModifiedBy>Belgaid, Yousra</cp:lastModifiedBy>
  <cp:revision>5</cp:revision>
  <dcterms:created xsi:type="dcterms:W3CDTF">2009-06-18T18:05:32Z</dcterms:created>
  <dcterms:modified xsi:type="dcterms:W3CDTF">2026-03-09T04:54:30Z</dcterms:modified>
</cp:coreProperties>
</file>